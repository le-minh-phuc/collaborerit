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d'accueil. Se présenter (parcours ingénieur en industrie puis enseignement), présenter le module en une phrase : « vous allez vivre de l'intérieur le fonctionnement d'une équipe IT ». Remplacer les champs entre crochets.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Lire les objectifs avec les étudiants. Demander à main levée : qui a déjà utilisé Git ? Jira ? travaillé en équipe sur un projet de plus d'un mois ? Noter les réponses pour calibrer le rythme des séances 4 et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logique : savoir-être (1-2), méthode (3), outils (4-6), relationnel (7-8), simulation intégrée (9). Insister : toutes les études de cas se passent chez CampusLink, une startup fictive de 25 personnes qui fait une appli pour les associations étudiantes. Chaque groupe est une « squad » de CampusLink.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Constituer les groupes dès maintenant (4-5 étudiants, fixes pour tout le module). Chaque groupe choisit un nom de squad. Noter qui tient quel rôle à chaque séance dans un tableau de suivi : cela alimente la note d'implication.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que la maîtrise technique des outils n'est pas notée en soi : on note la qualité de la collaboration et des livrables. L'évaluation par les pairs sert d'indicateur pour l'enseignant, pas de note brute. La grille détaillée de la séance 9 est dans le document de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Brise-glace « 2 vérités, 1 mensonge » version tech : chacun donne trois affirmations sur son rapport au numérique, les autres devinent laquelle est fausse. 10 minutes maximum, puis présenter CampusLink.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la question de chaque rôle avant de la révéler. Message clé : les outils vus dans le module (Jira, Git, Confluence) servent à limiter les pertes d'information aux passages de relais.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Tuckman, « Developmental sequence in small groups », Psychological Bulletin, 1965 (doi.org/10.1037/h0022100). Google re:Work : rework.withgoogle.com/intl/en/guides/understand-team-effectiveness. Demander : dans vos projets de groupe passés, à quelle phase vous êtes-vous arrêtés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les 8 fiches métiers et donner l'accès au tableau Miro de la classe (un cadre par groupe). Lire le message de la CTO à voix haute.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Passer dans les groupes. Pousser vers des règles concrètes et vérifiables : « on répond sous 24 h ouvrées » plutôt que « on communique bien ». Annoncer le temps restant à mi-parcours.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Restitution : 3 minutes par groupe. Faire voter chaque groupe pour une règle empruntée à un autre groupe. Lien du Manifeste : agilemanifesto.org/iso/fr/manifesto.html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Téléphone technique : une consigne de 3 lignes (par exemple « clone le dépôt, crée une branche feature/login, ajoute un bouton bleu en haut à droite ») passe de bouche à oreille sur 5 personnes. Comparer la version finale à l'originale. Message : à l'oral, l'information se déforme ; l'écrit garde une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Synchrone (visio, appel, réunion) : débloquer, décider à plusieurs, gérer une émotion. Asynchrone (message, ticket, wiki) : informer, garder une trace, respecter la concentration des autres. Demander aux étudiants un exemple vécu de mauvais canal.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un exemple avant/après. Avant : « Salut, t'es là ? » … 10 minutes … « J'ai un souci ». Après : « Bonjour Léa, la page Événements renvoie une erreur 500 depuis 14 h (capture du log ci-dessous). J'ai vérifié la base, elle répond. Peux-tu regarder avant 16 h ? » Ressources : dontasktoask.com ; aide Slack sur les fils de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Rôles secrets : support client, dev back-end junior, QA, PO joignable par message seulement, responsable du BDE mécontent. Événements à injecter (toutes les 10 min) : un tweet agacé du BDE ; un message vague « ça marche pas » d'un utilisateur ; une fausse piste (le serveur de paiement a redémarré) ; la développeuse Android répond enfin.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les canaux en direct depuis le poste enseignant. Repérer : qui prend le rôle de coordinateur, les informations qui partent en messages privés, le moment où quelqu'un écrit enfin un résumé de la situation.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Projeter un ou deux fils (avec l'accord du groupe) et commenter les messages réécrits. Faire le lien avec la séance 1 : la charte précisait-elle comment signaler un problème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Matériel : une boîte de Lego par groupe (environ 300 pièces), le backlog client imprimé (10 éléments), un minuteur projeté. Accroche : « Qui a déjà rendu un projet dont le résultat ne correspondait pas à ce que voulait le prof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ce slide : 5 min sur le cycle en V (tout spécifier au début, livrer à la fin, le client découvre tard). L'Agilité livre de petits incréments utilisables et s'ajuste en continu. Insister sur la phrase finale du Manifeste : la documentation n'est pas interdite (on y revient en séance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Scrum Guide 2020 (version française en PDF sur scrumguides.org). Préciser que Scrum n'est pas la seule approche : Kanban (séance 7), XP, SAFe pour les grandes organisations. Annoncer que la partie B fait vivre ces événements en accéléré.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rapide en plénière (5 min) : un groupe présente ses 4 incréments. Exemple attendu : paiement simple par carte, puis historique des paiements, puis paiement en plusieurs fois, puis Apple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L'enseignant joue le client. Après le sprint 1, changer d'avis : « la cafétéria doit avoir une terrasse ». Refuser en review tout bâtiment sans toit ni porte (Definition of Done). Noter la vélocité (éléments acceptés) au tableau pour chaque groupe et chaque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Envoyer les invitations au site Atlassian de la classe avant la fin de la séance, pour que tout le monde arrive connecté à la séance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 site Atlassian de classe avec un projet Jira Scrum par groupe, étudiants invités. Vérifier en début de séance que chacun est connecté. Évaluation par les pairs à faire en fin de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réécrire en direct une mauvaise story : « Créer une table SQL inscriptions » (solution technique, pas un besoin). Liens : atlassian.com/fr/agile/project-management/user-stories ; xp123.com/articles/invest-in-good-stories-and-smart-tasks ; cucumber.io/docs/gherkin/reference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de 15 min au vidéoprojecteur : créer un epic, une story liée, un sprint, démarrer le sprint, déplacer un ticket sur le tableau. Planning poker : chacun révèle sa carte en même temps ; les deux extrêmes expliquent leur estimation, puis on revote. Liens : atlassian.com/fr/agile/project-management/estimation ; atlassian.com/fr/agile/tutorials/how-to-do-scrum-with-jira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l'e-mail complet du client (une page, volontairement désordonné). Le PO du jour est le seul à pouvoir « appeler le client » (l'enseignant) pour poser des questions : 2 questions maximum par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 de planning poker papier ou planningpokeronline.com. Revue croisée (15 min) : chaque groupe lit le backlog d'un autre et signale 2 stories non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Évaluation par les pairs n° 1 : chacun répartit 100 points entre les membres de son groupe avec une phrase SBI (formulaire). Rappeler les prérequis de la séance 5 : sans compte GitHub, impossible de suivre. Lien : learngitbranching.js.org/?locale=fr_FR (niveaux Introduction 1 à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enseignant : une organisation GitHub (ou un groupe GitLab) avec un dépôt de départ par groupe (index.html, style.css, README.md), protection de la branche main activée, intégration GitHub ↔ Jira configurée, 5 tickets créés dans chaque Jira dont 2 qui touchent la même zone du fichier. Vérifier que chacun a Git, VS Code et un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en direct : cloner, créer une branche, modifier, commit, push, ouvrir une pull request. Montrer un conflit en direct entre deux branches et sa résolution dans VS Code. Sur GitLab, on parle de « merge request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la pull request est aussi un outil de communication (lien avec la séance 2). Une bonne description de PR dit ce qui change et comment le vérifier.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annoncer que deux tickets vont provoquer un conflit : laisser les étudiants le découvrir. Si un groupe a moins de 5 membres, un membre prend deux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blocages fréquents : authentification Git (proposer GitHub Desktop ou l'intégration VS Code en secours), push refusé sur main (c'est voulu), oubli de git pull avant de créer la branche. Circuler en priorité dans les groupes où le conflit apparaît.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projeter l'onglet Commits ou Network/Graph de 2 ou 3 dépôts. Comparer un historique « fix », « fix2 », « ok » avec un historique en Conventional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 un espace Confluence par groupe sur le site de classe. Démo (10 min) : créer une page depuis un modèle, organiser l'arborescence, insérer une liste de tickets Jira, mentionner un collègue avec @, créer une action avec une case à cocher.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 « Si votre Scrum Master disparaissait demain, que perdriez-vous ? ». On documente ce qui sert : comment démarrer, comment c'est construit, pourquoi on a décidé.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galerie de modèles Confluence (atlassian.com/fr/software/confluence/templates) et un exemple d'ADR (cognitect.com/blog/2011/11/15/documenting-architecture-decisions). Rappeler le lien Jira ↔ Confluence : insérer des tickets dans une page, créer un ticket depuis un texte sélectionné.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 « dossier Karim » (extraits de messages, notes brutes, schéma griffonné, 2 décisions orales, par exemple le choix du service d'envoi de notifications et l'abandon des SMS). Le contenu doit être désordonné et partiellement contradictoire.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3 questions du test : « Qui contacter si les notifications tombent ? », « Pourquoi a-t-on choisi ce service d'envoi ? », « Quelle est la première chose à installer ? ». Organiser une rotation : le groupe A teste l'espace du groupe B,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Afficher les scores au tableau. Interroger le groupe qui a le meilleur score : comment ont-ils structuré l'accueil de leur espace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les 15 demandes de support (cartes ou tickets à créer) réparties en 3 vagues de 5, et la pull request de Lina avec les 4 commentaires de Marc (dans un dépôt de démonstration ou sur une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Kanban convient au support, à la maintenance et aux équipes ops, où le travail arrive en continu. Liens : atlassian.com/fr/agile/kanban ; kanbanguides.org/francais/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Liens : ccl.org/articles/leading-effectively-articles/closing-the-gap-between-intent-vs-impact-sbii/ ; google.github.io/eng-practices/review/reviewer/comments.html ; conventionalcomments.org. Faire produire à chacun un feedback SBI positif sur un membre de son groupe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une vague de 5 demandes au début de chaque tour. Chaque demande doit passer par toutes les colonnes ; une personne différente valide la colonne « En test ». Noter au tableau le nombre de demandes terminées par tour et par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Livrable de la séance : tableau Kanban et décompte des 3 tours, 4 commentaires réécrits, 5 règles de revue ajoutées au README de contribution (séance 5). Pour le jeu de rôle : 3 minutes chacun, puis inversion des rôles. Faire le lien avec la sécurité psychologique (séance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Comparer les décomptes du tour 1 (sans limite) et des tours 2-3 (avec limite). Faire lire 2 ou 3 commentaires réécrits à voix haute.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Préparer les 5 fiches secrètes (Sophie, Thomas, Priya, Julien, observateur) et la grille d'observation. Poser le cadre dès le début : le jeu de rôle reste bienveillant, on parle de tendances culturelles, pas de stéréotypes individuels. Évaluation par les pairs n° 2 en fin de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séance 1 : la phase « storming » de Tuckman est normale. Demander à chacun quel mode il utilise le plus spontanément. Lien : kilmanndiagnostics.com/overview-thomas-kilmann-conflict-mode-instrument-tki/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CNV = communication non violente (Marshall Rosenberg) : Observation, Sentiment, Besoin, Demande. Erin Meyer propose 8 échelles ; on en présente 4. Liens : cnvc.org ; handbook.gitlab.com/handbook/company/culture/all-remote/guide/ ; erinmeyer.com/books/the-culture-map/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Décalages horaires : Montréal a 6 h de moins que Paris toute l'année ; Bangalore a 3 h 30 de plus en heure d'été et 4 h 30 en hiver (l'Inde ne change pas d'heure). Distribuer les fiches secrètes, 3 min de lecture silencieuse.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Livrable : la grille de l'observateur (manches 1 et 2) et le plan d'action. Si un groupe a 4 membres, l'enseignant joue Julien ou on supprime l'observateur et chacun note après 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Évaluation par les pairs n° 2 (100 points à répartir, phrase SBI). Annoncer que la séance 9 est notée (30 %) et présenter brièvement la grille d'observation.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notée (30 %). Avoir la grille d'observation imprimée, une ligne par groupe. Créer à l'avance un dépôt vide par groupe avec une page HTML de départ, et vérifier que l'enseignant a accès à tous les canaux Slack/Teams.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Projeter un minuteur tout au long de la séance. Annoncer chaque changement d'événement à voix haute. Les Daily Scrums sont debout, 5 minutes chrono : qu'ai-je fait, que vais-je faire, qu'est-ce qui me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Injecter l'imprévu vers 0:50 : soit un membre doit quitter l'équipe et transmettre son travail (par écrit, dans Jira et Confluence), soit le client exige l'ajout d'un plan d'accès. Observer comment l'équipe réorganise le tableau et informe le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Grille d'observation (0 à 4 par critère) : organisation Scrum, usage de Jira, usage de Git, documentation, communication. Le détail des niveaux est dans le document de cours, section 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rétrospective doit produire 2 actions concrètes, chacune avec un responsable. Le bilan individuel compte pour 15 % de la note : on évalue la capacité à analyser sa pratique avec des exemples concrets, pas la longueur.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Donner à chaque groupe un feedback SBI de l'enseignant : une force observée, un axe de progrès. Relire la charte d'équipe de la séance 1 : a-t-elle été respectée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du module. Rappeler les ressources (Pro Git, Scrum Guide, guides Atlassian) disponibles dans le document de cours, et la date de retour 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2.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slideLayout" Target="../slideLayouts/slideLayout2.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sp>
        <p:nvSpPr>
          <p:cNvPr id="3" name="Text 1"/>
          <p:cNvSpPr/>
          <p:nvPr/>
        </p:nvSpPr>
        <p:spPr>
          <a:xfrm>
            <a:off x="812800" y="17932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SOFT SKILLS · BACHELOR 2E ANNÉE · 18 H</a:t>
            </a:r>
            <a:endParaRPr lang="en-US" sz="1400" dirty="0"/>
          </a:p>
        </p:txBody>
      </p:sp>
      <p:sp>
        <p:nvSpPr>
          <p:cNvPr id="4" name="Text 2"/>
          <p:cNvSpPr/>
          <p:nvPr>
            <p:ph type="title"/>
          </p:nvPr>
        </p:nvSpPr>
        <p:spPr>
          <a:xfrm>
            <a:off x="812800" y="229612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Space Grotesk" pitchFamily="34" charset="0"/>
                <a:ea typeface="Space Grotesk" pitchFamily="34" charset="-122"/>
                <a:cs typeface="Space Grotesk" pitchFamily="34" charset="-120"/>
              </a:rPr>
              <a:t>Collaborer dans un environnement IT</a:t>
            </a:r>
            <a:endParaRPr lang="en-US" sz="6000" dirty="0"/>
          </a:p>
        </p:txBody>
      </p:sp>
      <p:sp>
        <p:nvSpPr>
          <p:cNvPr id="5" name="Text 3"/>
          <p:cNvSpPr/>
          <p:nvPr/>
        </p:nvSpPr>
        <p:spPr>
          <a:xfrm>
            <a:off x="812800" y="41503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E0"/>
                </a:solidFill>
                <a:latin typeface="IBM Plex Sans" pitchFamily="34" charset="0"/>
                <a:ea typeface="IBM Plex Sans" pitchFamily="34" charset="-122"/>
                <a:cs typeface="IBM Plex Sans" pitchFamily="34" charset="-120"/>
              </a:rPr>
              <a:t>Agilité, Jira, Git, Confluence et compétences relationnelles : 9 séances pour vivre un projet IT en équipe.</a:t>
            </a:r>
            <a:endParaRPr lang="en-US" sz="20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Fil rouge : CampusLink, startup fictive · [Nom de l'enseignant] · [Établissement]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LE MODULE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Ce que vous saurez faire à la fin</a:t>
            </a:r>
            <a:endParaRPr lang="en-US" sz="3200" dirty="0"/>
          </a:p>
        </p:txBody>
      </p:sp>
      <p:sp>
        <p:nvSpPr>
          <p:cNvPr id="4" name="Shape 2"/>
          <p:cNvSpPr/>
          <p:nvPr/>
        </p:nvSpPr>
        <p:spPr>
          <a:xfrm>
            <a:off x="812800" y="1981101"/>
            <a:ext cx="3302000" cy="2523232"/>
          </a:xfrm>
          <a:prstGeom prst="roundRect">
            <a:avLst>
              <a:gd name="adj" fmla="val 4027"/>
            </a:avLst>
          </a:prstGeom>
          <a:solidFill>
            <a:srgbClr val="14213D"/>
          </a:solidFill>
          <a:ln/>
        </p:spPr>
      </p:sp>
      <p:sp>
        <p:nvSpPr>
          <p:cNvPr id="5" name="Text 3"/>
          <p:cNvSpPr/>
          <p:nvPr/>
        </p:nvSpPr>
        <p:spPr>
          <a:xfrm>
            <a:off x="1117600" y="2285901"/>
            <a:ext cx="27731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Pour qui ?</a:t>
            </a:r>
            <a:endParaRPr lang="en-US" sz="1600" dirty="0"/>
          </a:p>
        </p:txBody>
      </p:sp>
      <p:sp>
        <p:nvSpPr>
          <p:cNvPr id="6" name="Text 4"/>
          <p:cNvSpPr/>
          <p:nvPr/>
        </p:nvSpPr>
        <p:spPr>
          <a:xfrm>
            <a:off x="1117600" y="2656681"/>
            <a:ext cx="277317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Bachelor Bac+2, peu ou pas d'expérience en entreprise IT.</a:t>
            </a:r>
            <a:endParaRPr lang="en-US" sz="1400" dirty="0"/>
          </a:p>
        </p:txBody>
      </p:sp>
      <p:sp>
        <p:nvSpPr>
          <p:cNvPr id="7" name="Text 5"/>
          <p:cNvSpPr/>
          <p:nvPr/>
        </p:nvSpPr>
        <p:spPr>
          <a:xfrm>
            <a:off x="1117600" y="3299222"/>
            <a:ext cx="277317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Aucun prérequis technique.</a:t>
            </a:r>
            <a:endParaRPr lang="en-US" sz="1400" dirty="0"/>
          </a:p>
        </p:txBody>
      </p:sp>
      <p:sp>
        <p:nvSpPr>
          <p:cNvPr id="8" name="Text 6"/>
          <p:cNvSpPr/>
          <p:nvPr/>
        </p:nvSpPr>
        <p:spPr>
          <a:xfrm>
            <a:off x="1117600" y="3683992"/>
            <a:ext cx="277317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Une équipe de 4-5 pour tout le module.</a:t>
            </a:r>
            <a:endParaRPr lang="en-US" sz="1400" dirty="0"/>
          </a:p>
        </p:txBody>
      </p:sp>
      <p:sp>
        <p:nvSpPr>
          <p:cNvPr id="9" name="Text 7"/>
          <p:cNvSpPr/>
          <p:nvPr/>
        </p:nvSpPr>
        <p:spPr>
          <a:xfrm>
            <a:off x="4578052" y="1981101"/>
            <a:ext cx="6999268" cy="2548632"/>
          </a:xfrm>
          <a:prstGeom prst="rect">
            <a:avLst/>
          </a:prstGeom>
          <a:noFill/>
          <a:ln/>
        </p:spPr>
        <p:txBody>
          <a:bodyPr wrap="square" lIns="0" tIns="0" rIns="0" bIns="0" rtlCol="0" anchor="t">
            <a:normAutofit/>
          </a:bodyPr>
          <a:lstStyle/>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Décrire les rôles d'une équipe IT et leurs interactions</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Communiquer clairement, sur le bon canal</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Appliquer Scrum : rôles, événements, artefacts</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Écrire des user stories et piloter un sprint dans Jira</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Collaborer sur Git : branches, pull requests, revue, conflits</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Documenter un projet dans Confluence</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Donner un feedback, gérer un désaccord, travailler à distance</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Présentation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PROGRAMME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9 séances, un même projet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3325812"/>
        </p:xfrm>
        <a:graphic>
          <a:graphicData uri="http://schemas.openxmlformats.org/drawingml/2006/table">
            <a:tbl>
              <a:tblPr/>
              <a:tblGrid>
                <a:gridCol w="633222"/>
                <a:gridCol w="3166110"/>
                <a:gridCol w="2532888"/>
                <a:gridCol w="4221480"/>
              </a:tblGrid>
              <a:tr h="332581">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Thème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Outils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7F6F2"/>
                          </a:solidFill>
                          <a:latin typeface="IBM Plex Sans" pitchFamily="34" charset="0"/>
                          <a:ea typeface="IBM Plex Sans" pitchFamily="34" charset="-122"/>
                          <a:cs typeface="IBM Plex Sans" pitchFamily="34" charset="-120"/>
                        </a:rPr>
                        <a:t>Étude de cas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Travailler en équipe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Miro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Bienvenue chez CampusLink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Communiquer efficacement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Slack / Teams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Le bug du vendredi soir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Agilité et Scrum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Miro, Lego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Le projet en V qui dérape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Piloter avec Jira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Jira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Du cahier des charges au backlog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Coder à plusieurs avec Git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Git, GitHub, VS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La page d'accueil à quatre mains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Documenter et partager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Confluence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Le développeur qui part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Kanban, feedback, revue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Jira, GitHub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La revue de code qui blesse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Conflits, remote, culture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Slack, visio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Squad sous tension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32581">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Simulation de sprint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Tous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Sprint express CampusLink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Présentation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COMMENT ON TRAVAILLE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Chaque séance suit le même rythme</a:t>
            </a:r>
            <a:endParaRPr lang="en-US" sz="3200" dirty="0"/>
          </a:p>
        </p:txBody>
      </p:sp>
      <p:sp>
        <p:nvSpPr>
          <p:cNvPr id="4" name="Shape 2"/>
          <p:cNvSpPr/>
          <p:nvPr/>
        </p:nvSpPr>
        <p:spPr>
          <a:xfrm>
            <a:off x="815975" y="1984276"/>
            <a:ext cx="3380284" cy="2012752"/>
          </a:xfrm>
          <a:prstGeom prst="roundRect">
            <a:avLst>
              <a:gd name="adj" fmla="val 4890"/>
            </a:avLst>
          </a:prstGeom>
          <a:solidFill>
            <a:srgbClr val="FDFDFB"/>
          </a:solidFill>
          <a:ln w="6350">
            <a:solidFill>
              <a:srgbClr val="DCE1E8"/>
            </a:solidFill>
            <a:prstDash val="solid"/>
          </a:ln>
        </p:spPr>
      </p:sp>
      <p:sp>
        <p:nvSpPr>
          <p:cNvPr id="5" name="Text 3"/>
          <p:cNvSpPr/>
          <p:nvPr/>
        </p:nvSpPr>
        <p:spPr>
          <a:xfrm>
            <a:off x="1073150" y="2241451"/>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E15"/>
                </a:solidFill>
                <a:latin typeface="Space Grotesk" pitchFamily="34" charset="0"/>
                <a:ea typeface="Space Grotesk" pitchFamily="34" charset="-122"/>
                <a:cs typeface="Space Grotesk" pitchFamily="34" charset="-120"/>
              </a:rPr>
              <a:t>30 min</a:t>
            </a:r>
            <a:endParaRPr lang="en-US" sz="3600" dirty="0"/>
          </a:p>
        </p:txBody>
      </p:sp>
      <p:sp>
        <p:nvSpPr>
          <p:cNvPr id="6" name="Text 4"/>
          <p:cNvSpPr/>
          <p:nvPr/>
        </p:nvSpPr>
        <p:spPr>
          <a:xfrm>
            <a:off x="1073150" y="2957711"/>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Apports de cours</a:t>
            </a:r>
            <a:endParaRPr lang="en-US" sz="1600" dirty="0"/>
          </a:p>
        </p:txBody>
      </p:sp>
      <p:sp>
        <p:nvSpPr>
          <p:cNvPr id="7" name="Text 5"/>
          <p:cNvSpPr/>
          <p:nvPr/>
        </p:nvSpPr>
        <p:spPr>
          <a:xfrm>
            <a:off x="1073150" y="3277691"/>
            <a:ext cx="295191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Les notions et les outils, avec démo.</a:t>
            </a:r>
            <a:endParaRPr lang="en-US" sz="1300" dirty="0"/>
          </a:p>
        </p:txBody>
      </p:sp>
      <p:sp>
        <p:nvSpPr>
          <p:cNvPr id="8" name="Shape 6"/>
          <p:cNvSpPr/>
          <p:nvPr/>
        </p:nvSpPr>
        <p:spPr>
          <a:xfrm>
            <a:off x="4405809" y="1984276"/>
            <a:ext cx="3380383" cy="2012752"/>
          </a:xfrm>
          <a:prstGeom prst="roundRect">
            <a:avLst>
              <a:gd name="adj" fmla="val 4890"/>
            </a:avLst>
          </a:prstGeom>
          <a:solidFill>
            <a:srgbClr val="FDFDFB"/>
          </a:solidFill>
          <a:ln w="6350">
            <a:solidFill>
              <a:srgbClr val="DCE1E8"/>
            </a:solidFill>
            <a:prstDash val="solid"/>
          </a:ln>
        </p:spPr>
      </p:sp>
      <p:sp>
        <p:nvSpPr>
          <p:cNvPr id="9" name="Text 7"/>
          <p:cNvSpPr/>
          <p:nvPr/>
        </p:nvSpPr>
        <p:spPr>
          <a:xfrm>
            <a:off x="4662984" y="2241451"/>
            <a:ext cx="295201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E15"/>
                </a:solidFill>
                <a:latin typeface="Space Grotesk" pitchFamily="34" charset="0"/>
                <a:ea typeface="Space Grotesk" pitchFamily="34" charset="-122"/>
                <a:cs typeface="Space Grotesk" pitchFamily="34" charset="-120"/>
              </a:rPr>
              <a:t>70 min</a:t>
            </a:r>
            <a:endParaRPr lang="en-US" sz="3600" dirty="0"/>
          </a:p>
        </p:txBody>
      </p:sp>
      <p:sp>
        <p:nvSpPr>
          <p:cNvPr id="10" name="Text 8"/>
          <p:cNvSpPr/>
          <p:nvPr/>
        </p:nvSpPr>
        <p:spPr>
          <a:xfrm>
            <a:off x="4662984" y="2957711"/>
            <a:ext cx="295201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Étude de cas</a:t>
            </a:r>
            <a:endParaRPr lang="en-US" sz="1600" dirty="0"/>
          </a:p>
        </p:txBody>
      </p:sp>
      <p:sp>
        <p:nvSpPr>
          <p:cNvPr id="11" name="Text 9"/>
          <p:cNvSpPr/>
          <p:nvPr/>
        </p:nvSpPr>
        <p:spPr>
          <a:xfrm>
            <a:off x="4662984" y="3277691"/>
            <a:ext cx="295201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En groupe de 4-5, sur le projet CampusLink.</a:t>
            </a:r>
            <a:endParaRPr lang="en-US" sz="1300" dirty="0"/>
          </a:p>
        </p:txBody>
      </p:sp>
      <p:sp>
        <p:nvSpPr>
          <p:cNvPr id="12" name="Shape 10"/>
          <p:cNvSpPr/>
          <p:nvPr/>
        </p:nvSpPr>
        <p:spPr>
          <a:xfrm>
            <a:off x="7995741" y="1984276"/>
            <a:ext cx="3380284" cy="2012752"/>
          </a:xfrm>
          <a:prstGeom prst="roundRect">
            <a:avLst>
              <a:gd name="adj" fmla="val 4890"/>
            </a:avLst>
          </a:prstGeom>
          <a:solidFill>
            <a:srgbClr val="FDFDFB"/>
          </a:solidFill>
          <a:ln w="6350">
            <a:solidFill>
              <a:srgbClr val="DCE1E8"/>
            </a:solidFill>
            <a:prstDash val="solid"/>
          </a:ln>
        </p:spPr>
      </p:sp>
      <p:sp>
        <p:nvSpPr>
          <p:cNvPr id="13" name="Text 11"/>
          <p:cNvSpPr/>
          <p:nvPr/>
        </p:nvSpPr>
        <p:spPr>
          <a:xfrm>
            <a:off x="8252916" y="2241451"/>
            <a:ext cx="2951912"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E15"/>
                </a:solidFill>
                <a:latin typeface="Space Grotesk" pitchFamily="34" charset="0"/>
                <a:ea typeface="Space Grotesk" pitchFamily="34" charset="-122"/>
                <a:cs typeface="Space Grotesk" pitchFamily="34" charset="-120"/>
              </a:rPr>
              <a:t>20 min</a:t>
            </a:r>
            <a:endParaRPr lang="en-US" sz="3600" dirty="0"/>
          </a:p>
        </p:txBody>
      </p:sp>
      <p:sp>
        <p:nvSpPr>
          <p:cNvPr id="14" name="Text 12"/>
          <p:cNvSpPr/>
          <p:nvPr/>
        </p:nvSpPr>
        <p:spPr>
          <a:xfrm>
            <a:off x="8252916" y="2957711"/>
            <a:ext cx="29519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Restitution</a:t>
            </a:r>
            <a:endParaRPr lang="en-US" sz="1600" dirty="0"/>
          </a:p>
        </p:txBody>
      </p:sp>
      <p:sp>
        <p:nvSpPr>
          <p:cNvPr id="15" name="Text 13"/>
          <p:cNvSpPr/>
          <p:nvPr/>
        </p:nvSpPr>
        <p:spPr>
          <a:xfrm>
            <a:off x="8252916" y="3277691"/>
            <a:ext cx="295191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Chaque groupe présente, on débriefe ensemble.</a:t>
            </a:r>
            <a:endParaRPr lang="en-US" sz="1300" dirty="0"/>
          </a:p>
        </p:txBody>
      </p:sp>
      <p:sp>
        <p:nvSpPr>
          <p:cNvPr id="16" name="Text 14"/>
          <p:cNvSpPr/>
          <p:nvPr/>
        </p:nvSpPr>
        <p:spPr>
          <a:xfrm>
            <a:off x="812800" y="4254202"/>
            <a:ext cx="10566400" cy="655241"/>
          </a:xfrm>
          <a:prstGeom prst="roundRect">
            <a:avLst>
              <a:gd name="adj" fmla="val 15506"/>
            </a:avLst>
          </a:prstGeom>
          <a:solidFill>
            <a:srgbClr val="E9EDF3"/>
          </a:solidFill>
          <a:ln/>
        </p:spPr>
        <p:txBody>
          <a:bodyPr wrap="square" lIns="224242" tIns="173442" rIns="0" bIns="148042"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Rôles tournants à chaque séance :</a:t>
            </a:r>
            <a:r>
              <a:rPr lang="en-US" sz="1400" dirty="0">
                <a:solidFill>
                  <a:srgbClr val="3D4A5C"/>
                </a:solidFill>
                <a:latin typeface="IBM Plex Sans" pitchFamily="34" charset="0"/>
                <a:ea typeface="IBM Plex Sans" pitchFamily="34" charset="-122"/>
                <a:cs typeface="IBM Plex Sans" pitchFamily="34" charset="-120"/>
              </a:rPr>
              <a:t> Scrum Master, Product Owner, scribe, gardien du temps.</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Présentation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ÉVALUATION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100 % contrôle continu : on note la collaboration</a:t>
            </a:r>
            <a:endParaRPr lang="en-US" sz="3200" dirty="0"/>
          </a:p>
        </p:txBody>
      </p:sp>
      <p:sp>
        <p:nvSpPr>
          <p:cNvPr id="4" name="Shape 2"/>
          <p:cNvSpPr/>
          <p:nvPr/>
        </p:nvSpPr>
        <p:spPr>
          <a:xfrm>
            <a:off x="812800" y="1981101"/>
            <a:ext cx="3254276" cy="1686421"/>
          </a:xfrm>
          <a:prstGeom prst="roundRect">
            <a:avLst>
              <a:gd name="adj" fmla="val 6025"/>
            </a:avLst>
          </a:prstGeom>
          <a:solidFill>
            <a:srgbClr val="14213D"/>
          </a:solidFill>
          <a:ln/>
        </p:spPr>
      </p:sp>
      <p:sp>
        <p:nvSpPr>
          <p:cNvPr id="5" name="Text 3"/>
          <p:cNvSpPr/>
          <p:nvPr/>
        </p:nvSpPr>
        <p:spPr>
          <a:xfrm>
            <a:off x="1066800" y="2235101"/>
            <a:ext cx="2828664"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40 %</a:t>
            </a:r>
            <a:endParaRPr lang="en-US" sz="3600" dirty="0"/>
          </a:p>
        </p:txBody>
      </p:sp>
      <p:sp>
        <p:nvSpPr>
          <p:cNvPr id="6" name="Text 4"/>
          <p:cNvSpPr/>
          <p:nvPr/>
        </p:nvSpPr>
        <p:spPr>
          <a:xfrm>
            <a:off x="1066800" y="2951361"/>
            <a:ext cx="282866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1"/>
                </a:solidFill>
                <a:latin typeface="IBM Plex Sans" pitchFamily="34" charset="0"/>
                <a:ea typeface="IBM Plex Sans" pitchFamily="34" charset="-122"/>
                <a:cs typeface="IBM Plex Sans" pitchFamily="34" charset="-120"/>
              </a:rPr>
              <a:t>Livrables des études de cas, séances 1 à 8</a:t>
            </a:r>
            <a:endParaRPr lang="en-US" sz="1300" dirty="0"/>
          </a:p>
        </p:txBody>
      </p:sp>
      <p:sp>
        <p:nvSpPr>
          <p:cNvPr id="7" name="Shape 5"/>
          <p:cNvSpPr/>
          <p:nvPr/>
        </p:nvSpPr>
        <p:spPr>
          <a:xfrm>
            <a:off x="4219476" y="1981101"/>
            <a:ext cx="2769592" cy="1686421"/>
          </a:xfrm>
          <a:prstGeom prst="roundRect">
            <a:avLst>
              <a:gd name="adj" fmla="val 6025"/>
            </a:avLst>
          </a:prstGeom>
          <a:solidFill>
            <a:srgbClr val="1E2D4F"/>
          </a:solidFill>
          <a:ln/>
        </p:spPr>
      </p:sp>
      <p:sp>
        <p:nvSpPr>
          <p:cNvPr id="8" name="Text 6"/>
          <p:cNvSpPr/>
          <p:nvPr/>
        </p:nvSpPr>
        <p:spPr>
          <a:xfrm>
            <a:off x="4473476" y="2235101"/>
            <a:ext cx="2329440"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30 %</a:t>
            </a:r>
            <a:endParaRPr lang="en-US" sz="3600" dirty="0"/>
          </a:p>
        </p:txBody>
      </p:sp>
      <p:sp>
        <p:nvSpPr>
          <p:cNvPr id="9" name="Text 7"/>
          <p:cNvSpPr/>
          <p:nvPr/>
        </p:nvSpPr>
        <p:spPr>
          <a:xfrm>
            <a:off x="4473476" y="2951361"/>
            <a:ext cx="23294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1"/>
                </a:solidFill>
                <a:latin typeface="IBM Plex Sans" pitchFamily="34" charset="0"/>
                <a:ea typeface="IBM Plex Sans" pitchFamily="34" charset="-122"/>
                <a:cs typeface="IBM Plex Sans" pitchFamily="34" charset="-120"/>
              </a:rPr>
              <a:t>Simulation finale de sprint, séance 9</a:t>
            </a:r>
            <a:endParaRPr lang="en-US" sz="1300" dirty="0"/>
          </a:p>
        </p:txBody>
      </p:sp>
      <p:sp>
        <p:nvSpPr>
          <p:cNvPr id="10" name="Shape 8"/>
          <p:cNvSpPr/>
          <p:nvPr/>
        </p:nvSpPr>
        <p:spPr>
          <a:xfrm>
            <a:off x="7141468" y="1981101"/>
            <a:ext cx="2042616" cy="1686421"/>
          </a:xfrm>
          <a:prstGeom prst="roundRect">
            <a:avLst>
              <a:gd name="adj" fmla="val 6025"/>
            </a:avLst>
          </a:prstGeom>
          <a:solidFill>
            <a:srgbClr val="E9EDF3"/>
          </a:solidFill>
          <a:ln/>
        </p:spPr>
      </p:sp>
      <p:sp>
        <p:nvSpPr>
          <p:cNvPr id="11" name="Text 9"/>
          <p:cNvSpPr/>
          <p:nvPr/>
        </p:nvSpPr>
        <p:spPr>
          <a:xfrm>
            <a:off x="7395468" y="2235101"/>
            <a:ext cx="158541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E15"/>
                </a:solidFill>
                <a:latin typeface="Space Grotesk" pitchFamily="34" charset="0"/>
                <a:ea typeface="Space Grotesk" pitchFamily="34" charset="-122"/>
                <a:cs typeface="Space Grotesk" pitchFamily="34" charset="-120"/>
              </a:rPr>
              <a:t>15 %</a:t>
            </a:r>
            <a:endParaRPr lang="en-US" sz="3600" dirty="0"/>
          </a:p>
        </p:txBody>
      </p:sp>
      <p:sp>
        <p:nvSpPr>
          <p:cNvPr id="12" name="Text 10"/>
          <p:cNvSpPr/>
          <p:nvPr/>
        </p:nvSpPr>
        <p:spPr>
          <a:xfrm>
            <a:off x="7395468" y="2951361"/>
            <a:ext cx="158541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Implication</a:t>
            </a:r>
            <a:endParaRPr lang="en-US" sz="1300" dirty="0"/>
          </a:p>
        </p:txBody>
      </p:sp>
      <p:sp>
        <p:nvSpPr>
          <p:cNvPr id="13" name="Shape 11"/>
          <p:cNvSpPr/>
          <p:nvPr/>
        </p:nvSpPr>
        <p:spPr>
          <a:xfrm>
            <a:off x="9336484" y="1981101"/>
            <a:ext cx="2042716" cy="1686421"/>
          </a:xfrm>
          <a:prstGeom prst="roundRect">
            <a:avLst>
              <a:gd name="adj" fmla="val 6025"/>
            </a:avLst>
          </a:prstGeom>
          <a:solidFill>
            <a:srgbClr val="E9EDF3"/>
          </a:solidFill>
          <a:ln/>
        </p:spPr>
      </p:sp>
      <p:sp>
        <p:nvSpPr>
          <p:cNvPr id="14" name="Text 12"/>
          <p:cNvSpPr/>
          <p:nvPr/>
        </p:nvSpPr>
        <p:spPr>
          <a:xfrm>
            <a:off x="9590484" y="2235101"/>
            <a:ext cx="1585516"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B04E15"/>
                </a:solidFill>
                <a:latin typeface="Space Grotesk" pitchFamily="34" charset="0"/>
                <a:ea typeface="Space Grotesk" pitchFamily="34" charset="-122"/>
                <a:cs typeface="Space Grotesk" pitchFamily="34" charset="-120"/>
              </a:rPr>
              <a:t>15 %</a:t>
            </a:r>
            <a:endParaRPr lang="en-US" sz="3600" dirty="0"/>
          </a:p>
        </p:txBody>
      </p:sp>
      <p:sp>
        <p:nvSpPr>
          <p:cNvPr id="15" name="Text 13"/>
          <p:cNvSpPr/>
          <p:nvPr/>
        </p:nvSpPr>
        <p:spPr>
          <a:xfrm>
            <a:off x="9590484" y="2951361"/>
            <a:ext cx="1585516"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Bilan réflexif</a:t>
            </a:r>
            <a:endParaRPr lang="en-US" sz="1300" dirty="0"/>
          </a:p>
        </p:txBody>
      </p:sp>
      <p:sp>
        <p:nvSpPr>
          <p:cNvPr id="16" name="Text 14"/>
          <p:cNvSpPr/>
          <p:nvPr/>
        </p:nvSpPr>
        <p:spPr>
          <a:xfrm>
            <a:off x="812800" y="3921522"/>
            <a:ext cx="108833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D4A5C"/>
                </a:solidFill>
                <a:latin typeface="IBM Plex Sans" pitchFamily="34" charset="0"/>
                <a:ea typeface="IBM Plex Sans" pitchFamily="34" charset="-122"/>
                <a:cs typeface="IBM Plex Sans" pitchFamily="34" charset="-120"/>
              </a:rPr>
              <a:t>Évaluation par les pairs aux séances 4 et 8 : chacun répartit 100 points entre les membres de son groupe, avec une phrase de justification.</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Présentation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1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Travailler en équipe dans l'IT</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Comprendre qui fait quoi dans une équipe IT et poser les règles de fonctionnement de son groupe.</a:t>
            </a:r>
            <a:endParaRPr lang="en-US" sz="1600" dirty="0"/>
          </a:p>
        </p:txBody>
      </p:sp>
      <p:sp>
        <p:nvSpPr>
          <p:cNvPr id="5" name="Shape 3"/>
          <p:cNvSpPr/>
          <p:nvPr/>
        </p:nvSpPr>
        <p:spPr>
          <a:xfrm>
            <a:off x="6807200" y="2018209"/>
            <a:ext cx="4572000" cy="2618383"/>
          </a:xfrm>
          <a:prstGeom prst="roundRect">
            <a:avLst>
              <a:gd name="adj" fmla="val 3880"/>
            </a:avLst>
          </a:prstGeom>
          <a:solidFill>
            <a:srgbClr val="1E2D4F"/>
          </a:solidFill>
          <a:ln/>
        </p:spPr>
      </p:sp>
      <p:sp>
        <p:nvSpPr>
          <p:cNvPr id="6" name="Text 4"/>
          <p:cNvSpPr/>
          <p:nvPr/>
        </p:nvSpPr>
        <p:spPr>
          <a:xfrm>
            <a:off x="7112000" y="232300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719189"/>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0:00–0:15</a:t>
            </a:r>
            <a:endParaRPr lang="en-US" sz="1300" dirty="0"/>
          </a:p>
        </p:txBody>
      </p:sp>
      <p:sp>
        <p:nvSpPr>
          <p:cNvPr id="8" name="Text 6"/>
          <p:cNvSpPr/>
          <p:nvPr/>
        </p:nvSpPr>
        <p:spPr>
          <a:xfrm>
            <a:off x="8407400" y="2719189"/>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Brise-glace et fil rouge</a:t>
            </a:r>
            <a:endParaRPr lang="en-US" sz="1300" dirty="0"/>
          </a:p>
        </p:txBody>
      </p:sp>
      <p:sp>
        <p:nvSpPr>
          <p:cNvPr id="9" name="Text 7"/>
          <p:cNvSpPr/>
          <p:nvPr/>
        </p:nvSpPr>
        <p:spPr>
          <a:xfrm>
            <a:off x="7112000" y="3102670"/>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0:15–0:45</a:t>
            </a:r>
            <a:endParaRPr lang="en-US" sz="1300" dirty="0"/>
          </a:p>
        </p:txBody>
      </p:sp>
      <p:sp>
        <p:nvSpPr>
          <p:cNvPr id="10" name="Text 8"/>
          <p:cNvSpPr/>
          <p:nvPr/>
        </p:nvSpPr>
        <p:spPr>
          <a:xfrm>
            <a:off x="8407400" y="3102670"/>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métiers, cycle de vie, dynamique d'équipe</a:t>
            </a:r>
            <a:endParaRPr lang="en-US" sz="1300" dirty="0"/>
          </a:p>
        </p:txBody>
      </p:sp>
      <p:sp>
        <p:nvSpPr>
          <p:cNvPr id="11" name="Text 9"/>
          <p:cNvSpPr/>
          <p:nvPr/>
        </p:nvSpPr>
        <p:spPr>
          <a:xfrm>
            <a:off x="7112000" y="371723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0:45–1:40</a:t>
            </a:r>
            <a:endParaRPr lang="en-US" sz="1300" dirty="0"/>
          </a:p>
        </p:txBody>
      </p:sp>
      <p:sp>
        <p:nvSpPr>
          <p:cNvPr id="12" name="Text 10"/>
          <p:cNvSpPr/>
          <p:nvPr/>
        </p:nvSpPr>
        <p:spPr>
          <a:xfrm>
            <a:off x="8407400" y="371723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Étude de cas en groupe</a:t>
            </a:r>
            <a:endParaRPr lang="en-US" sz="1300" dirty="0"/>
          </a:p>
        </p:txBody>
      </p:sp>
      <p:sp>
        <p:nvSpPr>
          <p:cNvPr id="13" name="Text 11"/>
          <p:cNvSpPr/>
          <p:nvPr/>
        </p:nvSpPr>
        <p:spPr>
          <a:xfrm>
            <a:off x="7112000" y="410071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1:40–2:00</a:t>
            </a:r>
            <a:endParaRPr lang="en-US" sz="1300" dirty="0"/>
          </a:p>
        </p:txBody>
      </p:sp>
      <p:sp>
        <p:nvSpPr>
          <p:cNvPr id="14" name="Text 12"/>
          <p:cNvSpPr/>
          <p:nvPr/>
        </p:nvSpPr>
        <p:spPr>
          <a:xfrm>
            <a:off x="8407400" y="410071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Restitution et débrief</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LES MÉTIERS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Chaque rôle porte une question</a:t>
            </a:r>
            <a:endParaRPr lang="en-US" sz="3200" dirty="0"/>
          </a:p>
        </p:txBody>
      </p:sp>
      <p:sp>
        <p:nvSpPr>
          <p:cNvPr id="4" name="Shape 2"/>
          <p:cNvSpPr/>
          <p:nvPr/>
        </p:nvSpPr>
        <p:spPr>
          <a:xfrm>
            <a:off x="815975" y="1984276"/>
            <a:ext cx="2520950" cy="1118791"/>
          </a:xfrm>
          <a:prstGeom prst="roundRect">
            <a:avLst>
              <a:gd name="adj" fmla="val 8797"/>
            </a:avLst>
          </a:prstGeom>
          <a:solidFill>
            <a:srgbClr val="FDFDFB"/>
          </a:solidFill>
          <a:ln w="6350">
            <a:solidFill>
              <a:srgbClr val="DCE1E8"/>
            </a:solidFill>
            <a:prstDash val="solid"/>
          </a:ln>
        </p:spPr>
      </p:sp>
      <p:sp>
        <p:nvSpPr>
          <p:cNvPr id="5" name="Text 3"/>
          <p:cNvSpPr/>
          <p:nvPr/>
        </p:nvSpPr>
        <p:spPr>
          <a:xfrm>
            <a:off x="1022350" y="219065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Product Owner</a:t>
            </a:r>
            <a:endParaRPr lang="en-US" sz="1500" dirty="0"/>
          </a:p>
        </p:txBody>
      </p:sp>
      <p:sp>
        <p:nvSpPr>
          <p:cNvPr id="6" name="Text 4"/>
          <p:cNvSpPr/>
          <p:nvPr/>
        </p:nvSpPr>
        <p:spPr>
          <a:xfrm>
            <a:off x="1022350" y="247005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Qu'est-ce qu'on construit, et pourquoi ?</a:t>
            </a:r>
            <a:endParaRPr lang="en-US" sz="1200" dirty="0"/>
          </a:p>
        </p:txBody>
      </p:sp>
      <p:sp>
        <p:nvSpPr>
          <p:cNvPr id="7" name="Shape 5"/>
          <p:cNvSpPr/>
          <p:nvPr/>
        </p:nvSpPr>
        <p:spPr>
          <a:xfrm>
            <a:off x="3495675" y="1984276"/>
            <a:ext cx="2520950" cy="1118791"/>
          </a:xfrm>
          <a:prstGeom prst="roundRect">
            <a:avLst>
              <a:gd name="adj" fmla="val 8797"/>
            </a:avLst>
          </a:prstGeom>
          <a:solidFill>
            <a:srgbClr val="FDFDFB"/>
          </a:solidFill>
          <a:ln w="6350">
            <a:solidFill>
              <a:srgbClr val="DCE1E8"/>
            </a:solidFill>
            <a:prstDash val="solid"/>
          </a:ln>
        </p:spPr>
      </p:sp>
      <p:sp>
        <p:nvSpPr>
          <p:cNvPr id="8" name="Text 6"/>
          <p:cNvSpPr/>
          <p:nvPr/>
        </p:nvSpPr>
        <p:spPr>
          <a:xfrm>
            <a:off x="3702050" y="219065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Scrum Master</a:t>
            </a:r>
            <a:endParaRPr lang="en-US" sz="1500" dirty="0"/>
          </a:p>
        </p:txBody>
      </p:sp>
      <p:sp>
        <p:nvSpPr>
          <p:cNvPr id="9" name="Text 7"/>
          <p:cNvSpPr/>
          <p:nvPr/>
        </p:nvSpPr>
        <p:spPr>
          <a:xfrm>
            <a:off x="3702050" y="247005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Qu'est-ce qui empêche l'équipe d'avancer ?</a:t>
            </a:r>
            <a:endParaRPr lang="en-US" sz="1200" dirty="0"/>
          </a:p>
        </p:txBody>
      </p:sp>
      <p:sp>
        <p:nvSpPr>
          <p:cNvPr id="10" name="Shape 8"/>
          <p:cNvSpPr/>
          <p:nvPr/>
        </p:nvSpPr>
        <p:spPr>
          <a:xfrm>
            <a:off x="6175375" y="1984276"/>
            <a:ext cx="2520950" cy="1118791"/>
          </a:xfrm>
          <a:prstGeom prst="roundRect">
            <a:avLst>
              <a:gd name="adj" fmla="val 8797"/>
            </a:avLst>
          </a:prstGeom>
          <a:solidFill>
            <a:srgbClr val="FDFDFB"/>
          </a:solidFill>
          <a:ln w="6350">
            <a:solidFill>
              <a:srgbClr val="DCE1E8"/>
            </a:solidFill>
            <a:prstDash val="solid"/>
          </a:ln>
        </p:spPr>
      </p:sp>
      <p:sp>
        <p:nvSpPr>
          <p:cNvPr id="11" name="Text 9"/>
          <p:cNvSpPr/>
          <p:nvPr/>
        </p:nvSpPr>
        <p:spPr>
          <a:xfrm>
            <a:off x="6381750" y="219065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Développeur</a:t>
            </a:r>
            <a:endParaRPr lang="en-US" sz="1500" dirty="0"/>
          </a:p>
        </p:txBody>
      </p:sp>
      <p:sp>
        <p:nvSpPr>
          <p:cNvPr id="12" name="Text 10"/>
          <p:cNvSpPr/>
          <p:nvPr/>
        </p:nvSpPr>
        <p:spPr>
          <a:xfrm>
            <a:off x="6381750" y="247005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Comment le construire proprement ?</a:t>
            </a:r>
            <a:endParaRPr lang="en-US" sz="1200" dirty="0"/>
          </a:p>
        </p:txBody>
      </p:sp>
      <p:sp>
        <p:nvSpPr>
          <p:cNvPr id="13" name="Shape 11"/>
          <p:cNvSpPr/>
          <p:nvPr/>
        </p:nvSpPr>
        <p:spPr>
          <a:xfrm>
            <a:off x="8855075" y="1984276"/>
            <a:ext cx="2520950" cy="1118791"/>
          </a:xfrm>
          <a:prstGeom prst="roundRect">
            <a:avLst>
              <a:gd name="adj" fmla="val 8797"/>
            </a:avLst>
          </a:prstGeom>
          <a:solidFill>
            <a:srgbClr val="FDFDFB"/>
          </a:solidFill>
          <a:ln w="6350">
            <a:solidFill>
              <a:srgbClr val="DCE1E8"/>
            </a:solidFill>
            <a:prstDash val="solid"/>
          </a:ln>
        </p:spPr>
      </p:sp>
      <p:sp>
        <p:nvSpPr>
          <p:cNvPr id="14" name="Text 12"/>
          <p:cNvSpPr/>
          <p:nvPr/>
        </p:nvSpPr>
        <p:spPr>
          <a:xfrm>
            <a:off x="9061450" y="219065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Tech Lead</a:t>
            </a:r>
            <a:endParaRPr lang="en-US" sz="1500" dirty="0"/>
          </a:p>
        </p:txBody>
      </p:sp>
      <p:sp>
        <p:nvSpPr>
          <p:cNvPr id="15" name="Text 13"/>
          <p:cNvSpPr/>
          <p:nvPr/>
        </p:nvSpPr>
        <p:spPr>
          <a:xfrm>
            <a:off x="9061450" y="247005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Est-ce cohérent et durable ?</a:t>
            </a:r>
            <a:endParaRPr lang="en-US" sz="1200" dirty="0"/>
          </a:p>
        </p:txBody>
      </p:sp>
      <p:sp>
        <p:nvSpPr>
          <p:cNvPr id="16" name="Shape 14"/>
          <p:cNvSpPr/>
          <p:nvPr/>
        </p:nvSpPr>
        <p:spPr>
          <a:xfrm>
            <a:off x="815975" y="3261816"/>
            <a:ext cx="2520950" cy="1118791"/>
          </a:xfrm>
          <a:prstGeom prst="roundRect">
            <a:avLst>
              <a:gd name="adj" fmla="val 8797"/>
            </a:avLst>
          </a:prstGeom>
          <a:solidFill>
            <a:srgbClr val="FDFDFB"/>
          </a:solidFill>
          <a:ln w="6350">
            <a:solidFill>
              <a:srgbClr val="DCE1E8"/>
            </a:solidFill>
            <a:prstDash val="solid"/>
          </a:ln>
        </p:spPr>
      </p:sp>
      <p:sp>
        <p:nvSpPr>
          <p:cNvPr id="17" name="Text 15"/>
          <p:cNvSpPr/>
          <p:nvPr/>
        </p:nvSpPr>
        <p:spPr>
          <a:xfrm>
            <a:off x="1022350" y="34681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QA / testeur</a:t>
            </a:r>
            <a:endParaRPr lang="en-US" sz="1500" dirty="0"/>
          </a:p>
        </p:txBody>
      </p:sp>
      <p:sp>
        <p:nvSpPr>
          <p:cNvPr id="18" name="Text 16"/>
          <p:cNvSpPr/>
          <p:nvPr/>
        </p:nvSpPr>
        <p:spPr>
          <a:xfrm>
            <a:off x="1022350" y="37475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Est-ce que ça marche vraiment ?</a:t>
            </a:r>
            <a:endParaRPr lang="en-US" sz="1200" dirty="0"/>
          </a:p>
        </p:txBody>
      </p:sp>
      <p:sp>
        <p:nvSpPr>
          <p:cNvPr id="19" name="Shape 17"/>
          <p:cNvSpPr/>
          <p:nvPr/>
        </p:nvSpPr>
        <p:spPr>
          <a:xfrm>
            <a:off x="3495675" y="3261816"/>
            <a:ext cx="2520950" cy="1118791"/>
          </a:xfrm>
          <a:prstGeom prst="roundRect">
            <a:avLst>
              <a:gd name="adj" fmla="val 8797"/>
            </a:avLst>
          </a:prstGeom>
          <a:solidFill>
            <a:srgbClr val="FDFDFB"/>
          </a:solidFill>
          <a:ln w="6350">
            <a:solidFill>
              <a:srgbClr val="DCE1E8"/>
            </a:solidFill>
            <a:prstDash val="solid"/>
          </a:ln>
        </p:spPr>
      </p:sp>
      <p:sp>
        <p:nvSpPr>
          <p:cNvPr id="20" name="Text 18"/>
          <p:cNvSpPr/>
          <p:nvPr/>
        </p:nvSpPr>
        <p:spPr>
          <a:xfrm>
            <a:off x="3702050" y="34681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UX/UI designer</a:t>
            </a:r>
            <a:endParaRPr lang="en-US" sz="1500" dirty="0"/>
          </a:p>
        </p:txBody>
      </p:sp>
      <p:sp>
        <p:nvSpPr>
          <p:cNvPr id="21" name="Text 19"/>
          <p:cNvSpPr/>
          <p:nvPr/>
        </p:nvSpPr>
        <p:spPr>
          <a:xfrm>
            <a:off x="3702050" y="3747591"/>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Est-ce simple à utiliser ?</a:t>
            </a:r>
            <a:endParaRPr lang="en-US" sz="1200" dirty="0"/>
          </a:p>
        </p:txBody>
      </p:sp>
      <p:sp>
        <p:nvSpPr>
          <p:cNvPr id="22" name="Shape 20"/>
          <p:cNvSpPr/>
          <p:nvPr/>
        </p:nvSpPr>
        <p:spPr>
          <a:xfrm>
            <a:off x="6175375" y="3261816"/>
            <a:ext cx="2520950" cy="1118791"/>
          </a:xfrm>
          <a:prstGeom prst="roundRect">
            <a:avLst>
              <a:gd name="adj" fmla="val 8797"/>
            </a:avLst>
          </a:prstGeom>
          <a:solidFill>
            <a:srgbClr val="FDFDFB"/>
          </a:solidFill>
          <a:ln w="6350">
            <a:solidFill>
              <a:srgbClr val="DCE1E8"/>
            </a:solidFill>
            <a:prstDash val="solid"/>
          </a:ln>
        </p:spPr>
      </p:sp>
      <p:sp>
        <p:nvSpPr>
          <p:cNvPr id="23" name="Text 21"/>
          <p:cNvSpPr/>
          <p:nvPr/>
        </p:nvSpPr>
        <p:spPr>
          <a:xfrm>
            <a:off x="6381750" y="34681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DevOps / SRE</a:t>
            </a:r>
            <a:endParaRPr lang="en-US" sz="1500" dirty="0"/>
          </a:p>
        </p:txBody>
      </p:sp>
      <p:sp>
        <p:nvSpPr>
          <p:cNvPr id="24" name="Text 22"/>
          <p:cNvSpPr/>
          <p:nvPr/>
        </p:nvSpPr>
        <p:spPr>
          <a:xfrm>
            <a:off x="6381750" y="37475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Comment le livrer et le garder en ligne ?</a:t>
            </a:r>
            <a:endParaRPr lang="en-US" sz="1200" dirty="0"/>
          </a:p>
        </p:txBody>
      </p:sp>
      <p:sp>
        <p:nvSpPr>
          <p:cNvPr id="25" name="Shape 23"/>
          <p:cNvSpPr/>
          <p:nvPr/>
        </p:nvSpPr>
        <p:spPr>
          <a:xfrm>
            <a:off x="8855075" y="3261816"/>
            <a:ext cx="2520950" cy="1118791"/>
          </a:xfrm>
          <a:prstGeom prst="roundRect">
            <a:avLst>
              <a:gd name="adj" fmla="val 8797"/>
            </a:avLst>
          </a:prstGeom>
          <a:solidFill>
            <a:srgbClr val="FDFDFB"/>
          </a:solidFill>
          <a:ln w="6350">
            <a:solidFill>
              <a:srgbClr val="DCE1E8"/>
            </a:solidFill>
            <a:prstDash val="solid"/>
          </a:ln>
        </p:spPr>
      </p:sp>
      <p:sp>
        <p:nvSpPr>
          <p:cNvPr id="26" name="Text 24"/>
          <p:cNvSpPr/>
          <p:nvPr/>
        </p:nvSpPr>
        <p:spPr>
          <a:xfrm>
            <a:off x="9061450" y="3468191"/>
            <a:ext cx="21714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Support</a:t>
            </a:r>
            <a:endParaRPr lang="en-US" sz="1500" dirty="0"/>
          </a:p>
        </p:txBody>
      </p:sp>
      <p:sp>
        <p:nvSpPr>
          <p:cNvPr id="27" name="Text 25"/>
          <p:cNvSpPr/>
          <p:nvPr/>
        </p:nvSpPr>
        <p:spPr>
          <a:xfrm>
            <a:off x="9061450" y="3747591"/>
            <a:ext cx="217144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Qu'est-ce que vivent les utilisateurs ?</a:t>
            </a:r>
            <a:endParaRPr lang="en-US" sz="1200" dirty="0"/>
          </a:p>
        </p:txBody>
      </p:sp>
      <p:sp>
        <p:nvSpPr>
          <p:cNvPr id="28" name="Text 26"/>
          <p:cNvSpPr/>
          <p:nvPr/>
        </p:nvSpPr>
        <p:spPr>
          <a:xfrm>
            <a:off x="812800" y="4637782"/>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Idée → spécification → conception → code → revue → tests → production → suivi : </a:t>
            </a:r>
            <a:r>
              <a:rPr lang="en-US" sz="1400" b="1" dirty="0">
                <a:solidFill>
                  <a:srgbClr val="3D4A5C"/>
                </a:solidFill>
                <a:latin typeface="IBM Plex Sans" pitchFamily="34" charset="0"/>
                <a:ea typeface="IBM Plex Sans" pitchFamily="34" charset="-122"/>
                <a:cs typeface="IBM Plex Sans" pitchFamily="34" charset="-120"/>
              </a:rPr>
              <a:t>chaque passage de relais peut perdre de l'information.</a:t>
            </a:r>
            <a:endParaRPr lang="en-US" sz="14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DYNAMIQUE D'ÉQUIPE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Une équipe passe par des tensions, c'est normal</a:t>
            </a:r>
            <a:endParaRPr lang="en-US" sz="3200" dirty="0"/>
          </a:p>
        </p:txBody>
      </p:sp>
      <p:sp>
        <p:nvSpPr>
          <p:cNvPr id="4" name="Shape 2"/>
          <p:cNvSpPr/>
          <p:nvPr/>
        </p:nvSpPr>
        <p:spPr>
          <a:xfrm>
            <a:off x="815975" y="2097286"/>
            <a:ext cx="2289175" cy="854670"/>
          </a:xfrm>
          <a:prstGeom prst="roundRect">
            <a:avLst>
              <a:gd name="adj" fmla="val 11516"/>
            </a:avLst>
          </a:prstGeom>
          <a:solidFill>
            <a:srgbClr val="FDFDFB"/>
          </a:solidFill>
          <a:ln w="6350">
            <a:solidFill>
              <a:srgbClr val="DCE1E8"/>
            </a:solidFill>
            <a:prstDash val="solid"/>
          </a:ln>
        </p:spPr>
      </p:sp>
      <p:sp>
        <p:nvSpPr>
          <p:cNvPr id="5" name="Text 3"/>
          <p:cNvSpPr/>
          <p:nvPr/>
        </p:nvSpPr>
        <p:spPr>
          <a:xfrm>
            <a:off x="996950" y="2278261"/>
            <a:ext cx="19850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Forming</a:t>
            </a:r>
            <a:endParaRPr lang="en-US" sz="1500" dirty="0"/>
          </a:p>
        </p:txBody>
      </p:sp>
      <p:sp>
        <p:nvSpPr>
          <p:cNvPr id="6" name="Text 4"/>
          <p:cNvSpPr/>
          <p:nvPr/>
        </p:nvSpPr>
        <p:spPr>
          <a:xfrm>
            <a:off x="996950" y="255766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On se découvre, on est poli</a:t>
            </a:r>
            <a:endParaRPr lang="en-US" sz="1200" dirty="0"/>
          </a:p>
        </p:txBody>
      </p:sp>
      <p:pic>
        <p:nvPicPr>
          <p:cNvPr id="7" name="Image 0" descr="arrow-right">    </p:cNvPr>
          <p:cNvPicPr>
            <a:picLocks noChangeAspect="1"/>
          </p:cNvPicPr>
          <p:nvPr/>
        </p:nvPicPr>
        <p:blipFill>
          <a:blip r:embed="rId1"/>
          <a:srcRect l="0" r="0" t="0" b="0"/>
          <a:stretch/>
        </p:blipFill>
        <p:spPr>
          <a:xfrm>
            <a:off x="3209925" y="2448421"/>
            <a:ext cx="254000" cy="152400"/>
          </a:xfrm>
          <a:prstGeom prst="rect">
            <a:avLst/>
          </a:prstGeom>
        </p:spPr>
      </p:pic>
      <p:sp>
        <p:nvSpPr>
          <p:cNvPr id="8" name="Shape 5"/>
          <p:cNvSpPr/>
          <p:nvPr/>
        </p:nvSpPr>
        <p:spPr>
          <a:xfrm>
            <a:off x="3571875" y="1987451"/>
            <a:ext cx="2295525" cy="1074341"/>
          </a:xfrm>
          <a:prstGeom prst="roundRect">
            <a:avLst>
              <a:gd name="adj" fmla="val 8866"/>
            </a:avLst>
          </a:prstGeom>
          <a:solidFill>
            <a:srgbClr val="FDFDFB"/>
          </a:solidFill>
          <a:ln w="12700">
            <a:solidFill>
              <a:srgbClr val="B04E15"/>
            </a:solidFill>
            <a:prstDash val="solid"/>
          </a:ln>
        </p:spPr>
      </p:sp>
      <p:sp>
        <p:nvSpPr>
          <p:cNvPr id="9" name="Text 6"/>
          <p:cNvSpPr/>
          <p:nvPr/>
        </p:nvSpPr>
        <p:spPr>
          <a:xfrm>
            <a:off x="3756025" y="2171601"/>
            <a:ext cx="19850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E15"/>
                </a:solidFill>
                <a:latin typeface="IBM Plex Sans" pitchFamily="34" charset="0"/>
                <a:ea typeface="IBM Plex Sans" pitchFamily="34" charset="-122"/>
                <a:cs typeface="IBM Plex Sans" pitchFamily="34" charset="-120"/>
              </a:rPr>
              <a:t>Storming</a:t>
            </a:r>
            <a:endParaRPr lang="en-US" sz="1500" dirty="0"/>
          </a:p>
        </p:txBody>
      </p:sp>
      <p:sp>
        <p:nvSpPr>
          <p:cNvPr id="10" name="Text 7"/>
          <p:cNvSpPr/>
          <p:nvPr/>
        </p:nvSpPr>
        <p:spPr>
          <a:xfrm>
            <a:off x="3756025" y="245100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Désaccords, tensions sur les rôles</a:t>
            </a:r>
            <a:endParaRPr lang="en-US" sz="1200" dirty="0"/>
          </a:p>
        </p:txBody>
      </p:sp>
      <p:pic>
        <p:nvPicPr>
          <p:cNvPr id="11" name="Image 1" descr="arrow-right">    </p:cNvPr>
          <p:cNvPicPr>
            <a:picLocks noChangeAspect="1"/>
          </p:cNvPicPr>
          <p:nvPr/>
        </p:nvPicPr>
        <p:blipFill>
          <a:blip r:embed="rId2"/>
          <a:srcRect l="0" r="0" t="0" b="0"/>
          <a:stretch/>
        </p:blipFill>
        <p:spPr>
          <a:xfrm>
            <a:off x="5975350" y="2448421"/>
            <a:ext cx="254000" cy="152400"/>
          </a:xfrm>
          <a:prstGeom prst="rect">
            <a:avLst/>
          </a:prstGeom>
        </p:spPr>
      </p:pic>
      <p:sp>
        <p:nvSpPr>
          <p:cNvPr id="12" name="Shape 8"/>
          <p:cNvSpPr/>
          <p:nvPr/>
        </p:nvSpPr>
        <p:spPr>
          <a:xfrm>
            <a:off x="6334125" y="1990626"/>
            <a:ext cx="2289175" cy="1067991"/>
          </a:xfrm>
          <a:prstGeom prst="roundRect">
            <a:avLst>
              <a:gd name="adj" fmla="val 9216"/>
            </a:avLst>
          </a:prstGeom>
          <a:solidFill>
            <a:srgbClr val="FDFDFB"/>
          </a:solidFill>
          <a:ln w="6350">
            <a:solidFill>
              <a:srgbClr val="DCE1E8"/>
            </a:solidFill>
            <a:prstDash val="solid"/>
          </a:ln>
        </p:spPr>
      </p:sp>
      <p:sp>
        <p:nvSpPr>
          <p:cNvPr id="13" name="Text 9"/>
          <p:cNvSpPr/>
          <p:nvPr/>
        </p:nvSpPr>
        <p:spPr>
          <a:xfrm>
            <a:off x="6515100" y="2171601"/>
            <a:ext cx="19850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Norming</a:t>
            </a:r>
            <a:endParaRPr lang="en-US" sz="1500" dirty="0"/>
          </a:p>
        </p:txBody>
      </p:sp>
      <p:sp>
        <p:nvSpPr>
          <p:cNvPr id="14" name="Text 10"/>
          <p:cNvSpPr/>
          <p:nvPr/>
        </p:nvSpPr>
        <p:spPr>
          <a:xfrm>
            <a:off x="6515100" y="2451001"/>
            <a:ext cx="198504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On fixe des règles communes</a:t>
            </a:r>
            <a:endParaRPr lang="en-US" sz="1200" dirty="0"/>
          </a:p>
        </p:txBody>
      </p:sp>
      <p:pic>
        <p:nvPicPr>
          <p:cNvPr id="15" name="Image 2" descr="arrow-right">    </p:cNvPr>
          <p:cNvPicPr>
            <a:picLocks noChangeAspect="1"/>
          </p:cNvPicPr>
          <p:nvPr/>
        </p:nvPicPr>
        <p:blipFill>
          <a:blip r:embed="rId3"/>
          <a:srcRect l="0" r="0" t="0" b="0"/>
          <a:stretch/>
        </p:blipFill>
        <p:spPr>
          <a:xfrm>
            <a:off x="8728075" y="2448421"/>
            <a:ext cx="254000" cy="152400"/>
          </a:xfrm>
          <a:prstGeom prst="rect">
            <a:avLst/>
          </a:prstGeom>
        </p:spPr>
      </p:pic>
      <p:sp>
        <p:nvSpPr>
          <p:cNvPr id="16" name="Shape 11"/>
          <p:cNvSpPr/>
          <p:nvPr/>
        </p:nvSpPr>
        <p:spPr>
          <a:xfrm>
            <a:off x="9086850" y="2097286"/>
            <a:ext cx="2289175" cy="854670"/>
          </a:xfrm>
          <a:prstGeom prst="roundRect">
            <a:avLst>
              <a:gd name="adj" fmla="val 11516"/>
            </a:avLst>
          </a:prstGeom>
          <a:solidFill>
            <a:srgbClr val="FDFDFB"/>
          </a:solidFill>
          <a:ln w="6350">
            <a:solidFill>
              <a:srgbClr val="DCE1E8"/>
            </a:solidFill>
            <a:prstDash val="solid"/>
          </a:ln>
        </p:spPr>
      </p:sp>
      <p:sp>
        <p:nvSpPr>
          <p:cNvPr id="17" name="Text 12"/>
          <p:cNvSpPr/>
          <p:nvPr/>
        </p:nvSpPr>
        <p:spPr>
          <a:xfrm>
            <a:off x="9267825" y="2278261"/>
            <a:ext cx="198504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Performing</a:t>
            </a:r>
            <a:endParaRPr lang="en-US" sz="1500" dirty="0"/>
          </a:p>
        </p:txBody>
      </p:sp>
      <p:sp>
        <p:nvSpPr>
          <p:cNvPr id="18" name="Text 13"/>
          <p:cNvSpPr/>
          <p:nvPr/>
        </p:nvSpPr>
        <p:spPr>
          <a:xfrm>
            <a:off x="9267825" y="2557661"/>
            <a:ext cx="19850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L'équipe est autonome</a:t>
            </a:r>
            <a:endParaRPr lang="en-US" sz="1200" dirty="0"/>
          </a:p>
        </p:txBody>
      </p:sp>
      <p:sp>
        <p:nvSpPr>
          <p:cNvPr id="19" name="Shape 14"/>
          <p:cNvSpPr/>
          <p:nvPr/>
        </p:nvSpPr>
        <p:spPr>
          <a:xfrm>
            <a:off x="812800" y="3322141"/>
            <a:ext cx="10566400" cy="1343521"/>
          </a:xfrm>
          <a:prstGeom prst="roundRect">
            <a:avLst>
              <a:gd name="adj" fmla="val 7562"/>
            </a:avLst>
          </a:prstGeom>
          <a:solidFill>
            <a:srgbClr val="14213D"/>
          </a:solidFill>
          <a:ln/>
        </p:spPr>
      </p:sp>
      <p:sp>
        <p:nvSpPr>
          <p:cNvPr id="20" name="Text 15"/>
          <p:cNvSpPr/>
          <p:nvPr/>
        </p:nvSpPr>
        <p:spPr>
          <a:xfrm>
            <a:off x="1066800" y="3576141"/>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Google, Project Aristotle : le facteur n° 1 est la sécurité psychologique</a:t>
            </a:r>
            <a:endParaRPr lang="en-US" sz="1600" dirty="0"/>
          </a:p>
        </p:txBody>
      </p:sp>
      <p:sp>
        <p:nvSpPr>
          <p:cNvPr id="21" name="Text 16"/>
          <p:cNvSpPr/>
          <p:nvPr/>
        </p:nvSpPr>
        <p:spPr>
          <a:xfrm>
            <a:off x="1066800" y="3896122"/>
            <a:ext cx="1036015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Pouvoir poser une question ou admettre une erreur sans craindre d'être ridiculisé. Puis : fiabilité, structure et clarté, sens, impact.</a:t>
            </a:r>
            <a:endParaRPr lang="en-US" sz="1400" dirty="0"/>
          </a:p>
        </p:txBody>
      </p:sp>
      <p:sp>
        <p:nvSpPr>
          <p:cNvPr id="22"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Tuckman (1965), Psychological Bulletin · Google re:Work, « Understand team effectiveness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EN GROUPE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Bienvenue chez CampusLink</a:t>
            </a:r>
            <a:endParaRPr lang="en-US" sz="3200" dirty="0"/>
          </a:p>
        </p:txBody>
      </p:sp>
      <p:sp>
        <p:nvSpPr>
          <p:cNvPr id="4" name="Shape 2"/>
          <p:cNvSpPr/>
          <p:nvPr/>
        </p:nvSpPr>
        <p:spPr>
          <a:xfrm>
            <a:off x="812800" y="1981101"/>
            <a:ext cx="6705600" cy="2202061"/>
          </a:xfrm>
          <a:prstGeom prst="roundRect">
            <a:avLst>
              <a:gd name="adj" fmla="val 4614"/>
            </a:avLst>
          </a:prstGeom>
          <a:solidFill>
            <a:srgbClr val="FDFDFB"/>
          </a:solidFill>
          <a:ln/>
        </p:spPr>
      </p:sp>
      <p:sp>
        <p:nvSpPr>
          <p:cNvPr id="5" name="Shape 3"/>
          <p:cNvSpPr/>
          <p:nvPr/>
        </p:nvSpPr>
        <p:spPr>
          <a:xfrm>
            <a:off x="812800" y="1981101"/>
            <a:ext cx="6705600" cy="2202061"/>
          </a:xfrm>
          <a:custGeom>
            <a:avLst/>
            <a:gdLst/>
            <a:ahLst/>
            <a:cxnLst/>
            <a:rect l="l" t="t" r="r" b="b"/>
            <a:pathLst>
              <a:path w="6705600" h="2202061">
                <a:moveTo>
                  <a:pt x="101600" y="2202061"/>
                </a:moveTo>
                <a:lnTo>
                  <a:pt x="101600" y="2202061"/>
                </a:lnTo>
                <a:arcTo hR="101600" wR="101600" stAng="5400000" swAng="5400000"/>
                <a:lnTo>
                  <a:pt x="0" y="101600"/>
                </a:lnTo>
                <a:arcTo hR="101600" wR="101600" stAng="10800000" swAng="5400000"/>
                <a:lnTo>
                  <a:pt x="101600" y="0"/>
                </a:lnTo>
                <a:arcTo hR="101600" wR="50800" stAng="16200000" swAng="-5400000"/>
                <a:lnTo>
                  <a:pt x="50800" y="2100461"/>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MESSAGE DE LA CTO</a:t>
            </a:r>
            <a:endParaRPr lang="en-US" sz="1200" dirty="0"/>
          </a:p>
        </p:txBody>
      </p:sp>
      <p:sp>
        <p:nvSpPr>
          <p:cNvPr id="7" name="Text 5"/>
          <p:cNvSpPr/>
          <p:nvPr/>
        </p:nvSpPr>
        <p:spPr>
          <a:xfrm>
            <a:off x="1168400" y="2626221"/>
            <a:ext cx="6226556" cy="1277541"/>
          </a:xfrm>
          <a:prstGeom prst="rect">
            <a:avLst/>
          </a:prstGeom>
          <a:noFill/>
          <a:ln/>
        </p:spPr>
        <p:txBody>
          <a:bodyPr wrap="square" lIns="0" tIns="0" rIns="0" bIns="0" rtlCol="0" anchor="t">
            <a:normAutofit/>
          </a:bodyPr>
          <a:lstStyle/>
          <a:p>
            <a:pPr algn="l" indent="0" marL="0">
              <a:lnSpc>
                <a:spcPts val="2465"/>
              </a:lnSpc>
              <a:buNone/>
            </a:pPr>
            <a:r>
              <a:rPr lang="en-US" sz="1700" i="1" dirty="0">
                <a:solidFill>
                  <a:srgbClr val="14213D"/>
                </a:solidFill>
                <a:latin typeface="IBM Plex Sans" pitchFamily="34" charset="0"/>
                <a:ea typeface="IBM Plex Sans" pitchFamily="34" charset="-122"/>
                <a:cs typeface="IBM Plex Sans" pitchFamily="34" charset="-120"/>
              </a:rPr>
              <a:t>« Notre dernière équipe a explosé en trois mois : réunions sans fin, personne ne savait qui décidait, deux personnes faisaient le même travail. Je veux que vous partiez sur de bonnes bases. »</a:t>
            </a:r>
            <a:endParaRPr lang="en-US" sz="1700" dirty="0"/>
          </a:p>
        </p:txBody>
      </p:sp>
      <p:sp>
        <p:nvSpPr>
          <p:cNvPr id="8" name="Shape 6"/>
          <p:cNvSpPr/>
          <p:nvPr/>
        </p:nvSpPr>
        <p:spPr>
          <a:xfrm>
            <a:off x="7823200" y="1981101"/>
            <a:ext cx="3556000" cy="2202061"/>
          </a:xfrm>
          <a:prstGeom prst="roundRect">
            <a:avLst>
              <a:gd name="adj" fmla="val 4614"/>
            </a:avLst>
          </a:prstGeom>
          <a:solidFill>
            <a:srgbClr val="14213D"/>
          </a:solidFill>
          <a:ln/>
        </p:spPr>
      </p:sp>
      <p:sp>
        <p:nvSpPr>
          <p:cNvPr id="9" name="Text 7"/>
          <p:cNvSpPr/>
          <p:nvPr/>
        </p:nvSpPr>
        <p:spPr>
          <a:xfrm>
            <a:off x="8128000" y="22859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Livrable</a:t>
            </a:r>
            <a:endParaRPr lang="en-US" sz="1600" dirty="0"/>
          </a:p>
        </p:txBody>
      </p:sp>
      <p:sp>
        <p:nvSpPr>
          <p:cNvPr id="10" name="Text 8"/>
          <p:cNvSpPr/>
          <p:nvPr/>
        </p:nvSpPr>
        <p:spPr>
          <a:xfrm>
            <a:off x="8128000" y="2656681"/>
            <a:ext cx="30347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La charte d'équipe de votre squad, une page.</a:t>
            </a:r>
            <a:endParaRPr lang="en-US" sz="1400" dirty="0"/>
          </a:p>
        </p:txBody>
      </p:sp>
      <p:sp>
        <p:nvSpPr>
          <p:cNvPr id="11" name="Text 9"/>
          <p:cNvSpPr/>
          <p:nvPr/>
        </p:nvSpPr>
        <p:spPr>
          <a:xfrm>
            <a:off x="8128000" y="3299222"/>
            <a:ext cx="3251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Elle sera reprise aux séances 6 et 9.</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55 MIN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Cartographier, diagnostiquer, s'engager</a:t>
            </a:r>
            <a:endParaRPr lang="en-US" sz="3200" dirty="0"/>
          </a:p>
        </p:txBody>
      </p:sp>
      <p:sp>
        <p:nvSpPr>
          <p:cNvPr id="4" name="Shape 2"/>
          <p:cNvSpPr/>
          <p:nvPr/>
        </p:nvSpPr>
        <p:spPr>
          <a:xfrm>
            <a:off x="812800" y="1879501"/>
            <a:ext cx="10566400" cy="756841"/>
          </a:xfrm>
          <a:prstGeom prst="roundRect">
            <a:avLst>
              <a:gd name="adj" fmla="val 13424"/>
            </a:avLst>
          </a:prstGeom>
          <a:solidFill>
            <a:srgbClr val="FDFDFB"/>
          </a:solidFill>
          <a:ln/>
        </p:spPr>
      </p:sp>
      <p:sp>
        <p:nvSpPr>
          <p:cNvPr id="5" name="Text 3"/>
          <p:cNvSpPr/>
          <p:nvPr/>
        </p:nvSpPr>
        <p:spPr>
          <a:xfrm>
            <a:off x="1066800" y="20827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6" name="Text 4"/>
          <p:cNvSpPr/>
          <p:nvPr/>
        </p:nvSpPr>
        <p:spPr>
          <a:xfrm>
            <a:off x="2222500" y="21335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Sur Miro, dessinez la carte des rôles d'une squad : qui échange avec qui, et sur quoi ?</a:t>
            </a:r>
            <a:endParaRPr lang="en-US" sz="1400" dirty="0"/>
          </a:p>
        </p:txBody>
      </p:sp>
      <p:sp>
        <p:nvSpPr>
          <p:cNvPr id="7" name="Shape 5"/>
          <p:cNvSpPr/>
          <p:nvPr/>
        </p:nvSpPr>
        <p:spPr>
          <a:xfrm>
            <a:off x="812800" y="2839541"/>
            <a:ext cx="10566400" cy="756841"/>
          </a:xfrm>
          <a:prstGeom prst="roundRect">
            <a:avLst>
              <a:gd name="adj" fmla="val 13424"/>
            </a:avLst>
          </a:prstGeom>
          <a:solidFill>
            <a:srgbClr val="FDFDFB"/>
          </a:solidFill>
          <a:ln/>
        </p:spPr>
      </p:sp>
      <p:sp>
        <p:nvSpPr>
          <p:cNvPr id="8" name="Text 6"/>
          <p:cNvSpPr/>
          <p:nvPr/>
        </p:nvSpPr>
        <p:spPr>
          <a:xfrm>
            <a:off x="1066800" y="304274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9" name="Text 7"/>
          <p:cNvSpPr/>
          <p:nvPr/>
        </p:nvSpPr>
        <p:spPr>
          <a:xfrm>
            <a:off x="2222500" y="309354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Pour chaque symptôme cité par la CTO : quelle cause probable ? Quel facteur d'Aristotle manquait ?</a:t>
            </a:r>
            <a:endParaRPr lang="en-US" sz="1400" dirty="0"/>
          </a:p>
        </p:txBody>
      </p:sp>
      <p:sp>
        <p:nvSpPr>
          <p:cNvPr id="10" name="Shape 8"/>
          <p:cNvSpPr/>
          <p:nvPr/>
        </p:nvSpPr>
        <p:spPr>
          <a:xfrm>
            <a:off x="812800" y="3799582"/>
            <a:ext cx="10566400" cy="904081"/>
          </a:xfrm>
          <a:prstGeom prst="roundRect">
            <a:avLst>
              <a:gd name="adj" fmla="val 11238"/>
            </a:avLst>
          </a:prstGeom>
          <a:solidFill>
            <a:srgbClr val="FDFDFB"/>
          </a:solidFill>
          <a:ln/>
        </p:spPr>
      </p:sp>
      <p:sp>
        <p:nvSpPr>
          <p:cNvPr id="11" name="Text 9"/>
          <p:cNvSpPr/>
          <p:nvPr/>
        </p:nvSpPr>
        <p:spPr>
          <a:xfrm>
            <a:off x="1066800" y="407640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25 min</a:t>
            </a:r>
            <a:endParaRPr lang="en-US" sz="1400" dirty="0"/>
          </a:p>
        </p:txBody>
      </p:sp>
      <p:sp>
        <p:nvSpPr>
          <p:cNvPr id="12" name="Text 10"/>
          <p:cNvSpPr/>
          <p:nvPr/>
        </p:nvSpPr>
        <p:spPr>
          <a:xfrm>
            <a:off x="2222500" y="4002782"/>
            <a:ext cx="916978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Rédigez la charte : mission, rôles tournants, délai de réponse, prise de décision, signalement d'un problème, que faire si quelqu'un ne participe pas.</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Une charte utile est concrète</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Quelle règle de votre charte peut-on vérifier dans un mois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Quelle règle d'un autre groupe adopteriez-vous ? (vote)</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 ferez-vous la première fois qu'elle n'est pas respectée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Pour la prochaine fois :</a:t>
            </a:r>
            <a:r>
              <a:rPr lang="en-US" sz="1500" dirty="0">
                <a:solidFill>
                  <a:srgbClr val="14213D"/>
                </a:solidFill>
                <a:latin typeface="IBM Plex Sans" pitchFamily="34" charset="0"/>
                <a:ea typeface="IBM Plex Sans" pitchFamily="34" charset="-122"/>
                <a:cs typeface="IBM Plex Sans" pitchFamily="34" charset="-120"/>
              </a:rPr>
              <a:t> lire le Manifeste Agile (5 min) et rejoindre l'espace Slack/Teams de la classe.</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2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Communiquer efficacement</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Choisir le bon canal et écrire des messages compris du premier coup, y compris sous pression.</a:t>
            </a:r>
            <a:endParaRPr lang="en-US" sz="1600" dirty="0"/>
          </a:p>
        </p:txBody>
      </p:sp>
      <p:sp>
        <p:nvSpPr>
          <p:cNvPr id="5" name="Shape 3"/>
          <p:cNvSpPr/>
          <p:nvPr/>
        </p:nvSpPr>
        <p:spPr>
          <a:xfrm>
            <a:off x="6807200" y="1902619"/>
            <a:ext cx="4572000" cy="2849463"/>
          </a:xfrm>
          <a:prstGeom prst="roundRect">
            <a:avLst>
              <a:gd name="adj" fmla="val 3566"/>
            </a:avLst>
          </a:prstGeom>
          <a:solidFill>
            <a:srgbClr val="1E2D4F"/>
          </a:solidFill>
          <a:ln/>
        </p:spPr>
      </p:sp>
      <p:sp>
        <p:nvSpPr>
          <p:cNvPr id="6" name="Text 4"/>
          <p:cNvSpPr/>
          <p:nvPr/>
        </p:nvSpPr>
        <p:spPr>
          <a:xfrm>
            <a:off x="7112000" y="220741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603599"/>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0:00–0:10</a:t>
            </a:r>
            <a:endParaRPr lang="en-US" sz="1300" dirty="0"/>
          </a:p>
        </p:txBody>
      </p:sp>
      <p:sp>
        <p:nvSpPr>
          <p:cNvPr id="8" name="Text 6"/>
          <p:cNvSpPr/>
          <p:nvPr/>
        </p:nvSpPr>
        <p:spPr>
          <a:xfrm>
            <a:off x="8407400" y="2603599"/>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Jeu du « téléphone technique »</a:t>
            </a:r>
            <a:endParaRPr lang="en-US" sz="1300" dirty="0"/>
          </a:p>
        </p:txBody>
      </p:sp>
      <p:sp>
        <p:nvSpPr>
          <p:cNvPr id="9" name="Text 7"/>
          <p:cNvSpPr/>
          <p:nvPr/>
        </p:nvSpPr>
        <p:spPr>
          <a:xfrm>
            <a:off x="7112000" y="2987080"/>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0:10–0:40</a:t>
            </a:r>
            <a:endParaRPr lang="en-US" sz="1300" dirty="0"/>
          </a:p>
        </p:txBody>
      </p:sp>
      <p:sp>
        <p:nvSpPr>
          <p:cNvPr id="10" name="Text 8"/>
          <p:cNvSpPr/>
          <p:nvPr/>
        </p:nvSpPr>
        <p:spPr>
          <a:xfrm>
            <a:off x="8407400" y="2987080"/>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canaux, message clair, réunion utile, Slack/Teams</a:t>
            </a:r>
            <a:endParaRPr lang="en-US" sz="1300" dirty="0"/>
          </a:p>
        </p:txBody>
      </p:sp>
      <p:sp>
        <p:nvSpPr>
          <p:cNvPr id="11" name="Text 9"/>
          <p:cNvSpPr/>
          <p:nvPr/>
        </p:nvSpPr>
        <p:spPr>
          <a:xfrm>
            <a:off x="7112000" y="3601641"/>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0:40–1:40</a:t>
            </a:r>
            <a:endParaRPr lang="en-US" sz="1300" dirty="0"/>
          </a:p>
        </p:txBody>
      </p:sp>
      <p:sp>
        <p:nvSpPr>
          <p:cNvPr id="12" name="Text 10"/>
          <p:cNvSpPr/>
          <p:nvPr/>
        </p:nvSpPr>
        <p:spPr>
          <a:xfrm>
            <a:off x="8407400" y="3601641"/>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Étude de cas : gestion d'incident par écrit</a:t>
            </a:r>
            <a:endParaRPr lang="en-US" sz="1300" dirty="0"/>
          </a:p>
        </p:txBody>
      </p:sp>
      <p:sp>
        <p:nvSpPr>
          <p:cNvPr id="13" name="Text 11"/>
          <p:cNvSpPr/>
          <p:nvPr/>
        </p:nvSpPr>
        <p:spPr>
          <a:xfrm>
            <a:off x="7112000" y="4216202"/>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1:40–2:00</a:t>
            </a:r>
            <a:endParaRPr lang="en-US" sz="1300" dirty="0"/>
          </a:p>
        </p:txBody>
      </p:sp>
      <p:sp>
        <p:nvSpPr>
          <p:cNvPr id="14" name="Text 12"/>
          <p:cNvSpPr/>
          <p:nvPr/>
        </p:nvSpPr>
        <p:spPr>
          <a:xfrm>
            <a:off x="8407400" y="4216202"/>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Restitution et débrief</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CHOISIR LE CANAL</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bon canal pour le bon message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155627"/>
        </p:xfrm>
        <a:graphic>
          <a:graphicData uri="http://schemas.openxmlformats.org/drawingml/2006/table">
            <a:tbl>
              <a:tblPr/>
              <a:tblGrid>
                <a:gridCol w="3377184"/>
                <a:gridCol w="3799332"/>
                <a:gridCol w="3377184"/>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Besoin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Canal adapté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À éviter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Question rapide à l'équipe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Canal d'équipe, dans un fil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Message privé à 5 personnes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Demande de travail, bug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Ticket Jira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 Tu peux regarder ? » en privé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Décision, info durable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Page Confluence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Message perdu dans le flux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Incident en production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Canal « incident » + appel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E-mail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Sujet sensible, désaccord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Discussion orale en tête-à-tête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Message public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251027"/>
            <a:ext cx="10566400" cy="655241"/>
          </a:xfrm>
          <a:prstGeom prst="roundRect">
            <a:avLst>
              <a:gd name="adj" fmla="val 15506"/>
            </a:avLst>
          </a:prstGeom>
          <a:solidFill>
            <a:srgbClr val="E9EDF3"/>
          </a:solidFill>
          <a:ln/>
        </p:spPr>
        <p:txBody>
          <a:bodyPr wrap="square" lIns="224242" tIns="173442" rIns="0" bIns="148042"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Règle des 3 allers-retours :</a:t>
            </a:r>
            <a:r>
              <a:rPr lang="en-US" sz="1400" dirty="0">
                <a:solidFill>
                  <a:srgbClr val="3D4A5C"/>
                </a:solidFill>
                <a:latin typeface="IBM Plex Sans" pitchFamily="34" charset="0"/>
                <a:ea typeface="IBM Plex Sans" pitchFamily="34" charset="-122"/>
                <a:cs typeface="IBM Plex Sans" pitchFamily="34" charset="-120"/>
              </a:rPr>
              <a:t> au-delà de 3 échanges écrits, on passe en appel… puis on écrit la conclusion.</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ÉCRIRE ET SE RÉUNIR</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L'essentiel dans la première phrase</a:t>
            </a:r>
            <a:endParaRPr lang="en-US" sz="3200" dirty="0"/>
          </a:p>
        </p:txBody>
      </p:sp>
      <p:sp>
        <p:nvSpPr>
          <p:cNvPr id="4" name="Shape 2"/>
          <p:cNvSpPr/>
          <p:nvPr/>
        </p:nvSpPr>
        <p:spPr>
          <a:xfrm>
            <a:off x="815975" y="1984276"/>
            <a:ext cx="5175250" cy="2345234"/>
          </a:xfrm>
          <a:prstGeom prst="roundRect">
            <a:avLst>
              <a:gd name="adj" fmla="val 4197"/>
            </a:avLst>
          </a:prstGeom>
          <a:solidFill>
            <a:srgbClr val="FDFDFB"/>
          </a:solidFill>
          <a:ln w="6350">
            <a:solidFill>
              <a:srgbClr val="DCE1E8"/>
            </a:solidFill>
            <a:prstDash val="solid"/>
          </a:ln>
        </p:spPr>
      </p:sp>
      <p:sp>
        <p:nvSpPr>
          <p:cNvPr id="5" name="Text 3"/>
          <p:cNvSpPr/>
          <p:nvPr/>
        </p:nvSpPr>
        <p:spPr>
          <a:xfrm>
            <a:off x="1073150" y="224145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Un message clair</a:t>
            </a:r>
            <a:endParaRPr lang="en-US" sz="1600" dirty="0"/>
          </a:p>
        </p:txBody>
      </p:sp>
      <p:sp>
        <p:nvSpPr>
          <p:cNvPr id="6" name="Text 4"/>
          <p:cNvSpPr/>
          <p:nvPr/>
        </p:nvSpPr>
        <p:spPr>
          <a:xfrm>
            <a:off x="1144091" y="2586831"/>
            <a:ext cx="4722166" cy="982662"/>
          </a:xfrm>
          <a:prstGeom prst="rect">
            <a:avLst/>
          </a:prstGeom>
          <a:noFill/>
          <a:ln/>
        </p:spPr>
        <p:txBody>
          <a:bodyPr wrap="square" lIns="0" tIns="0" rIns="0" bIns="0" rtlCol="0" anchor="t">
            <a:normAutofit/>
          </a:bodyPr>
          <a:lstStyle/>
          <a:p>
            <a:pPr algn="l" marL="183059" indent="-183059">
              <a:lnSpc>
                <a:spcPts val="1885"/>
              </a:lnSpc>
              <a:buSzPct val="100000"/>
              <a:buFontTx/>
              <a:buAutoNum type="arabicPeriod" startAt="1"/>
            </a:pPr>
            <a:r>
              <a:rPr lang="en-US" sz="1300" dirty="0">
                <a:solidFill>
                  <a:srgbClr val="3D4A5C"/>
                </a:solidFill>
                <a:latin typeface="IBM Plex Sans" pitchFamily="34" charset="0"/>
                <a:ea typeface="IBM Plex Sans" pitchFamily="34" charset="-122"/>
                <a:cs typeface="IBM Plex Sans" pitchFamily="34" charset="-120"/>
              </a:rPr>
              <a:t>Contexte</a:t>
            </a:r>
            <a:endParaRPr lang="en-US" sz="1300" dirty="0"/>
          </a:p>
          <a:p>
            <a:pPr algn="l" marL="183059" indent="-183059">
              <a:lnSpc>
                <a:spcPts val="1885"/>
              </a:lnSpc>
              <a:buSzPct val="100000"/>
              <a:buFontTx/>
              <a:buAutoNum type="arabicPeriod" startAt="1"/>
            </a:pPr>
            <a:r>
              <a:rPr lang="en-US" sz="1300" dirty="0">
                <a:solidFill>
                  <a:srgbClr val="3D4A5C"/>
                </a:solidFill>
                <a:latin typeface="IBM Plex Sans" pitchFamily="34" charset="0"/>
                <a:ea typeface="IBM Plex Sans" pitchFamily="34" charset="-122"/>
                <a:cs typeface="IBM Plex Sans" pitchFamily="34" charset="-120"/>
              </a:rPr>
              <a:t>Demande précise</a:t>
            </a:r>
            <a:endParaRPr lang="en-US" sz="1300" dirty="0"/>
          </a:p>
          <a:p>
            <a:pPr algn="l" marL="183059" indent="-183059">
              <a:lnSpc>
                <a:spcPts val="1885"/>
              </a:lnSpc>
              <a:buSzPct val="100000"/>
              <a:buFontTx/>
              <a:buAutoNum type="arabicPeriod" startAt="1"/>
            </a:pPr>
            <a:r>
              <a:rPr lang="en-US" sz="1300" dirty="0">
                <a:solidFill>
                  <a:srgbClr val="3D4A5C"/>
                </a:solidFill>
                <a:latin typeface="IBM Plex Sans" pitchFamily="34" charset="0"/>
                <a:ea typeface="IBM Plex Sans" pitchFamily="34" charset="-122"/>
                <a:cs typeface="IBM Plex Sans" pitchFamily="34" charset="-120"/>
              </a:rPr>
              <a:t>Échéance</a:t>
            </a:r>
            <a:endParaRPr lang="en-US" sz="1300" dirty="0"/>
          </a:p>
          <a:p>
            <a:pPr algn="l" marL="183059" indent="-183059">
              <a:lnSpc>
                <a:spcPts val="1885"/>
              </a:lnSpc>
              <a:buSzPct val="100000"/>
              <a:buFontTx/>
              <a:buAutoNum type="arabicPeriod" startAt="1"/>
            </a:pPr>
            <a:r>
              <a:rPr lang="en-US" sz="1300" dirty="0">
                <a:solidFill>
                  <a:srgbClr val="3D4A5C"/>
                </a:solidFill>
                <a:latin typeface="IBM Plex Sans" pitchFamily="34" charset="0"/>
                <a:ea typeface="IBM Plex Sans" pitchFamily="34" charset="-122"/>
                <a:cs typeface="IBM Plex Sans" pitchFamily="34" charset="-120"/>
              </a:rPr>
              <a:t>Ce que j'ai déjà essayé</a:t>
            </a:r>
            <a:endParaRPr lang="en-US" sz="1300" dirty="0"/>
          </a:p>
        </p:txBody>
      </p:sp>
      <p:sp>
        <p:nvSpPr>
          <p:cNvPr id="7" name="Text 5"/>
          <p:cNvSpPr/>
          <p:nvPr/>
        </p:nvSpPr>
        <p:spPr>
          <a:xfrm>
            <a:off x="1073150" y="3645694"/>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Principe BLUF (</a:t>
            </a:r>
            <a:r>
              <a:rPr lang="en-US" sz="1200" i="1" dirty="0">
                <a:solidFill>
                  <a:srgbClr val="3D4A5C"/>
                </a:solidFill>
                <a:latin typeface="IBM Plex Sans" pitchFamily="34" charset="0"/>
                <a:ea typeface="IBM Plex Sans" pitchFamily="34" charset="-122"/>
                <a:cs typeface="IBM Plex Sans" pitchFamily="34" charset="-120"/>
              </a:rPr>
              <a:t>Bottom Line Up Front</a:t>
            </a:r>
            <a:r>
              <a:rPr lang="en-US" sz="1200" dirty="0">
                <a:solidFill>
                  <a:srgbClr val="3D4A5C"/>
                </a:solidFill>
                <a:latin typeface="IBM Plex Sans" pitchFamily="34" charset="0"/>
                <a:ea typeface="IBM Plex Sans" pitchFamily="34" charset="-122"/>
                <a:cs typeface="IBM Plex Sans" pitchFamily="34" charset="-120"/>
              </a:rPr>
              <a:t>). Du code dans un bloc de code, pas en capture d'écran.</a:t>
            </a:r>
            <a:endParaRPr lang="en-US" sz="1200" dirty="0"/>
          </a:p>
        </p:txBody>
      </p:sp>
      <p:sp>
        <p:nvSpPr>
          <p:cNvPr id="8" name="Shape 6"/>
          <p:cNvSpPr/>
          <p:nvPr/>
        </p:nvSpPr>
        <p:spPr>
          <a:xfrm>
            <a:off x="6200775" y="1984276"/>
            <a:ext cx="5175250" cy="2345234"/>
          </a:xfrm>
          <a:prstGeom prst="roundRect">
            <a:avLst>
              <a:gd name="adj" fmla="val 4197"/>
            </a:avLst>
          </a:prstGeom>
          <a:solidFill>
            <a:srgbClr val="FDFDFB"/>
          </a:solidFill>
          <a:ln w="6350">
            <a:solidFill>
              <a:srgbClr val="DCE1E8"/>
            </a:solidFill>
            <a:prstDash val="solid"/>
          </a:ln>
        </p:spPr>
      </p:sp>
      <p:sp>
        <p:nvSpPr>
          <p:cNvPr id="9" name="Text 7"/>
          <p:cNvSpPr/>
          <p:nvPr/>
        </p:nvSpPr>
        <p:spPr>
          <a:xfrm>
            <a:off x="6457950" y="224145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Une réunion utile</a:t>
            </a:r>
            <a:endParaRPr lang="en-US" sz="1600" dirty="0"/>
          </a:p>
        </p:txBody>
      </p:sp>
      <p:sp>
        <p:nvSpPr>
          <p:cNvPr id="10" name="Text 8"/>
          <p:cNvSpPr/>
          <p:nvPr/>
        </p:nvSpPr>
        <p:spPr>
          <a:xfrm>
            <a:off x="6543294" y="2586831"/>
            <a:ext cx="4707763" cy="982662"/>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Un objectif écrit</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Un ordre du jour envoyé avant</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Un animateur et un gardien du temps</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Un compte-rendu : décisions et actions (qui, quoi, quand)</a:t>
            </a:r>
            <a:endParaRPr lang="en-US" sz="1300" dirty="0"/>
          </a:p>
        </p:txBody>
      </p:sp>
      <p:sp>
        <p:nvSpPr>
          <p:cNvPr id="11" name="Text 9"/>
          <p:cNvSpPr/>
          <p:nvPr/>
        </p:nvSpPr>
        <p:spPr>
          <a:xfrm>
            <a:off x="812800" y="4586684"/>
            <a:ext cx="10883392"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Sur Slack/Teams :</a:t>
            </a:r>
            <a:r>
              <a:rPr lang="en-US" sz="1300" dirty="0">
                <a:solidFill>
                  <a:srgbClr val="3D4A5C"/>
                </a:solidFill>
                <a:latin typeface="IBM Plex Sans" pitchFamily="34" charset="0"/>
                <a:ea typeface="IBM Plex Sans" pitchFamily="34" charset="-122"/>
                <a:cs typeface="IBM Plex Sans" pitchFamily="34" charset="-120"/>
              </a:rPr>
              <a:t> répondre dans les fils, mentions avec parcimonie, réaction emoji comme accusé de lecture, canaux nommés (#squad-alpha, #incident-prod).</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EN GROUPE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bug du vendredi soir</a:t>
            </a:r>
            <a:endParaRPr lang="en-US" sz="3200" dirty="0"/>
          </a:p>
        </p:txBody>
      </p:sp>
      <p:sp>
        <p:nvSpPr>
          <p:cNvPr id="4" name="Shape 2"/>
          <p:cNvSpPr/>
          <p:nvPr/>
        </p:nvSpPr>
        <p:spPr>
          <a:xfrm>
            <a:off x="812800" y="1981101"/>
            <a:ext cx="6705600" cy="2523232"/>
          </a:xfrm>
          <a:prstGeom prst="roundRect">
            <a:avLst>
              <a:gd name="adj" fmla="val 4027"/>
            </a:avLst>
          </a:prstGeom>
          <a:solidFill>
            <a:srgbClr val="FDFDFB"/>
          </a:solidFill>
          <a:ln/>
        </p:spPr>
      </p:sp>
      <p:sp>
        <p:nvSpPr>
          <p:cNvPr id="5" name="Shape 3"/>
          <p:cNvSpPr/>
          <p:nvPr/>
        </p:nvSpPr>
        <p:spPr>
          <a:xfrm>
            <a:off x="812800" y="1981101"/>
            <a:ext cx="6705600" cy="2523232"/>
          </a:xfrm>
          <a:custGeom>
            <a:avLst/>
            <a:gdLst/>
            <a:ahLst/>
            <a:cxnLst/>
            <a:rect l="l" t="t" r="r" b="b"/>
            <a:pathLst>
              <a:path w="6705600" h="2523232">
                <a:moveTo>
                  <a:pt x="101600" y="2523232"/>
                </a:moveTo>
                <a:lnTo>
                  <a:pt x="101600" y="2523232"/>
                </a:lnTo>
                <a:arcTo hR="101600" wR="101600" stAng="5400000" swAng="5400000"/>
                <a:lnTo>
                  <a:pt x="0" y="101600"/>
                </a:lnTo>
                <a:arcTo hR="101600" wR="101600" stAng="10800000" swAng="5400000"/>
                <a:lnTo>
                  <a:pt x="101600" y="0"/>
                </a:lnTo>
                <a:arcTo hR="101600" wR="50800" stAng="16200000" swAng="-5400000"/>
                <a:lnTo>
                  <a:pt x="50800" y="2421632"/>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VENDREDI, 18 H 10</a:t>
            </a:r>
            <a:endParaRPr lang="en-US" sz="1200" dirty="0"/>
          </a:p>
        </p:txBody>
      </p:sp>
      <p:sp>
        <p:nvSpPr>
          <p:cNvPr id="7" name="Text 5"/>
          <p:cNvSpPr/>
          <p:nvPr/>
        </p:nvSpPr>
        <p:spPr>
          <a:xfrm>
            <a:off x="1168400" y="2626221"/>
            <a:ext cx="622655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L'application n'affiche plus les événements sur Android. Un BDE organise une soirée à 21 h avec 600 inscrits, et l'inscription passe par l'appli.</a:t>
            </a:r>
            <a:endParaRPr lang="en-US" sz="1500" dirty="0"/>
          </a:p>
        </p:txBody>
      </p:sp>
      <p:sp>
        <p:nvSpPr>
          <p:cNvPr id="8" name="Text 6"/>
          <p:cNvSpPr/>
          <p:nvPr/>
        </p:nvSpPr>
        <p:spPr>
          <a:xfrm>
            <a:off x="1168400" y="3581896"/>
            <a:ext cx="622655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Le PO est dans le train, le Tech Lead en congé, la développeuse Android ne répond pas.</a:t>
            </a:r>
            <a:endParaRPr lang="en-US" sz="1500" dirty="0"/>
          </a:p>
        </p:txBody>
      </p:sp>
      <p:sp>
        <p:nvSpPr>
          <p:cNvPr id="9" name="Shape 7"/>
          <p:cNvSpPr/>
          <p:nvPr/>
        </p:nvSpPr>
        <p:spPr>
          <a:xfrm>
            <a:off x="7823200" y="1981101"/>
            <a:ext cx="3556000" cy="2523232"/>
          </a:xfrm>
          <a:prstGeom prst="roundRect">
            <a:avLst>
              <a:gd name="adj" fmla="val 4027"/>
            </a:avLst>
          </a:prstGeom>
          <a:solidFill>
            <a:srgbClr val="14213D"/>
          </a:solidFill>
          <a:ln/>
        </p:spPr>
      </p:sp>
      <p:sp>
        <p:nvSpPr>
          <p:cNvPr id="10" name="Text 8"/>
          <p:cNvSpPr/>
          <p:nvPr/>
        </p:nvSpPr>
        <p:spPr>
          <a:xfrm>
            <a:off x="8128000" y="22859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Règle du jeu</a:t>
            </a:r>
            <a:endParaRPr lang="en-US" sz="1600" dirty="0"/>
          </a:p>
        </p:txBody>
      </p:sp>
      <p:sp>
        <p:nvSpPr>
          <p:cNvPr id="11" name="Text 9"/>
          <p:cNvSpPr/>
          <p:nvPr/>
        </p:nvSpPr>
        <p:spPr>
          <a:xfrm>
            <a:off x="8128000" y="2656681"/>
            <a:ext cx="30347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Tout se passe </a:t>
            </a:r>
            <a:r>
              <a:rPr lang="en-US" sz="1400" b="1" dirty="0">
                <a:solidFill>
                  <a:srgbClr val="E4E9F1"/>
                </a:solidFill>
                <a:latin typeface="IBM Plex Sans" pitchFamily="34" charset="0"/>
                <a:ea typeface="IBM Plex Sans" pitchFamily="34" charset="-122"/>
                <a:cs typeface="IBM Plex Sans" pitchFamily="34" charset="-120"/>
              </a:rPr>
              <a:t>par écrit</a:t>
            </a:r>
            <a:r>
              <a:rPr lang="en-US" sz="1400" dirty="0">
                <a:solidFill>
                  <a:srgbClr val="E4E9F1"/>
                </a:solidFill>
                <a:latin typeface="IBM Plex Sans" pitchFamily="34" charset="0"/>
                <a:ea typeface="IBM Plex Sans" pitchFamily="34" charset="-122"/>
                <a:cs typeface="IBM Plex Sans" pitchFamily="34" charset="-120"/>
              </a:rPr>
              <a:t>, dans le canal de votre groupe.</a:t>
            </a:r>
            <a:endParaRPr lang="en-US" sz="1400" dirty="0"/>
          </a:p>
        </p:txBody>
      </p:sp>
      <p:sp>
        <p:nvSpPr>
          <p:cNvPr id="12" name="Text 10"/>
          <p:cNvSpPr/>
          <p:nvPr/>
        </p:nvSpPr>
        <p:spPr>
          <a:xfrm>
            <a:off x="8128000" y="3299222"/>
            <a:ext cx="30347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Chacun a une fiche rôle secrète.</a:t>
            </a:r>
            <a:endParaRPr lang="en-US" sz="1400" dirty="0"/>
          </a:p>
        </p:txBody>
      </p:sp>
      <p:sp>
        <p:nvSpPr>
          <p:cNvPr id="13" name="Text 11"/>
          <p:cNvSpPr/>
          <p:nvPr/>
        </p:nvSpPr>
        <p:spPr>
          <a:xfrm>
            <a:off x="8128000" y="3683992"/>
            <a:ext cx="30347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Des événements arrivent toutes les 10 min.</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60 MIN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Gérer la crise, puis en tirer les leçons</a:t>
            </a:r>
            <a:endParaRPr lang="en-US" sz="3200" dirty="0"/>
          </a:p>
        </p:txBody>
      </p:sp>
      <p:sp>
        <p:nvSpPr>
          <p:cNvPr id="4" name="Shape 2"/>
          <p:cNvSpPr/>
          <p:nvPr/>
        </p:nvSpPr>
        <p:spPr>
          <a:xfrm>
            <a:off x="812800" y="1879501"/>
            <a:ext cx="10566400" cy="756841"/>
          </a:xfrm>
          <a:prstGeom prst="roundRect">
            <a:avLst>
              <a:gd name="adj" fmla="val 13424"/>
            </a:avLst>
          </a:prstGeom>
          <a:solidFill>
            <a:srgbClr val="FDFDFB"/>
          </a:solidFill>
          <a:ln/>
        </p:spPr>
      </p:sp>
      <p:sp>
        <p:nvSpPr>
          <p:cNvPr id="5" name="Text 3"/>
          <p:cNvSpPr/>
          <p:nvPr/>
        </p:nvSpPr>
        <p:spPr>
          <a:xfrm>
            <a:off x="1066800" y="20827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35 min</a:t>
            </a:r>
            <a:endParaRPr lang="en-US" sz="1400" dirty="0"/>
          </a:p>
        </p:txBody>
      </p:sp>
      <p:sp>
        <p:nvSpPr>
          <p:cNvPr id="6" name="Text 4"/>
          <p:cNvSpPr/>
          <p:nvPr/>
        </p:nvSpPr>
        <p:spPr>
          <a:xfrm>
            <a:off x="2222500" y="21335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Gérez l'incident uniquement par écrit dans votre canal Slack/Teams.</a:t>
            </a:r>
            <a:endParaRPr lang="en-US" sz="1400" dirty="0"/>
          </a:p>
        </p:txBody>
      </p:sp>
      <p:sp>
        <p:nvSpPr>
          <p:cNvPr id="7" name="Shape 5"/>
          <p:cNvSpPr/>
          <p:nvPr/>
        </p:nvSpPr>
        <p:spPr>
          <a:xfrm>
            <a:off x="812800" y="2839541"/>
            <a:ext cx="10566400" cy="904081"/>
          </a:xfrm>
          <a:prstGeom prst="roundRect">
            <a:avLst>
              <a:gd name="adj" fmla="val 11238"/>
            </a:avLst>
          </a:prstGeom>
          <a:solidFill>
            <a:srgbClr val="FDFDFB"/>
          </a:solidFill>
          <a:ln/>
        </p:spPr>
      </p:sp>
      <p:sp>
        <p:nvSpPr>
          <p:cNvPr id="8" name="Text 6"/>
          <p:cNvSpPr/>
          <p:nvPr/>
        </p:nvSpPr>
        <p:spPr>
          <a:xfrm>
            <a:off x="1066800" y="311636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9" name="Text 7"/>
          <p:cNvSpPr/>
          <p:nvPr/>
        </p:nvSpPr>
        <p:spPr>
          <a:xfrm>
            <a:off x="2222500" y="3042741"/>
            <a:ext cx="916978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Rédigez le message de synthèse de lundi pour toute l'entreprise : faits, impact, actions, prochaines étapes. 15 lignes maximum.</a:t>
            </a:r>
            <a:endParaRPr lang="en-US" sz="1400" dirty="0"/>
          </a:p>
        </p:txBody>
      </p:sp>
      <p:sp>
        <p:nvSpPr>
          <p:cNvPr id="10" name="Shape 8"/>
          <p:cNvSpPr/>
          <p:nvPr/>
        </p:nvSpPr>
        <p:spPr>
          <a:xfrm>
            <a:off x="812800" y="3946823"/>
            <a:ext cx="10566400" cy="756841"/>
          </a:xfrm>
          <a:prstGeom prst="roundRect">
            <a:avLst>
              <a:gd name="adj" fmla="val 13424"/>
            </a:avLst>
          </a:prstGeom>
          <a:solidFill>
            <a:srgbClr val="FDFDFB"/>
          </a:solidFill>
          <a:ln/>
        </p:spPr>
      </p:sp>
      <p:sp>
        <p:nvSpPr>
          <p:cNvPr id="11" name="Text 9"/>
          <p:cNvSpPr/>
          <p:nvPr/>
        </p:nvSpPr>
        <p:spPr>
          <a:xfrm>
            <a:off x="1066800" y="4150023"/>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10 min</a:t>
            </a:r>
            <a:endParaRPr lang="en-US" sz="1400" dirty="0"/>
          </a:p>
        </p:txBody>
      </p:sp>
      <p:sp>
        <p:nvSpPr>
          <p:cNvPr id="12" name="Text 10"/>
          <p:cNvSpPr/>
          <p:nvPr/>
        </p:nvSpPr>
        <p:spPr>
          <a:xfrm>
            <a:off x="2222500" y="4200823"/>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Relisez votre fil : trouvez 3 messages qui ont fait perdre du temps et réécrivez-les.</a:t>
            </a:r>
            <a:endParaRPr lang="en-US" sz="1400" dirty="0"/>
          </a:p>
        </p:txBody>
      </p:sp>
      <p:sp>
        <p:nvSpPr>
          <p:cNvPr id="13" name="Text 11"/>
          <p:cNvSpPr/>
          <p:nvPr/>
        </p:nvSpPr>
        <p:spPr>
          <a:xfrm>
            <a:off x="812800" y="490686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Livrable :</a:t>
            </a:r>
            <a:r>
              <a:rPr lang="en-US" sz="1300" dirty="0">
                <a:solidFill>
                  <a:srgbClr val="3D4A5C"/>
                </a:solidFill>
                <a:latin typeface="IBM Plex Sans" pitchFamily="34" charset="0"/>
                <a:ea typeface="IBM Plex Sans" pitchFamily="34" charset="-122"/>
                <a:cs typeface="IBM Plex Sans" pitchFamily="34" charset="-120"/>
              </a:rPr>
              <a:t> export du fil + message de synthèse + 3 messages réécrits.</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En crise, quelqu'un doit résumer</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Qui a joué le rôle de coordinateur ? Était-ce décidé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Combien de temps avant le premier résumé de la situation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Quelles informations sont restées en messages privés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Pour la prochaine fois :</a:t>
            </a:r>
            <a:r>
              <a:rPr lang="en-US" sz="1500" dirty="0">
                <a:solidFill>
                  <a:srgbClr val="14213D"/>
                </a:solidFill>
                <a:latin typeface="IBM Plex Sans" pitchFamily="34" charset="0"/>
                <a:ea typeface="IBM Plex Sans" pitchFamily="34" charset="-122"/>
                <a:cs typeface="IBM Plex Sans" pitchFamily="34" charset="-120"/>
              </a:rPr>
              <a:t> relire les 4 valeurs du Manifeste Agile.</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3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Comprendre l'Agilité et Scrum</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Comprendre pourquoi l'Agilité est née et vivre un cycle Scrum complet, avant tout outil.</a:t>
            </a:r>
            <a:endParaRPr lang="en-US" sz="1600" dirty="0"/>
          </a:p>
        </p:txBody>
      </p:sp>
      <p:sp>
        <p:nvSpPr>
          <p:cNvPr id="5" name="Shape 3"/>
          <p:cNvSpPr/>
          <p:nvPr/>
        </p:nvSpPr>
        <p:spPr>
          <a:xfrm>
            <a:off x="6807200" y="2018209"/>
            <a:ext cx="4572000" cy="2618383"/>
          </a:xfrm>
          <a:prstGeom prst="roundRect">
            <a:avLst>
              <a:gd name="adj" fmla="val 3880"/>
            </a:avLst>
          </a:prstGeom>
          <a:solidFill>
            <a:srgbClr val="1E2D4F"/>
          </a:solidFill>
          <a:ln/>
        </p:spPr>
      </p:sp>
      <p:sp>
        <p:nvSpPr>
          <p:cNvPr id="6" name="Text 4"/>
          <p:cNvSpPr/>
          <p:nvPr/>
        </p:nvSpPr>
        <p:spPr>
          <a:xfrm>
            <a:off x="7112000" y="232300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719189"/>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0:00–0:35</a:t>
            </a:r>
            <a:endParaRPr lang="en-US" sz="1300" dirty="0"/>
          </a:p>
        </p:txBody>
      </p:sp>
      <p:sp>
        <p:nvSpPr>
          <p:cNvPr id="8" name="Text 6"/>
          <p:cNvSpPr/>
          <p:nvPr/>
        </p:nvSpPr>
        <p:spPr>
          <a:xfrm>
            <a:off x="8407400" y="2719189"/>
            <a:ext cx="29718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cycle en V, Manifeste, Scrum</a:t>
            </a:r>
            <a:endParaRPr lang="en-US" sz="1300" dirty="0"/>
          </a:p>
        </p:txBody>
      </p:sp>
      <p:sp>
        <p:nvSpPr>
          <p:cNvPr id="9" name="Text 7"/>
          <p:cNvSpPr/>
          <p:nvPr/>
        </p:nvSpPr>
        <p:spPr>
          <a:xfrm>
            <a:off x="7112000" y="310267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0:35–0:55</a:t>
            </a:r>
            <a:endParaRPr lang="en-US" sz="1300" dirty="0"/>
          </a:p>
        </p:txBody>
      </p:sp>
      <p:sp>
        <p:nvSpPr>
          <p:cNvPr id="10" name="Text 8"/>
          <p:cNvSpPr/>
          <p:nvPr/>
        </p:nvSpPr>
        <p:spPr>
          <a:xfrm>
            <a:off x="8407400" y="310267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Cas A : le projet en V qui dérape</a:t>
            </a:r>
            <a:endParaRPr lang="en-US" sz="1300" dirty="0"/>
          </a:p>
        </p:txBody>
      </p:sp>
      <p:sp>
        <p:nvSpPr>
          <p:cNvPr id="11" name="Text 9"/>
          <p:cNvSpPr/>
          <p:nvPr/>
        </p:nvSpPr>
        <p:spPr>
          <a:xfrm>
            <a:off x="7112000" y="3486150"/>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0:55–1:45</a:t>
            </a:r>
            <a:endParaRPr lang="en-US" sz="1300" dirty="0"/>
          </a:p>
        </p:txBody>
      </p:sp>
      <p:sp>
        <p:nvSpPr>
          <p:cNvPr id="12" name="Text 10"/>
          <p:cNvSpPr/>
          <p:nvPr/>
        </p:nvSpPr>
        <p:spPr>
          <a:xfrm>
            <a:off x="8407400" y="3486150"/>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Cas B : Scrum avec des Lego, 3 sprints</a:t>
            </a:r>
            <a:endParaRPr lang="en-US" sz="1300" dirty="0"/>
          </a:p>
        </p:txBody>
      </p:sp>
      <p:sp>
        <p:nvSpPr>
          <p:cNvPr id="13" name="Text 11"/>
          <p:cNvSpPr/>
          <p:nvPr/>
        </p:nvSpPr>
        <p:spPr>
          <a:xfrm>
            <a:off x="7112000" y="410071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1:45–2:00</a:t>
            </a:r>
            <a:endParaRPr lang="en-US" sz="1300" dirty="0"/>
          </a:p>
        </p:txBody>
      </p:sp>
      <p:sp>
        <p:nvSpPr>
          <p:cNvPr id="14" name="Text 12"/>
          <p:cNvSpPr/>
          <p:nvPr/>
        </p:nvSpPr>
        <p:spPr>
          <a:xfrm>
            <a:off x="8407400" y="410071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Débrief</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3</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MANIFESTE AGILE · 2001</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Quatre préférences, pas quatre interdits</a:t>
            </a:r>
            <a:endParaRPr lang="en-US" sz="3200" dirty="0"/>
          </a:p>
        </p:txBody>
      </p:sp>
      <p:sp>
        <p:nvSpPr>
          <p:cNvPr id="4" name="Shape 2"/>
          <p:cNvSpPr/>
          <p:nvPr/>
        </p:nvSpPr>
        <p:spPr>
          <a:xfrm>
            <a:off x="815975" y="1984276"/>
            <a:ext cx="5200650" cy="1004491"/>
          </a:xfrm>
          <a:prstGeom prst="roundRect">
            <a:avLst>
              <a:gd name="adj" fmla="val 9798"/>
            </a:avLst>
          </a:prstGeom>
          <a:solidFill>
            <a:srgbClr val="FDFDFB"/>
          </a:solidFill>
          <a:ln w="6350">
            <a:solidFill>
              <a:srgbClr val="DCE1E8"/>
            </a:solidFill>
            <a:prstDash val="solid"/>
          </a:ln>
        </p:spPr>
      </p:sp>
      <p:sp>
        <p:nvSpPr>
          <p:cNvPr id="5" name="Text 3"/>
          <p:cNvSpPr/>
          <p:nvPr/>
        </p:nvSpPr>
        <p:spPr>
          <a:xfrm>
            <a:off x="1047750" y="221605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Les individus et leurs interactions</a:t>
            </a:r>
            <a:endParaRPr lang="en-US" sz="1700" dirty="0"/>
          </a:p>
        </p:txBody>
      </p:sp>
      <p:sp>
        <p:nvSpPr>
          <p:cNvPr id="6" name="Text 4"/>
          <p:cNvSpPr/>
          <p:nvPr/>
        </p:nvSpPr>
        <p:spPr>
          <a:xfrm>
            <a:off x="1047750" y="2525911"/>
            <a:ext cx="48792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A7585"/>
                </a:solidFill>
                <a:latin typeface="IBM Plex Sans" pitchFamily="34" charset="0"/>
                <a:ea typeface="IBM Plex Sans" pitchFamily="34" charset="-122"/>
                <a:cs typeface="IBM Plex Sans" pitchFamily="34" charset="-120"/>
              </a:rPr>
              <a:t>plus que les processus et les outils</a:t>
            </a:r>
            <a:endParaRPr lang="en-US" sz="1300" dirty="0"/>
          </a:p>
        </p:txBody>
      </p:sp>
      <p:sp>
        <p:nvSpPr>
          <p:cNvPr id="7" name="Shape 5"/>
          <p:cNvSpPr/>
          <p:nvPr/>
        </p:nvSpPr>
        <p:spPr>
          <a:xfrm>
            <a:off x="6175375" y="1984276"/>
            <a:ext cx="5200650" cy="1004491"/>
          </a:xfrm>
          <a:prstGeom prst="roundRect">
            <a:avLst>
              <a:gd name="adj" fmla="val 9798"/>
            </a:avLst>
          </a:prstGeom>
          <a:solidFill>
            <a:srgbClr val="FDFDFB"/>
          </a:solidFill>
          <a:ln w="6350">
            <a:solidFill>
              <a:srgbClr val="DCE1E8"/>
            </a:solidFill>
            <a:prstDash val="solid"/>
          </a:ln>
        </p:spPr>
      </p:sp>
      <p:sp>
        <p:nvSpPr>
          <p:cNvPr id="8" name="Text 6"/>
          <p:cNvSpPr/>
          <p:nvPr/>
        </p:nvSpPr>
        <p:spPr>
          <a:xfrm>
            <a:off x="6407150" y="221605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Des logiciels opérationnels</a:t>
            </a:r>
            <a:endParaRPr lang="en-US" sz="1700" dirty="0"/>
          </a:p>
        </p:txBody>
      </p:sp>
      <p:sp>
        <p:nvSpPr>
          <p:cNvPr id="9" name="Text 7"/>
          <p:cNvSpPr/>
          <p:nvPr/>
        </p:nvSpPr>
        <p:spPr>
          <a:xfrm>
            <a:off x="6407150" y="2525911"/>
            <a:ext cx="48792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A7585"/>
                </a:solidFill>
                <a:latin typeface="IBM Plex Sans" pitchFamily="34" charset="0"/>
                <a:ea typeface="IBM Plex Sans" pitchFamily="34" charset="-122"/>
                <a:cs typeface="IBM Plex Sans" pitchFamily="34" charset="-120"/>
              </a:rPr>
              <a:t>plus qu'une documentation exhaustive</a:t>
            </a:r>
            <a:endParaRPr lang="en-US" sz="1300" dirty="0"/>
          </a:p>
        </p:txBody>
      </p:sp>
      <p:sp>
        <p:nvSpPr>
          <p:cNvPr id="10" name="Shape 8"/>
          <p:cNvSpPr/>
          <p:nvPr/>
        </p:nvSpPr>
        <p:spPr>
          <a:xfrm>
            <a:off x="815975" y="3147516"/>
            <a:ext cx="5200650" cy="1004491"/>
          </a:xfrm>
          <a:prstGeom prst="roundRect">
            <a:avLst>
              <a:gd name="adj" fmla="val 9798"/>
            </a:avLst>
          </a:prstGeom>
          <a:solidFill>
            <a:srgbClr val="FDFDFB"/>
          </a:solidFill>
          <a:ln w="6350">
            <a:solidFill>
              <a:srgbClr val="DCE1E8"/>
            </a:solidFill>
            <a:prstDash val="solid"/>
          </a:ln>
        </p:spPr>
      </p:sp>
      <p:sp>
        <p:nvSpPr>
          <p:cNvPr id="11" name="Text 9"/>
          <p:cNvSpPr/>
          <p:nvPr/>
        </p:nvSpPr>
        <p:spPr>
          <a:xfrm>
            <a:off x="1047750" y="337929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La collaboration avec les clients</a:t>
            </a:r>
            <a:endParaRPr lang="en-US" sz="1700" dirty="0"/>
          </a:p>
        </p:txBody>
      </p:sp>
      <p:sp>
        <p:nvSpPr>
          <p:cNvPr id="12" name="Text 10"/>
          <p:cNvSpPr/>
          <p:nvPr/>
        </p:nvSpPr>
        <p:spPr>
          <a:xfrm>
            <a:off x="1047750" y="3689152"/>
            <a:ext cx="48792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A7585"/>
                </a:solidFill>
                <a:latin typeface="IBM Plex Sans" pitchFamily="34" charset="0"/>
                <a:ea typeface="IBM Plex Sans" pitchFamily="34" charset="-122"/>
                <a:cs typeface="IBM Plex Sans" pitchFamily="34" charset="-120"/>
              </a:rPr>
              <a:t>plus que la négociation contractuelle</a:t>
            </a:r>
            <a:endParaRPr lang="en-US" sz="1300" dirty="0"/>
          </a:p>
        </p:txBody>
      </p:sp>
      <p:sp>
        <p:nvSpPr>
          <p:cNvPr id="13" name="Shape 11"/>
          <p:cNvSpPr/>
          <p:nvPr/>
        </p:nvSpPr>
        <p:spPr>
          <a:xfrm>
            <a:off x="6175375" y="3147516"/>
            <a:ext cx="5200650" cy="1004491"/>
          </a:xfrm>
          <a:prstGeom prst="roundRect">
            <a:avLst>
              <a:gd name="adj" fmla="val 9798"/>
            </a:avLst>
          </a:prstGeom>
          <a:solidFill>
            <a:srgbClr val="FDFDFB"/>
          </a:solidFill>
          <a:ln w="6350">
            <a:solidFill>
              <a:srgbClr val="DCE1E8"/>
            </a:solidFill>
            <a:prstDash val="solid"/>
          </a:ln>
        </p:spPr>
      </p:sp>
      <p:sp>
        <p:nvSpPr>
          <p:cNvPr id="14" name="Text 12"/>
          <p:cNvSpPr/>
          <p:nvPr/>
        </p:nvSpPr>
        <p:spPr>
          <a:xfrm>
            <a:off x="6407150" y="3379291"/>
            <a:ext cx="4879213"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L'adaptation au changement</a:t>
            </a:r>
            <a:endParaRPr lang="en-US" sz="1700" dirty="0"/>
          </a:p>
        </p:txBody>
      </p:sp>
      <p:sp>
        <p:nvSpPr>
          <p:cNvPr id="15" name="Text 13"/>
          <p:cNvSpPr/>
          <p:nvPr/>
        </p:nvSpPr>
        <p:spPr>
          <a:xfrm>
            <a:off x="6407150" y="3689152"/>
            <a:ext cx="487921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A7585"/>
                </a:solidFill>
                <a:latin typeface="IBM Plex Sans" pitchFamily="34" charset="0"/>
                <a:ea typeface="IBM Plex Sans" pitchFamily="34" charset="-122"/>
                <a:cs typeface="IBM Plex Sans" pitchFamily="34" charset="-120"/>
              </a:rPr>
              <a:t>plus que le suivi d'un plan</a:t>
            </a:r>
            <a:endParaRPr lang="en-US" sz="1300" dirty="0"/>
          </a:p>
        </p:txBody>
      </p:sp>
      <p:sp>
        <p:nvSpPr>
          <p:cNvPr id="16" name="Text 14"/>
          <p:cNvSpPr/>
          <p:nvPr/>
        </p:nvSpPr>
        <p:spPr>
          <a:xfrm>
            <a:off x="812800" y="4409182"/>
            <a:ext cx="10883392" cy="540941"/>
          </a:xfrm>
          <a:prstGeom prst="rect">
            <a:avLst/>
          </a:prstGeom>
          <a:noFill/>
          <a:ln/>
        </p:spPr>
        <p:txBody>
          <a:bodyPr wrap="square" lIns="0" tIns="0" rIns="0" bIns="0" rtlCol="0" anchor="t">
            <a:normAutofit/>
          </a:bodyPr>
          <a:lstStyle/>
          <a:p>
            <a:pPr algn="l" indent="0" marL="0">
              <a:lnSpc>
                <a:spcPts val="2030"/>
              </a:lnSpc>
              <a:buNone/>
            </a:pPr>
            <a:r>
              <a:rPr lang="en-US" sz="1400" i="1" dirty="0">
                <a:solidFill>
                  <a:srgbClr val="3D4A5C"/>
                </a:solidFill>
                <a:latin typeface="IBM Plex Sans" pitchFamily="34" charset="0"/>
                <a:ea typeface="IBM Plex Sans" pitchFamily="34" charset="-122"/>
                <a:cs typeface="IBM Plex Sans" pitchFamily="34" charset="-120"/>
              </a:rPr>
              <a:t>« Bien qu'il y ait de la valeur dans les éléments situés à droite, notre préférence se porte sur les éléments qui se trouvent sur la gauche. »</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 : agilemanifesto.org/iso/fr/manifesto.html · 12 principes : agilemanifesto.org/iso/fr/principles.html</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SCRUM EN BREF</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3 responsabilités, 5 événements, 3 artefacts</a:t>
            </a:r>
            <a:endParaRPr lang="en-US" sz="3200" dirty="0"/>
          </a:p>
        </p:txBody>
      </p:sp>
      <p:sp>
        <p:nvSpPr>
          <p:cNvPr id="4" name="Shape 2"/>
          <p:cNvSpPr/>
          <p:nvPr/>
        </p:nvSpPr>
        <p:spPr>
          <a:xfrm>
            <a:off x="812800" y="1981101"/>
            <a:ext cx="3412034" cy="2062659"/>
          </a:xfrm>
          <a:prstGeom prst="roundRect">
            <a:avLst>
              <a:gd name="adj" fmla="val 4926"/>
            </a:avLst>
          </a:prstGeom>
          <a:solidFill>
            <a:srgbClr val="14213D"/>
          </a:solidFill>
          <a:ln/>
        </p:spPr>
      </p:sp>
      <p:sp>
        <p:nvSpPr>
          <p:cNvPr id="5" name="Text 3"/>
          <p:cNvSpPr/>
          <p:nvPr/>
        </p:nvSpPr>
        <p:spPr>
          <a:xfrm>
            <a:off x="1066800" y="2235101"/>
            <a:ext cx="2991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Responsabilités</a:t>
            </a:r>
            <a:endParaRPr lang="en-US" sz="1600" dirty="0"/>
          </a:p>
        </p:txBody>
      </p:sp>
      <p:sp>
        <p:nvSpPr>
          <p:cNvPr id="6" name="Text 4"/>
          <p:cNvSpPr/>
          <p:nvPr/>
        </p:nvSpPr>
        <p:spPr>
          <a:xfrm>
            <a:off x="1152144" y="2580481"/>
            <a:ext cx="2898191" cy="1221978"/>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E4E9F1"/>
                </a:solidFill>
                <a:latin typeface="IBM Plex Sans" pitchFamily="34" charset="0"/>
                <a:ea typeface="IBM Plex Sans" pitchFamily="34" charset="-122"/>
                <a:cs typeface="IBM Plex Sans" pitchFamily="34" charset="-120"/>
              </a:rPr>
              <a:t>Product Owner : maximise la valeur, gère le backlog</a:t>
            </a:r>
            <a:endParaRPr lang="en-US" sz="1300" dirty="0"/>
          </a:p>
          <a:p>
            <a:pPr algn="l" marL="168656" indent="-168656">
              <a:lnSpc>
                <a:spcPts val="1885"/>
              </a:lnSpc>
              <a:buSzPct val="100000"/>
              <a:buChar char="•"/>
            </a:pPr>
            <a:r>
              <a:rPr lang="en-US" sz="1300" dirty="0">
                <a:solidFill>
                  <a:srgbClr val="E4E9F1"/>
                </a:solidFill>
                <a:latin typeface="IBM Plex Sans" pitchFamily="34" charset="0"/>
                <a:ea typeface="IBM Plex Sans" pitchFamily="34" charset="-122"/>
                <a:cs typeface="IBM Plex Sans" pitchFamily="34" charset="-120"/>
              </a:rPr>
              <a:t>Scrum Master : rend l'équipe efficace</a:t>
            </a:r>
            <a:endParaRPr lang="en-US" sz="1300" dirty="0"/>
          </a:p>
          <a:p>
            <a:pPr algn="l" marL="168656" indent="-168656">
              <a:lnSpc>
                <a:spcPts val="1885"/>
              </a:lnSpc>
              <a:buSzPct val="100000"/>
              <a:buChar char="•"/>
            </a:pPr>
            <a:r>
              <a:rPr lang="en-US" sz="1300" dirty="0">
                <a:solidFill>
                  <a:srgbClr val="E4E9F1"/>
                </a:solidFill>
                <a:latin typeface="IBM Plex Sans" pitchFamily="34" charset="0"/>
                <a:ea typeface="IBM Plex Sans" pitchFamily="34" charset="-122"/>
                <a:cs typeface="IBM Plex Sans" pitchFamily="34" charset="-120"/>
              </a:rPr>
              <a:t>Developers : créent l'incrément</a:t>
            </a:r>
            <a:endParaRPr lang="en-US" sz="1300" dirty="0"/>
          </a:p>
        </p:txBody>
      </p:sp>
      <p:sp>
        <p:nvSpPr>
          <p:cNvPr id="7" name="Shape 5"/>
          <p:cNvSpPr/>
          <p:nvPr/>
        </p:nvSpPr>
        <p:spPr>
          <a:xfrm>
            <a:off x="4380409" y="1984276"/>
            <a:ext cx="3418483" cy="2056309"/>
          </a:xfrm>
          <a:prstGeom prst="roundRect">
            <a:avLst>
              <a:gd name="adj" fmla="val 4786"/>
            </a:avLst>
          </a:prstGeom>
          <a:solidFill>
            <a:srgbClr val="FDFDFB"/>
          </a:solidFill>
          <a:ln w="6350">
            <a:solidFill>
              <a:srgbClr val="DCE1E8"/>
            </a:solidFill>
            <a:prstDash val="solid"/>
          </a:ln>
        </p:spPr>
      </p:sp>
      <p:sp>
        <p:nvSpPr>
          <p:cNvPr id="8" name="Text 6"/>
          <p:cNvSpPr/>
          <p:nvPr/>
        </p:nvSpPr>
        <p:spPr>
          <a:xfrm>
            <a:off x="4637584" y="2241451"/>
            <a:ext cx="299125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Événements</a:t>
            </a:r>
            <a:endParaRPr lang="en-US" sz="1600" dirty="0"/>
          </a:p>
        </p:txBody>
      </p:sp>
      <p:sp>
        <p:nvSpPr>
          <p:cNvPr id="9" name="Text 7"/>
          <p:cNvSpPr/>
          <p:nvPr/>
        </p:nvSpPr>
        <p:spPr>
          <a:xfrm>
            <a:off x="4722928" y="2586831"/>
            <a:ext cx="2898293" cy="1221978"/>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Sprint (1 mois max.)</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Sprint Planning</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Daily Scrum (15 min)</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Sprint Review</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Sprint Retrospective</a:t>
            </a:r>
            <a:endParaRPr lang="en-US" sz="1300" dirty="0"/>
          </a:p>
        </p:txBody>
      </p:sp>
      <p:sp>
        <p:nvSpPr>
          <p:cNvPr id="10" name="Shape 8"/>
          <p:cNvSpPr/>
          <p:nvPr/>
        </p:nvSpPr>
        <p:spPr>
          <a:xfrm>
            <a:off x="7957641" y="1984276"/>
            <a:ext cx="3418384" cy="2056309"/>
          </a:xfrm>
          <a:prstGeom prst="roundRect">
            <a:avLst>
              <a:gd name="adj" fmla="val 4786"/>
            </a:avLst>
          </a:prstGeom>
          <a:solidFill>
            <a:srgbClr val="FDFDFB"/>
          </a:solidFill>
          <a:ln w="6350">
            <a:solidFill>
              <a:srgbClr val="DCE1E8"/>
            </a:solidFill>
            <a:prstDash val="solid"/>
          </a:ln>
        </p:spPr>
      </p:sp>
      <p:sp>
        <p:nvSpPr>
          <p:cNvPr id="11" name="Text 9"/>
          <p:cNvSpPr/>
          <p:nvPr/>
        </p:nvSpPr>
        <p:spPr>
          <a:xfrm>
            <a:off x="8214816" y="2241451"/>
            <a:ext cx="299115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Artefacts → engagement</a:t>
            </a:r>
            <a:endParaRPr lang="en-US" sz="1600" dirty="0"/>
          </a:p>
        </p:txBody>
      </p:sp>
      <p:sp>
        <p:nvSpPr>
          <p:cNvPr id="12" name="Text 10"/>
          <p:cNvSpPr/>
          <p:nvPr/>
        </p:nvSpPr>
        <p:spPr>
          <a:xfrm>
            <a:off x="8300160" y="2586831"/>
            <a:ext cx="2898191" cy="982662"/>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Product Backlog → Objectif de produit</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Sprint Backlog → Objectif de Sprint</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Incrément → Definition of Done</a:t>
            </a:r>
            <a:endParaRPr lang="en-US" sz="1300" dirty="0"/>
          </a:p>
        </p:txBody>
      </p:sp>
      <p:sp>
        <p:nvSpPr>
          <p:cNvPr id="13" name="Text 11"/>
          <p:cNvSpPr/>
          <p:nvPr/>
        </p:nvSpPr>
        <p:spPr>
          <a:xfrm>
            <a:off x="812800" y="42977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Trois piliers :</a:t>
            </a:r>
            <a:r>
              <a:rPr lang="en-US" sz="1400" dirty="0">
                <a:solidFill>
                  <a:srgbClr val="3D4A5C"/>
                </a:solidFill>
                <a:latin typeface="IBM Plex Sans" pitchFamily="34" charset="0"/>
                <a:ea typeface="IBM Plex Sans" pitchFamily="34" charset="-122"/>
                <a:cs typeface="IBM Plex Sans" pitchFamily="34" charset="-120"/>
              </a:rPr>
              <a:t> transparence, inspection, adaptation.</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 : Scrum Guide 2020, K. Schwaber et J. Sutherland · scrumguides.org</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A · 20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projet en V qui dérape</a:t>
            </a:r>
            <a:endParaRPr lang="en-US" sz="3200" dirty="0"/>
          </a:p>
        </p:txBody>
      </p:sp>
      <p:sp>
        <p:nvSpPr>
          <p:cNvPr id="4" name="Shape 2"/>
          <p:cNvSpPr/>
          <p:nvPr/>
        </p:nvSpPr>
        <p:spPr>
          <a:xfrm>
            <a:off x="812800" y="1981101"/>
            <a:ext cx="5130800" cy="2458045"/>
          </a:xfrm>
          <a:prstGeom prst="roundRect">
            <a:avLst>
              <a:gd name="adj" fmla="val 4133"/>
            </a:avLst>
          </a:prstGeom>
          <a:solidFill>
            <a:srgbClr val="FDFDFB"/>
          </a:solidFill>
          <a:ln/>
        </p:spPr>
      </p:sp>
      <p:sp>
        <p:nvSpPr>
          <p:cNvPr id="5" name="Shape 3"/>
          <p:cNvSpPr/>
          <p:nvPr/>
        </p:nvSpPr>
        <p:spPr>
          <a:xfrm>
            <a:off x="812800" y="1981101"/>
            <a:ext cx="5130800" cy="2458045"/>
          </a:xfrm>
          <a:custGeom>
            <a:avLst/>
            <a:gdLst/>
            <a:ahLst/>
            <a:cxnLst/>
            <a:rect l="l" t="t" r="r" b="b"/>
            <a:pathLst>
              <a:path w="5130800" h="2458045">
                <a:moveTo>
                  <a:pt x="101600" y="2458045"/>
                </a:moveTo>
                <a:lnTo>
                  <a:pt x="101600" y="2458045"/>
                </a:lnTo>
                <a:arcTo hR="101600" wR="101600" stAng="5400000" swAng="5400000"/>
                <a:lnTo>
                  <a:pt x="0" y="101600"/>
                </a:lnTo>
                <a:arcTo hR="101600" wR="101600" stAng="10800000" swAng="5400000"/>
                <a:lnTo>
                  <a:pt x="101600" y="0"/>
                </a:lnTo>
                <a:arcTo hR="101600" wR="50800" stAng="16200000" swAng="-5400000"/>
                <a:lnTo>
                  <a:pt x="50800" y="2356445"/>
                </a:lnTo>
                <a:arcTo hR="101600" wR="50800" stAng="10800000" swAng="-5400000"/>
                <a:close/>
              </a:path>
            </a:pathLst>
          </a:custGeom>
          <a:solidFill>
            <a:srgbClr val="B04E15"/>
          </a:solidFill>
          <a:ln/>
        </p:spPr>
      </p:sp>
      <p:sp>
        <p:nvSpPr>
          <p:cNvPr id="6" name="Text 4"/>
          <p:cNvSpPr/>
          <p:nvPr/>
        </p:nvSpPr>
        <p:spPr>
          <a:xfrm>
            <a:off x="1168400" y="2285901"/>
            <a:ext cx="460451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MODULE DE PAIEMENT, 2024</a:t>
            </a:r>
            <a:endParaRPr lang="en-US" sz="1200" dirty="0"/>
          </a:p>
        </p:txBody>
      </p:sp>
      <p:sp>
        <p:nvSpPr>
          <p:cNvPr id="7" name="Text 5"/>
          <p:cNvSpPr/>
          <p:nvPr/>
        </p:nvSpPr>
        <p:spPr>
          <a:xfrm>
            <a:off x="1168400" y="2626221"/>
            <a:ext cx="460451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4 mois de spécifications (120 pages), 6 mois de développement, recette à la fin.</a:t>
            </a:r>
            <a:endParaRPr lang="en-US" sz="1500" dirty="0"/>
          </a:p>
        </p:txBody>
      </p:sp>
      <p:sp>
        <p:nvSpPr>
          <p:cNvPr id="8" name="Text 6"/>
          <p:cNvSpPr/>
          <p:nvPr/>
        </p:nvSpPr>
        <p:spPr>
          <a:xfrm>
            <a:off x="1168400" y="3305671"/>
            <a:ext cx="4604512"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À la recette, les associations demandent le paiement en plusieurs fois et Apple Pay. Livré avec 5 mois de retard.</a:t>
            </a:r>
            <a:endParaRPr lang="en-US" sz="1500" dirty="0"/>
          </a:p>
        </p:txBody>
      </p:sp>
      <p:sp>
        <p:nvSpPr>
          <p:cNvPr id="9" name="Shape 7"/>
          <p:cNvSpPr/>
          <p:nvPr/>
        </p:nvSpPr>
        <p:spPr>
          <a:xfrm>
            <a:off x="6248400" y="1981101"/>
            <a:ext cx="5130800" cy="2458045"/>
          </a:xfrm>
          <a:prstGeom prst="roundRect">
            <a:avLst>
              <a:gd name="adj" fmla="val 4133"/>
            </a:avLst>
          </a:prstGeom>
          <a:solidFill>
            <a:srgbClr val="14213D"/>
          </a:solidFill>
          <a:ln/>
        </p:spPr>
      </p:sp>
      <p:sp>
        <p:nvSpPr>
          <p:cNvPr id="10" name="Text 8"/>
          <p:cNvSpPr/>
          <p:nvPr/>
        </p:nvSpPr>
        <p:spPr>
          <a:xfrm>
            <a:off x="6553200" y="2285901"/>
            <a:ext cx="465683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À faire</a:t>
            </a:r>
            <a:endParaRPr lang="en-US" sz="1600" dirty="0"/>
          </a:p>
        </p:txBody>
      </p:sp>
      <p:sp>
        <p:nvSpPr>
          <p:cNvPr id="11" name="Text 9"/>
          <p:cNvSpPr/>
          <p:nvPr/>
        </p:nvSpPr>
        <p:spPr>
          <a:xfrm>
            <a:off x="6610052" y="2656681"/>
            <a:ext cx="4592364" cy="1314252"/>
          </a:xfrm>
          <a:prstGeom prst="rect">
            <a:avLst/>
          </a:prstGeom>
          <a:noFill/>
          <a:ln/>
        </p:spPr>
        <p:txBody>
          <a:bodyPr wrap="square" lIns="0" tIns="0" rIns="0" bIns="0" rtlCol="0" anchor="t">
            <a:normAutofit/>
          </a:bodyPr>
          <a:lstStyle/>
          <a:p>
            <a:pPr algn="l" marL="197148" indent="-197148">
              <a:lnSpc>
                <a:spcPts val="2030"/>
              </a:lnSpc>
              <a:buSzPct val="100000"/>
              <a:buFontTx/>
              <a:buAutoNum type="arabicPeriod" startAt="1"/>
            </a:pPr>
            <a:r>
              <a:rPr lang="en-US" sz="1400" dirty="0">
                <a:solidFill>
                  <a:srgbClr val="E4E9F1"/>
                </a:solidFill>
                <a:latin typeface="IBM Plex Sans" pitchFamily="34" charset="0"/>
                <a:ea typeface="IBM Plex Sans" pitchFamily="34" charset="-122"/>
                <a:cs typeface="IBM Plex Sans" pitchFamily="34" charset="-120"/>
              </a:rPr>
              <a:t>4 moments où l'information est arrivée trop tard</a:t>
            </a:r>
            <a:endParaRPr lang="en-US" sz="1400" dirty="0"/>
          </a:p>
          <a:p>
            <a:pPr algn="l" marL="197148" indent="-197148">
              <a:lnSpc>
                <a:spcPts val="2030"/>
              </a:lnSpc>
              <a:buSzPct val="100000"/>
              <a:buFontTx/>
              <a:buAutoNum type="arabicPeriod" startAt="1"/>
            </a:pPr>
            <a:r>
              <a:rPr lang="en-US" sz="1400" dirty="0">
                <a:solidFill>
                  <a:srgbClr val="E4E9F1"/>
                </a:solidFill>
                <a:latin typeface="IBM Plex Sans" pitchFamily="34" charset="0"/>
                <a:ea typeface="IBM Plex Sans" pitchFamily="34" charset="-122"/>
                <a:cs typeface="IBM Plex Sans" pitchFamily="34" charset="-120"/>
              </a:rPr>
              <a:t>Pour chaque valeur du Manifeste : qu'est-ce qui aurait changé ?</a:t>
            </a:r>
            <a:endParaRPr lang="en-US" sz="1400" dirty="0"/>
          </a:p>
          <a:p>
            <a:pPr algn="l" marL="197148" indent="-197148">
              <a:lnSpc>
                <a:spcPts val="2030"/>
              </a:lnSpc>
              <a:buSzPct val="100000"/>
              <a:buFontTx/>
              <a:buAutoNum type="arabicPeriod" startAt="1"/>
            </a:pPr>
            <a:r>
              <a:rPr lang="en-US" sz="1400" dirty="0">
                <a:solidFill>
                  <a:srgbClr val="E4E9F1"/>
                </a:solidFill>
                <a:latin typeface="IBM Plex Sans" pitchFamily="34" charset="0"/>
                <a:ea typeface="IBM Plex Sans" pitchFamily="34" charset="-122"/>
                <a:cs typeface="IBM Plex Sans" pitchFamily="34" charset="-120"/>
              </a:rPr>
              <a:t>Un découpage en 4 incréments livrés toutes les 2 semaines</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3</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B · 50 MIN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Scrum avec des Lego : construisez le campus</a:t>
            </a:r>
            <a:endParaRPr lang="en-US" sz="3200" dirty="0"/>
          </a:p>
        </p:txBody>
      </p:sp>
      <p:sp>
        <p:nvSpPr>
          <p:cNvPr id="4" name="Text 2"/>
          <p:cNvSpPr/>
          <p:nvPr/>
        </p:nvSpPr>
        <p:spPr>
          <a:xfrm>
            <a:off x="812800" y="18795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Le client veut un bâtiment de cours, une cafétéria, un local associatif, un parking vélos. Désignez un PO et un Scrum Master.</a:t>
            </a:r>
            <a:endParaRPr lang="en-US" sz="1400" dirty="0"/>
          </a:p>
        </p:txBody>
      </p:sp>
      <p:sp>
        <p:nvSpPr>
          <p:cNvPr id="5" name="Shape 3"/>
          <p:cNvSpPr/>
          <p:nvPr/>
        </p:nvSpPr>
        <p:spPr>
          <a:xfrm>
            <a:off x="812800" y="2331541"/>
            <a:ext cx="2298700" cy="1109861"/>
          </a:xfrm>
          <a:prstGeom prst="roundRect">
            <a:avLst>
              <a:gd name="adj" fmla="val 9154"/>
            </a:avLst>
          </a:prstGeom>
          <a:solidFill>
            <a:srgbClr val="FDFDFB"/>
          </a:solidFill>
          <a:ln/>
        </p:spPr>
      </p:sp>
      <p:sp>
        <p:nvSpPr>
          <p:cNvPr id="6" name="Text 4"/>
          <p:cNvSpPr/>
          <p:nvPr/>
        </p:nvSpPr>
        <p:spPr>
          <a:xfrm>
            <a:off x="1407795" y="2509341"/>
            <a:ext cx="1108710"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04E15"/>
                </a:solidFill>
                <a:latin typeface="Space Grotesk" pitchFamily="34" charset="0"/>
                <a:ea typeface="Space Grotesk" pitchFamily="34" charset="-122"/>
                <a:cs typeface="Space Grotesk" pitchFamily="34" charset="-120"/>
              </a:rPr>
              <a:t>3 min</a:t>
            </a:r>
            <a:endParaRPr lang="en-US" sz="2800" dirty="0"/>
          </a:p>
        </p:txBody>
      </p:sp>
      <p:sp>
        <p:nvSpPr>
          <p:cNvPr id="7" name="Text 5"/>
          <p:cNvSpPr/>
          <p:nvPr/>
        </p:nvSpPr>
        <p:spPr>
          <a:xfrm>
            <a:off x="1576388" y="3032522"/>
            <a:ext cx="771525"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Planning</a:t>
            </a:r>
            <a:endParaRPr lang="en-US" sz="1300" dirty="0"/>
          </a:p>
        </p:txBody>
      </p:sp>
      <p:pic>
        <p:nvPicPr>
          <p:cNvPr id="8" name="Image 0" descr="arrow-right">    </p:cNvPr>
          <p:cNvPicPr>
            <a:picLocks noChangeAspect="1"/>
          </p:cNvPicPr>
          <p:nvPr/>
        </p:nvPicPr>
        <p:blipFill>
          <a:blip r:embed="rId1"/>
          <a:srcRect l="0" r="0" t="0" b="0"/>
          <a:stretch/>
        </p:blipFill>
        <p:spPr>
          <a:xfrm>
            <a:off x="3213100" y="2810272"/>
            <a:ext cx="254000" cy="152400"/>
          </a:xfrm>
          <a:prstGeom prst="rect">
            <a:avLst/>
          </a:prstGeom>
        </p:spPr>
      </p:pic>
      <p:sp>
        <p:nvSpPr>
          <p:cNvPr id="9" name="Shape 6"/>
          <p:cNvSpPr/>
          <p:nvPr/>
        </p:nvSpPr>
        <p:spPr>
          <a:xfrm>
            <a:off x="3568700" y="2331541"/>
            <a:ext cx="2298700" cy="1109861"/>
          </a:xfrm>
          <a:prstGeom prst="roundRect">
            <a:avLst>
              <a:gd name="adj" fmla="val 9154"/>
            </a:avLst>
          </a:prstGeom>
          <a:solidFill>
            <a:srgbClr val="FDFDFB"/>
          </a:solidFill>
          <a:ln/>
        </p:spPr>
      </p:sp>
      <p:sp>
        <p:nvSpPr>
          <p:cNvPr id="10" name="Text 7"/>
          <p:cNvSpPr/>
          <p:nvPr/>
        </p:nvSpPr>
        <p:spPr>
          <a:xfrm>
            <a:off x="4175244" y="2509341"/>
            <a:ext cx="1085612"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04E15"/>
                </a:solidFill>
                <a:latin typeface="Space Grotesk" pitchFamily="34" charset="0"/>
                <a:ea typeface="Space Grotesk" pitchFamily="34" charset="-122"/>
                <a:cs typeface="Space Grotesk" pitchFamily="34" charset="-120"/>
              </a:rPr>
              <a:t>7 min</a:t>
            </a:r>
            <a:endParaRPr lang="en-US" sz="2800" dirty="0"/>
          </a:p>
        </p:txBody>
      </p:sp>
      <p:sp>
        <p:nvSpPr>
          <p:cNvPr id="11" name="Text 8"/>
          <p:cNvSpPr/>
          <p:nvPr/>
        </p:nvSpPr>
        <p:spPr>
          <a:xfrm>
            <a:off x="4148693" y="3032522"/>
            <a:ext cx="1138714"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Construction</a:t>
            </a:r>
            <a:endParaRPr lang="en-US" sz="1300" dirty="0"/>
          </a:p>
        </p:txBody>
      </p:sp>
      <p:pic>
        <p:nvPicPr>
          <p:cNvPr id="12" name="Image 1" descr="arrow-right">    </p:cNvPr>
          <p:cNvPicPr>
            <a:picLocks noChangeAspect="1"/>
          </p:cNvPicPr>
          <p:nvPr/>
        </p:nvPicPr>
        <p:blipFill>
          <a:blip r:embed="rId2"/>
          <a:srcRect l="0" r="0" t="0" b="0"/>
          <a:stretch/>
        </p:blipFill>
        <p:spPr>
          <a:xfrm>
            <a:off x="5969000" y="2810272"/>
            <a:ext cx="254000" cy="152400"/>
          </a:xfrm>
          <a:prstGeom prst="rect">
            <a:avLst/>
          </a:prstGeom>
        </p:spPr>
      </p:pic>
      <p:sp>
        <p:nvSpPr>
          <p:cNvPr id="13" name="Shape 9"/>
          <p:cNvSpPr/>
          <p:nvPr/>
        </p:nvSpPr>
        <p:spPr>
          <a:xfrm>
            <a:off x="6324600" y="2331541"/>
            <a:ext cx="2298700" cy="1109861"/>
          </a:xfrm>
          <a:prstGeom prst="roundRect">
            <a:avLst>
              <a:gd name="adj" fmla="val 9154"/>
            </a:avLst>
          </a:prstGeom>
          <a:solidFill>
            <a:srgbClr val="FDFDFB"/>
          </a:solidFill>
          <a:ln/>
        </p:spPr>
      </p:sp>
      <p:sp>
        <p:nvSpPr>
          <p:cNvPr id="14" name="Text 10"/>
          <p:cNvSpPr/>
          <p:nvPr/>
        </p:nvSpPr>
        <p:spPr>
          <a:xfrm>
            <a:off x="6922572" y="2509341"/>
            <a:ext cx="1102757"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04E15"/>
                </a:solidFill>
                <a:latin typeface="Space Grotesk" pitchFamily="34" charset="0"/>
                <a:ea typeface="Space Grotesk" pitchFamily="34" charset="-122"/>
                <a:cs typeface="Space Grotesk" pitchFamily="34" charset="-120"/>
              </a:rPr>
              <a:t>2 min</a:t>
            </a:r>
            <a:endParaRPr lang="en-US" sz="2800" dirty="0"/>
          </a:p>
        </p:txBody>
      </p:sp>
      <p:sp>
        <p:nvSpPr>
          <p:cNvPr id="15" name="Text 11"/>
          <p:cNvSpPr/>
          <p:nvPr/>
        </p:nvSpPr>
        <p:spPr>
          <a:xfrm>
            <a:off x="6884591" y="3032522"/>
            <a:ext cx="1178719"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Review client</a:t>
            </a:r>
            <a:endParaRPr lang="en-US" sz="1300" dirty="0"/>
          </a:p>
        </p:txBody>
      </p:sp>
      <p:pic>
        <p:nvPicPr>
          <p:cNvPr id="16" name="Image 2" descr="arrow-right">    </p:cNvPr>
          <p:cNvPicPr>
            <a:picLocks noChangeAspect="1"/>
          </p:cNvPicPr>
          <p:nvPr/>
        </p:nvPicPr>
        <p:blipFill>
          <a:blip r:embed="rId3"/>
          <a:srcRect l="0" r="0" t="0" b="0"/>
          <a:stretch/>
        </p:blipFill>
        <p:spPr>
          <a:xfrm>
            <a:off x="8724900" y="2810272"/>
            <a:ext cx="254000" cy="152400"/>
          </a:xfrm>
          <a:prstGeom prst="rect">
            <a:avLst/>
          </a:prstGeom>
        </p:spPr>
      </p:pic>
      <p:sp>
        <p:nvSpPr>
          <p:cNvPr id="17" name="Shape 12"/>
          <p:cNvSpPr/>
          <p:nvPr/>
        </p:nvSpPr>
        <p:spPr>
          <a:xfrm>
            <a:off x="9080500" y="2331541"/>
            <a:ext cx="2298700" cy="1109861"/>
          </a:xfrm>
          <a:prstGeom prst="roundRect">
            <a:avLst>
              <a:gd name="adj" fmla="val 9154"/>
            </a:avLst>
          </a:prstGeom>
          <a:solidFill>
            <a:srgbClr val="FDFDFB"/>
          </a:solidFill>
          <a:ln/>
        </p:spPr>
      </p:sp>
      <p:sp>
        <p:nvSpPr>
          <p:cNvPr id="18" name="Text 13"/>
          <p:cNvSpPr/>
          <p:nvPr/>
        </p:nvSpPr>
        <p:spPr>
          <a:xfrm>
            <a:off x="9675495" y="2509341"/>
            <a:ext cx="1108710" cy="523180"/>
          </a:xfrm>
          <a:prstGeom prst="rect">
            <a:avLst/>
          </a:prstGeom>
          <a:noFill/>
          <a:ln/>
        </p:spPr>
        <p:txBody>
          <a:bodyPr wrap="square" lIns="0" tIns="0" rIns="0" bIns="0" rtlCol="0" anchor="t">
            <a:normAutofit/>
          </a:bodyPr>
          <a:lstStyle/>
          <a:p>
            <a:pPr algn="ctr" indent="0" marL="0">
              <a:lnSpc>
                <a:spcPts val="3920"/>
              </a:lnSpc>
              <a:buNone/>
            </a:pPr>
            <a:r>
              <a:rPr lang="en-US" sz="2800" b="1" dirty="0">
                <a:solidFill>
                  <a:srgbClr val="B04E15"/>
                </a:solidFill>
                <a:latin typeface="Space Grotesk" pitchFamily="34" charset="0"/>
                <a:ea typeface="Space Grotesk" pitchFamily="34" charset="-122"/>
                <a:cs typeface="Space Grotesk" pitchFamily="34" charset="-120"/>
              </a:rPr>
              <a:t>3 min</a:t>
            </a:r>
            <a:endParaRPr lang="en-US" sz="2800" dirty="0"/>
          </a:p>
        </p:txBody>
      </p:sp>
      <p:sp>
        <p:nvSpPr>
          <p:cNvPr id="19" name="Text 14"/>
          <p:cNvSpPr/>
          <p:nvPr/>
        </p:nvSpPr>
        <p:spPr>
          <a:xfrm>
            <a:off x="9615616" y="3032522"/>
            <a:ext cx="1228368"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Rétrospective</a:t>
            </a:r>
            <a:endParaRPr lang="en-US" sz="1300" dirty="0"/>
          </a:p>
        </p:txBody>
      </p:sp>
      <p:sp>
        <p:nvSpPr>
          <p:cNvPr id="20" name="Text 15"/>
          <p:cNvSpPr/>
          <p:nvPr/>
        </p:nvSpPr>
        <p:spPr>
          <a:xfrm>
            <a:off x="812800" y="364460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 3 sprints.</a:t>
            </a:r>
            <a:r>
              <a:rPr lang="en-US" sz="1400" dirty="0">
                <a:solidFill>
                  <a:srgbClr val="3D4A5C"/>
                </a:solidFill>
                <a:latin typeface="IBM Plex Sans" pitchFamily="34" charset="0"/>
                <a:ea typeface="IBM Plex Sans" pitchFamily="34" charset="-122"/>
                <a:cs typeface="IBM Plex Sans" pitchFamily="34" charset="-120"/>
              </a:rPr>
              <a:t> Definition of Done : un bâtiment a un toit et une porte.</a:t>
            </a:r>
            <a:endParaRPr lang="en-US" sz="1400" dirty="0"/>
          </a:p>
        </p:txBody>
      </p:sp>
      <p:sp>
        <p:nvSpPr>
          <p:cNvPr id="21" name="Text 16"/>
          <p:cNvSpPr/>
          <p:nvPr/>
        </p:nvSpPr>
        <p:spPr>
          <a:xfrm>
            <a:off x="812800" y="409664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Livrable :</a:t>
            </a:r>
            <a:r>
              <a:rPr lang="en-US" sz="1400" dirty="0">
                <a:solidFill>
                  <a:srgbClr val="3D4A5C"/>
                </a:solidFill>
                <a:latin typeface="IBM Plex Sans" pitchFamily="34" charset="0"/>
                <a:ea typeface="IBM Plex Sans" pitchFamily="34" charset="-122"/>
                <a:cs typeface="IBM Plex Sans" pitchFamily="34" charset="-120"/>
              </a:rPr>
              <a:t> photo de l'incrément à chaque sprint, vélocité par sprint, 3 enseignements de rétrospective.</a:t>
            </a:r>
            <a:endParaRPr lang="en-US" sz="1400" dirty="0"/>
          </a:p>
        </p:txBody>
      </p:sp>
      <p:sp>
        <p:nvSpPr>
          <p:cNvPr id="22"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Inspiré de Lego4Scrum, A. Krivitsky · lego4scrum.com</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Livrer tôt pour apprendre tôt</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Votre vélocité a-t-elle progressé entre les sprints ? Pourquoi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Comment avez-vous vécu le changement d'avis du client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En quoi la Definition of Done a-t-elle évité des disputes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Pour la prochaine fois :</a:t>
            </a:r>
            <a:r>
              <a:rPr lang="en-US" sz="1500" dirty="0">
                <a:solidFill>
                  <a:srgbClr val="14213D"/>
                </a:solidFill>
                <a:latin typeface="IBM Plex Sans" pitchFamily="34" charset="0"/>
                <a:ea typeface="IBM Plex Sans" pitchFamily="34" charset="-122"/>
                <a:cs typeface="IBM Plex Sans" pitchFamily="34" charset="-120"/>
              </a:rPr>
              <a:t> créer un compte Atlassian avec l'invitation reçue.</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4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Piloter un projet avec Jira</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Transformer un besoin client flou en backlog Jira priorisé et planifier un premier sprint.</a:t>
            </a:r>
            <a:endParaRPr lang="en-US" sz="1600" dirty="0"/>
          </a:p>
        </p:txBody>
      </p:sp>
      <p:sp>
        <p:nvSpPr>
          <p:cNvPr id="5" name="Shape 3"/>
          <p:cNvSpPr/>
          <p:nvPr/>
        </p:nvSpPr>
        <p:spPr>
          <a:xfrm>
            <a:off x="6807200" y="2018209"/>
            <a:ext cx="4572000" cy="2618383"/>
          </a:xfrm>
          <a:prstGeom prst="roundRect">
            <a:avLst>
              <a:gd name="adj" fmla="val 3880"/>
            </a:avLst>
          </a:prstGeom>
          <a:solidFill>
            <a:srgbClr val="1E2D4F"/>
          </a:solidFill>
          <a:ln/>
        </p:spPr>
      </p:sp>
      <p:sp>
        <p:nvSpPr>
          <p:cNvPr id="6" name="Text 4"/>
          <p:cNvSpPr/>
          <p:nvPr/>
        </p:nvSpPr>
        <p:spPr>
          <a:xfrm>
            <a:off x="7112000" y="232300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719189"/>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0:00–0:30</a:t>
            </a:r>
            <a:endParaRPr lang="en-US" sz="1300" dirty="0"/>
          </a:p>
        </p:txBody>
      </p:sp>
      <p:sp>
        <p:nvSpPr>
          <p:cNvPr id="8" name="Text 6"/>
          <p:cNvSpPr/>
          <p:nvPr/>
        </p:nvSpPr>
        <p:spPr>
          <a:xfrm>
            <a:off x="8407400" y="2719189"/>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user stories, critères d'acceptation, estimation</a:t>
            </a:r>
            <a:endParaRPr lang="en-US" sz="1300" dirty="0"/>
          </a:p>
        </p:txBody>
      </p:sp>
      <p:sp>
        <p:nvSpPr>
          <p:cNvPr id="9" name="Text 7"/>
          <p:cNvSpPr/>
          <p:nvPr/>
        </p:nvSpPr>
        <p:spPr>
          <a:xfrm>
            <a:off x="7112000" y="333375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0:30–0:45</a:t>
            </a:r>
            <a:endParaRPr lang="en-US" sz="1300" dirty="0"/>
          </a:p>
        </p:txBody>
      </p:sp>
      <p:sp>
        <p:nvSpPr>
          <p:cNvPr id="10" name="Text 8"/>
          <p:cNvSpPr/>
          <p:nvPr/>
        </p:nvSpPr>
        <p:spPr>
          <a:xfrm>
            <a:off x="8407400" y="333375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Démo guidée de Jira</a:t>
            </a:r>
            <a:endParaRPr lang="en-US" sz="1300" dirty="0"/>
          </a:p>
        </p:txBody>
      </p:sp>
      <p:sp>
        <p:nvSpPr>
          <p:cNvPr id="11" name="Text 9"/>
          <p:cNvSpPr/>
          <p:nvPr/>
        </p:nvSpPr>
        <p:spPr>
          <a:xfrm>
            <a:off x="7112000" y="371723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0:45–1:45</a:t>
            </a:r>
            <a:endParaRPr lang="en-US" sz="1300" dirty="0"/>
          </a:p>
        </p:txBody>
      </p:sp>
      <p:sp>
        <p:nvSpPr>
          <p:cNvPr id="12" name="Text 10"/>
          <p:cNvSpPr/>
          <p:nvPr/>
        </p:nvSpPr>
        <p:spPr>
          <a:xfrm>
            <a:off x="8407400" y="371723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Étude de cas dans Jira</a:t>
            </a:r>
            <a:endParaRPr lang="en-US" sz="1300" dirty="0"/>
          </a:p>
        </p:txBody>
      </p:sp>
      <p:sp>
        <p:nvSpPr>
          <p:cNvPr id="13" name="Text 11"/>
          <p:cNvSpPr/>
          <p:nvPr/>
        </p:nvSpPr>
        <p:spPr>
          <a:xfrm>
            <a:off x="7112000" y="410071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1:45–2:00</a:t>
            </a:r>
            <a:endParaRPr lang="en-US" sz="1300" dirty="0"/>
          </a:p>
        </p:txBody>
      </p:sp>
      <p:sp>
        <p:nvSpPr>
          <p:cNvPr id="14" name="Text 12"/>
          <p:cNvSpPr/>
          <p:nvPr/>
        </p:nvSpPr>
        <p:spPr>
          <a:xfrm>
            <a:off x="8407400" y="410071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Revue croisée des backlogs</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LA USER STORY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Décrire un besoin, pas une solution</a:t>
            </a:r>
            <a:endParaRPr lang="en-US" sz="3200" dirty="0"/>
          </a:p>
        </p:txBody>
      </p:sp>
      <p:sp>
        <p:nvSpPr>
          <p:cNvPr id="4" name="Text 2"/>
          <p:cNvSpPr/>
          <p:nvPr/>
        </p:nvSpPr>
        <p:spPr>
          <a:xfrm>
            <a:off x="812800" y="1981101"/>
            <a:ext cx="5181600" cy="1079500"/>
          </a:xfrm>
          <a:prstGeom prst="roundRect">
            <a:avLst>
              <a:gd name="adj" fmla="val 9412"/>
            </a:avLst>
          </a:prstGeom>
          <a:solidFill>
            <a:srgbClr val="14213D"/>
          </a:solidFill>
          <a:ln/>
        </p:spPr>
        <p:txBody>
          <a:bodyPr wrap="square" lIns="224242" tIns="224242" rIns="84034" bIns="198842" rtlCol="0" anchor="t">
            <a:normAutofit/>
          </a:bodyPr>
          <a:lstStyle/>
          <a:p>
            <a:pPr algn="l" indent="0" marL="0">
              <a:lnSpc>
                <a:spcPts val="2250"/>
              </a:lnSpc>
              <a:buNone/>
            </a:pPr>
            <a:r>
              <a:rPr lang="en-US" sz="1500" dirty="0">
                <a:solidFill>
                  <a:srgbClr val="E4E9F1"/>
                </a:solidFill>
                <a:latin typeface="IBM Plex Sans" pitchFamily="34" charset="0"/>
                <a:ea typeface="IBM Plex Sans" pitchFamily="34" charset="-122"/>
                <a:cs typeface="IBM Plex Sans" pitchFamily="34" charset="-120"/>
              </a:rPr>
              <a:t>En tant que </a:t>
            </a:r>
            <a:r>
              <a:rPr lang="en-US" sz="1500" dirty="0">
                <a:solidFill>
                  <a:srgbClr val="F2A65A"/>
                </a:solidFill>
                <a:latin typeface="IBM Plex Sans" pitchFamily="34" charset="0"/>
                <a:ea typeface="IBM Plex Sans" pitchFamily="34" charset="-122"/>
                <a:cs typeface="IBM Plex Sans" pitchFamily="34" charset="-120"/>
              </a:rPr>
              <a:t>membre d'une association</a:t>
            </a:r>
            <a:r>
              <a:rPr lang="en-US" sz="1500" dirty="0">
                <a:solidFill>
                  <a:srgbClr val="E4E9F1"/>
                </a:solidFill>
                <a:latin typeface="IBM Plex Sans" pitchFamily="34" charset="0"/>
                <a:ea typeface="IBM Plex Sans" pitchFamily="34" charset="-122"/>
                <a:cs typeface="IBM Plex Sans" pitchFamily="34" charset="-120"/>
              </a:rPr>
              <a:t>, je veux </a:t>
            </a:r>
            <a:r>
              <a:rPr lang="en-US" sz="1500" dirty="0">
                <a:solidFill>
                  <a:srgbClr val="F2A65A"/>
                </a:solidFill>
                <a:latin typeface="IBM Plex Sans" pitchFamily="34" charset="0"/>
                <a:ea typeface="IBM Plex Sans" pitchFamily="34" charset="-122"/>
                <a:cs typeface="IBM Plex Sans" pitchFamily="34" charset="-120"/>
              </a:rPr>
              <a:t>m'inscrire à un événement</a:t>
            </a:r>
            <a:r>
              <a:rPr lang="en-US" sz="1500" dirty="0">
                <a:solidFill>
                  <a:srgbClr val="E4E9F1"/>
                </a:solidFill>
                <a:latin typeface="IBM Plex Sans" pitchFamily="34" charset="0"/>
                <a:ea typeface="IBM Plex Sans" pitchFamily="34" charset="-122"/>
                <a:cs typeface="IBM Plex Sans" pitchFamily="34" charset="-120"/>
              </a:rPr>
              <a:t> afin de </a:t>
            </a:r>
            <a:r>
              <a:rPr lang="en-US" sz="1500" dirty="0">
                <a:solidFill>
                  <a:srgbClr val="F2A65A"/>
                </a:solidFill>
                <a:latin typeface="IBM Plex Sans" pitchFamily="34" charset="0"/>
                <a:ea typeface="IBM Plex Sans" pitchFamily="34" charset="-122"/>
                <a:cs typeface="IBM Plex Sans" pitchFamily="34" charset="-120"/>
              </a:rPr>
              <a:t>réserver ma place</a:t>
            </a:r>
            <a:r>
              <a:rPr lang="en-US" sz="1500" dirty="0">
                <a:solidFill>
                  <a:srgbClr val="E4E9F1"/>
                </a:solidFill>
                <a:latin typeface="IBM Plex Sans" pitchFamily="34" charset="0"/>
                <a:ea typeface="IBM Plex Sans" pitchFamily="34" charset="-122"/>
                <a:cs typeface="IBM Plex Sans" pitchFamily="34" charset="-120"/>
              </a:rPr>
              <a:t>.</a:t>
            </a:r>
            <a:endParaRPr lang="en-US" sz="1500" dirty="0"/>
          </a:p>
        </p:txBody>
      </p:sp>
      <p:sp>
        <p:nvSpPr>
          <p:cNvPr id="5" name="Shape 3"/>
          <p:cNvSpPr/>
          <p:nvPr/>
        </p:nvSpPr>
        <p:spPr>
          <a:xfrm>
            <a:off x="815975" y="3190776"/>
            <a:ext cx="5175250" cy="1118791"/>
          </a:xfrm>
          <a:prstGeom prst="roundRect">
            <a:avLst>
              <a:gd name="adj" fmla="val 8797"/>
            </a:avLst>
          </a:prstGeom>
          <a:solidFill>
            <a:srgbClr val="FDFDFB"/>
          </a:solidFill>
          <a:ln w="6350">
            <a:solidFill>
              <a:srgbClr val="DCE1E8"/>
            </a:solidFill>
            <a:prstDash val="solid"/>
          </a:ln>
        </p:spPr>
      </p:sp>
      <p:sp>
        <p:nvSpPr>
          <p:cNvPr id="6" name="Text 4"/>
          <p:cNvSpPr/>
          <p:nvPr/>
        </p:nvSpPr>
        <p:spPr>
          <a:xfrm>
            <a:off x="1022350" y="3397151"/>
            <a:ext cx="490537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Une bonne story est INVEST</a:t>
            </a:r>
            <a:endParaRPr lang="en-US" sz="1400" dirty="0"/>
          </a:p>
        </p:txBody>
      </p:sp>
      <p:sp>
        <p:nvSpPr>
          <p:cNvPr id="7" name="Text 5"/>
          <p:cNvSpPr/>
          <p:nvPr/>
        </p:nvSpPr>
        <p:spPr>
          <a:xfrm>
            <a:off x="1022350" y="3661271"/>
            <a:ext cx="4905375"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3D4A5C"/>
                </a:solidFill>
                <a:latin typeface="IBM Plex Sans" pitchFamily="34" charset="0"/>
                <a:ea typeface="IBM Plex Sans" pitchFamily="34" charset="-122"/>
                <a:cs typeface="IBM Plex Sans" pitchFamily="34" charset="-120"/>
              </a:rPr>
              <a:t>Indépendante · Négociable · porteuse de Valeur · Estimable · petite (Small) · Testable</a:t>
            </a:r>
            <a:endParaRPr lang="en-US" sz="1200" dirty="0"/>
          </a:p>
        </p:txBody>
      </p:sp>
      <p:sp>
        <p:nvSpPr>
          <p:cNvPr id="8" name="Shape 6"/>
          <p:cNvSpPr/>
          <p:nvPr/>
        </p:nvSpPr>
        <p:spPr>
          <a:xfrm>
            <a:off x="6200775" y="1984276"/>
            <a:ext cx="5175250" cy="2325291"/>
          </a:xfrm>
          <a:prstGeom prst="roundRect">
            <a:avLst>
              <a:gd name="adj" fmla="val 4233"/>
            </a:avLst>
          </a:prstGeom>
          <a:solidFill>
            <a:srgbClr val="FDFDFB"/>
          </a:solidFill>
          <a:ln w="6350">
            <a:solidFill>
              <a:srgbClr val="DCE1E8"/>
            </a:solidFill>
            <a:prstDash val="solid"/>
          </a:ln>
        </p:spPr>
      </p:sp>
      <p:sp>
        <p:nvSpPr>
          <p:cNvPr id="9" name="Text 7"/>
          <p:cNvSpPr/>
          <p:nvPr/>
        </p:nvSpPr>
        <p:spPr>
          <a:xfrm>
            <a:off x="6457950" y="2241451"/>
            <a:ext cx="480072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Critères d'acceptation</a:t>
            </a:r>
            <a:endParaRPr lang="en-US" sz="1400" dirty="0"/>
          </a:p>
        </p:txBody>
      </p:sp>
      <p:sp>
        <p:nvSpPr>
          <p:cNvPr id="10" name="Text 8"/>
          <p:cNvSpPr/>
          <p:nvPr/>
        </p:nvSpPr>
        <p:spPr>
          <a:xfrm>
            <a:off x="6457950" y="2530971"/>
            <a:ext cx="4800727" cy="10160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3D4A5C"/>
                </a:solidFill>
                <a:latin typeface="IBM Plex Sans" pitchFamily="34" charset="0"/>
                <a:ea typeface="IBM Plex Sans" pitchFamily="34" charset="-122"/>
                <a:cs typeface="IBM Plex Sans" pitchFamily="34" charset="-120"/>
              </a:rPr>
              <a:t>Étant donné</a:t>
            </a:r>
            <a:r>
              <a:rPr lang="en-US" sz="1300" dirty="0">
                <a:solidFill>
                  <a:srgbClr val="3D4A5C"/>
                </a:solidFill>
                <a:latin typeface="IBM Plex Sans" pitchFamily="34" charset="0"/>
                <a:ea typeface="IBM Plex Sans" pitchFamily="34" charset="-122"/>
                <a:cs typeface="IBM Plex Sans" pitchFamily="34" charset="-120"/>
              </a:rPr>
              <a:t> que je suis membre du Club Photo</a:t>
            </a:r>
            <a:endParaRPr lang="en-US" sz="1300" dirty="0"/>
          </a:p>
          <a:p>
            <a:pPr algn="l" indent="0" marL="0">
              <a:lnSpc>
                <a:spcPts val="1950"/>
              </a:lnSpc>
              <a:buNone/>
            </a:pPr>
            <a:r>
              <a:rPr lang="en-US" sz="1300" b="1" dirty="0">
                <a:solidFill>
                  <a:srgbClr val="3D4A5C"/>
                </a:solidFill>
                <a:latin typeface="IBM Plex Sans" pitchFamily="34" charset="0"/>
                <a:ea typeface="IBM Plex Sans" pitchFamily="34" charset="-122"/>
                <a:cs typeface="IBM Plex Sans" pitchFamily="34" charset="-120"/>
              </a:rPr>
              <a:t>Quand</a:t>
            </a:r>
            <a:r>
              <a:rPr lang="en-US" sz="1300" dirty="0">
                <a:solidFill>
                  <a:srgbClr val="3D4A5C"/>
                </a:solidFill>
                <a:latin typeface="IBM Plex Sans" pitchFamily="34" charset="0"/>
                <a:ea typeface="IBM Plex Sans" pitchFamily="34" charset="-122"/>
                <a:cs typeface="IBM Plex Sans" pitchFamily="34" charset="-120"/>
              </a:rPr>
              <a:t> je clique sur « S'inscrire » pour l'Expo de mai</a:t>
            </a:r>
            <a:endParaRPr lang="en-US" sz="1300" dirty="0"/>
          </a:p>
          <a:p>
            <a:pPr algn="l" indent="0" marL="0">
              <a:lnSpc>
                <a:spcPts val="1950"/>
              </a:lnSpc>
              <a:buNone/>
            </a:pPr>
            <a:r>
              <a:rPr lang="en-US" sz="1300" b="1" dirty="0">
                <a:solidFill>
                  <a:srgbClr val="3D4A5C"/>
                </a:solidFill>
                <a:latin typeface="IBM Plex Sans" pitchFamily="34" charset="0"/>
                <a:ea typeface="IBM Plex Sans" pitchFamily="34" charset="-122"/>
                <a:cs typeface="IBM Plex Sans" pitchFamily="34" charset="-120"/>
              </a:rPr>
              <a:t>Alors</a:t>
            </a:r>
            <a:r>
              <a:rPr lang="en-US" sz="1300" dirty="0">
                <a:solidFill>
                  <a:srgbClr val="3D4A5C"/>
                </a:solidFill>
                <a:latin typeface="IBM Plex Sans" pitchFamily="34" charset="0"/>
                <a:ea typeface="IBM Plex Sans" pitchFamily="34" charset="-122"/>
                <a:cs typeface="IBM Plex Sans" pitchFamily="34" charset="-120"/>
              </a:rPr>
              <a:t> je reçois une confirmation par e-mail</a:t>
            </a:r>
            <a:endParaRPr lang="en-US" sz="1300" dirty="0"/>
          </a:p>
          <a:p>
            <a:pPr algn="l" indent="0" marL="0">
              <a:lnSpc>
                <a:spcPts val="1950"/>
              </a:lnSpc>
              <a:buNone/>
            </a:pPr>
            <a:r>
              <a:rPr lang="en-US" sz="1300" b="1" dirty="0">
                <a:solidFill>
                  <a:srgbClr val="3D4A5C"/>
                </a:solidFill>
                <a:latin typeface="IBM Plex Sans" pitchFamily="34" charset="0"/>
                <a:ea typeface="IBM Plex Sans" pitchFamily="34" charset="-122"/>
                <a:cs typeface="IBM Plex Sans" pitchFamily="34" charset="-120"/>
              </a:rPr>
              <a:t>Et</a:t>
            </a:r>
            <a:r>
              <a:rPr lang="en-US" sz="1300" dirty="0">
                <a:solidFill>
                  <a:srgbClr val="3D4A5C"/>
                </a:solidFill>
                <a:latin typeface="IBM Plex Sans" pitchFamily="34" charset="0"/>
                <a:ea typeface="IBM Plex Sans" pitchFamily="34" charset="-122"/>
                <a:cs typeface="IBM Plex Sans" pitchFamily="34" charset="-120"/>
              </a:rPr>
              <a:t> les places restantes diminuent de 1</a:t>
            </a:r>
            <a:endParaRPr lang="en-US" sz="13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Atlassian, « User stories » · B. Wake, « INVEST in Good Stories » (2003) · syntaxe Gherkin, cucumber.io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JIRA</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Les objets à connaître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514898"/>
        </p:xfrm>
        <a:graphic>
          <a:graphicData uri="http://schemas.openxmlformats.org/drawingml/2006/table">
            <a:tbl>
              <a:tblPr/>
              <a:tblGrid>
                <a:gridCol w="2110740"/>
                <a:gridCol w="4221480"/>
                <a:gridCol w="4221480"/>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Objet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Rôle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Exemple CampusLink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Epic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Grand ensemble fonctionnel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Gestion des événements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Besoin livrable en un sprint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S'inscrire à un événement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Sub-task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Travail technique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Créer la table inscriptions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Bug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Anomalie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Crash Android sur la liste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Boîte de temps de 2 semaines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Board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À faire / En cours / Terminé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Tableau de la squad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5" name="Text 2"/>
          <p:cNvSpPr/>
          <p:nvPr/>
        </p:nvSpPr>
        <p:spPr>
          <a:xfrm>
            <a:off x="812800" y="4610298"/>
            <a:ext cx="10566400" cy="655241"/>
          </a:xfrm>
          <a:prstGeom prst="roundRect">
            <a:avLst>
              <a:gd name="adj" fmla="val 15506"/>
            </a:avLst>
          </a:prstGeom>
          <a:solidFill>
            <a:srgbClr val="E9EDF3"/>
          </a:solidFill>
          <a:ln/>
        </p:spPr>
        <p:txBody>
          <a:bodyPr wrap="square" lIns="224242" tIns="173442" rIns="0" bIns="148042"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Estimer en story points :</a:t>
            </a:r>
            <a:r>
              <a:rPr lang="en-US" sz="1400" dirty="0">
                <a:solidFill>
                  <a:srgbClr val="3D4A5C"/>
                </a:solidFill>
                <a:latin typeface="IBM Plex Sans" pitchFamily="34" charset="0"/>
                <a:ea typeface="IBM Plex Sans" pitchFamily="34" charset="-122"/>
                <a:cs typeface="IBM Plex Sans" pitchFamily="34" charset="-120"/>
              </a:rPr>
              <a:t> un effort relatif, pas des heures. Planning poker en Fibonacci : 1, 2, 3, 5, 8, 13.</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Atlassian, « Story points » et « Tutoriel Scrum avec Jira »</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EN GROUPE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Du cahier des charges au backlog</a:t>
            </a:r>
            <a:endParaRPr lang="en-US" sz="3200" dirty="0"/>
          </a:p>
        </p:txBody>
      </p:sp>
      <p:sp>
        <p:nvSpPr>
          <p:cNvPr id="4" name="Shape 2"/>
          <p:cNvSpPr/>
          <p:nvPr/>
        </p:nvSpPr>
        <p:spPr>
          <a:xfrm>
            <a:off x="812800" y="1981101"/>
            <a:ext cx="6705600" cy="2458045"/>
          </a:xfrm>
          <a:prstGeom prst="roundRect">
            <a:avLst>
              <a:gd name="adj" fmla="val 4133"/>
            </a:avLst>
          </a:prstGeom>
          <a:solidFill>
            <a:srgbClr val="FDFDFB"/>
          </a:solidFill>
          <a:ln/>
        </p:spPr>
      </p:sp>
      <p:sp>
        <p:nvSpPr>
          <p:cNvPr id="5" name="Shape 3"/>
          <p:cNvSpPr/>
          <p:nvPr/>
        </p:nvSpPr>
        <p:spPr>
          <a:xfrm>
            <a:off x="812800" y="1981101"/>
            <a:ext cx="6705600" cy="2458045"/>
          </a:xfrm>
          <a:custGeom>
            <a:avLst/>
            <a:gdLst/>
            <a:ahLst/>
            <a:cxnLst/>
            <a:rect l="l" t="t" r="r" b="b"/>
            <a:pathLst>
              <a:path w="6705600" h="2458045">
                <a:moveTo>
                  <a:pt x="101600" y="2458045"/>
                </a:moveTo>
                <a:lnTo>
                  <a:pt x="101600" y="2458045"/>
                </a:lnTo>
                <a:arcTo hR="101600" wR="101600" stAng="5400000" swAng="5400000"/>
                <a:lnTo>
                  <a:pt x="0" y="101600"/>
                </a:lnTo>
                <a:arcTo hR="101600" wR="101600" stAng="10800000" swAng="5400000"/>
                <a:lnTo>
                  <a:pt x="101600" y="0"/>
                </a:lnTo>
                <a:arcTo hR="101600" wR="50800" stAng="16200000" swAng="-5400000"/>
                <a:lnTo>
                  <a:pt x="50800" y="2356445"/>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E-MAIL DU CLIENT</a:t>
            </a:r>
            <a:endParaRPr lang="en-US" sz="1200" dirty="0"/>
          </a:p>
        </p:txBody>
      </p:sp>
      <p:sp>
        <p:nvSpPr>
          <p:cNvPr id="7" name="Text 5"/>
          <p:cNvSpPr/>
          <p:nvPr/>
        </p:nvSpPr>
        <p:spPr>
          <a:xfrm>
            <a:off x="1168400" y="2626221"/>
            <a:ext cx="6226556"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La Fédération des associations étudiantes veut que ses 40 associations puissent publier des événements, gérer les adhésions, encaisser les cotisations, envoyer des notifications… </a:t>
            </a:r>
            <a:r>
              <a:rPr lang="en-US" sz="1500" i="1" dirty="0">
                <a:solidFill>
                  <a:srgbClr val="14213D"/>
                </a:solidFill>
                <a:latin typeface="IBM Plex Sans" pitchFamily="34" charset="0"/>
                <a:ea typeface="IBM Plex Sans" pitchFamily="34" charset="-122"/>
                <a:cs typeface="IBM Plex Sans" pitchFamily="34" charset="-120"/>
              </a:rPr>
              <a:t>« et si possible un chat »</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6"/>
          <p:cNvSpPr/>
          <p:nvPr/>
        </p:nvSpPr>
        <p:spPr>
          <a:xfrm>
            <a:off x="1168400" y="3858121"/>
            <a:ext cx="6226556"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Première version pour la rentrée de janvier.</a:t>
            </a:r>
            <a:endParaRPr lang="en-US" sz="1500" dirty="0"/>
          </a:p>
        </p:txBody>
      </p:sp>
      <p:sp>
        <p:nvSpPr>
          <p:cNvPr id="9" name="Shape 7"/>
          <p:cNvSpPr/>
          <p:nvPr/>
        </p:nvSpPr>
        <p:spPr>
          <a:xfrm>
            <a:off x="7823200" y="1981101"/>
            <a:ext cx="3556000" cy="2458045"/>
          </a:xfrm>
          <a:prstGeom prst="roundRect">
            <a:avLst>
              <a:gd name="adj" fmla="val 4133"/>
            </a:avLst>
          </a:prstGeom>
          <a:solidFill>
            <a:srgbClr val="14213D"/>
          </a:solidFill>
          <a:ln/>
        </p:spPr>
      </p:sp>
      <p:sp>
        <p:nvSpPr>
          <p:cNvPr id="10" name="Text 8"/>
          <p:cNvSpPr/>
          <p:nvPr/>
        </p:nvSpPr>
        <p:spPr>
          <a:xfrm>
            <a:off x="8128000" y="22859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Livrable</a:t>
            </a:r>
            <a:endParaRPr lang="en-US" sz="1600" dirty="0"/>
          </a:p>
        </p:txBody>
      </p:sp>
      <p:sp>
        <p:nvSpPr>
          <p:cNvPr id="11" name="Text 9"/>
          <p:cNvSpPr/>
          <p:nvPr/>
        </p:nvSpPr>
        <p:spPr>
          <a:xfrm>
            <a:off x="8128000" y="2656681"/>
            <a:ext cx="303479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Le projet Jira de la squad : epics, stories estimées, Sprint 1 démarré avec son objectif.</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4</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60 MIN</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Découper, écrire, estimer, planifier</a:t>
            </a:r>
            <a:endParaRPr lang="en-US" sz="3200" dirty="0"/>
          </a:p>
        </p:txBody>
      </p:sp>
      <p:sp>
        <p:nvSpPr>
          <p:cNvPr id="4" name="Shape 2"/>
          <p:cNvSpPr/>
          <p:nvPr/>
        </p:nvSpPr>
        <p:spPr>
          <a:xfrm>
            <a:off x="812800" y="1828701"/>
            <a:ext cx="10566400" cy="706041"/>
          </a:xfrm>
          <a:prstGeom prst="roundRect">
            <a:avLst>
              <a:gd name="adj" fmla="val 14390"/>
            </a:avLst>
          </a:prstGeom>
          <a:solidFill>
            <a:srgbClr val="FDFDFB"/>
          </a:solidFill>
          <a:ln/>
        </p:spPr>
      </p:sp>
      <p:sp>
        <p:nvSpPr>
          <p:cNvPr id="5" name="Text 3"/>
          <p:cNvSpPr/>
          <p:nvPr/>
        </p:nvSpPr>
        <p:spPr>
          <a:xfrm>
            <a:off x="1066800" y="20065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6" name="Text 4"/>
          <p:cNvSpPr/>
          <p:nvPr/>
        </p:nvSpPr>
        <p:spPr>
          <a:xfrm>
            <a:off x="2222500" y="20573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Identifiez 3 à 4 epics et créez-les dans Jira.</a:t>
            </a:r>
            <a:endParaRPr lang="en-US" sz="1400" dirty="0"/>
          </a:p>
        </p:txBody>
      </p:sp>
      <p:sp>
        <p:nvSpPr>
          <p:cNvPr id="7" name="Shape 5"/>
          <p:cNvSpPr/>
          <p:nvPr/>
        </p:nvSpPr>
        <p:spPr>
          <a:xfrm>
            <a:off x="812800" y="2712541"/>
            <a:ext cx="10566400" cy="706041"/>
          </a:xfrm>
          <a:prstGeom prst="roundRect">
            <a:avLst>
              <a:gd name="adj" fmla="val 14390"/>
            </a:avLst>
          </a:prstGeom>
          <a:solidFill>
            <a:srgbClr val="FDFDFB"/>
          </a:solidFill>
          <a:ln/>
        </p:spPr>
      </p:sp>
      <p:sp>
        <p:nvSpPr>
          <p:cNvPr id="8" name="Text 6"/>
          <p:cNvSpPr/>
          <p:nvPr/>
        </p:nvSpPr>
        <p:spPr>
          <a:xfrm>
            <a:off x="1066800" y="289034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20 min</a:t>
            </a:r>
            <a:endParaRPr lang="en-US" sz="1400" dirty="0"/>
          </a:p>
        </p:txBody>
      </p:sp>
      <p:sp>
        <p:nvSpPr>
          <p:cNvPr id="9" name="Text 7"/>
          <p:cNvSpPr/>
          <p:nvPr/>
        </p:nvSpPr>
        <p:spPr>
          <a:xfrm>
            <a:off x="2222500" y="294114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Rédigez au moins 10 stories INVEST, dont 3 avec critères Given/When/Then.</a:t>
            </a:r>
            <a:endParaRPr lang="en-US" sz="1400" dirty="0"/>
          </a:p>
        </p:txBody>
      </p:sp>
      <p:sp>
        <p:nvSpPr>
          <p:cNvPr id="10" name="Shape 8"/>
          <p:cNvSpPr/>
          <p:nvPr/>
        </p:nvSpPr>
        <p:spPr>
          <a:xfrm>
            <a:off x="812800" y="3596382"/>
            <a:ext cx="10566400" cy="706041"/>
          </a:xfrm>
          <a:prstGeom prst="roundRect">
            <a:avLst>
              <a:gd name="adj" fmla="val 14390"/>
            </a:avLst>
          </a:prstGeom>
          <a:solidFill>
            <a:srgbClr val="FDFDFB"/>
          </a:solidFill>
          <a:ln/>
        </p:spPr>
      </p:sp>
      <p:sp>
        <p:nvSpPr>
          <p:cNvPr id="11" name="Text 9"/>
          <p:cNvSpPr/>
          <p:nvPr/>
        </p:nvSpPr>
        <p:spPr>
          <a:xfrm>
            <a:off x="1066800" y="377418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10 min</a:t>
            </a:r>
            <a:endParaRPr lang="en-US" sz="1400" dirty="0"/>
          </a:p>
        </p:txBody>
      </p:sp>
      <p:sp>
        <p:nvSpPr>
          <p:cNvPr id="12" name="Text 10"/>
          <p:cNvSpPr/>
          <p:nvPr/>
        </p:nvSpPr>
        <p:spPr>
          <a:xfrm>
            <a:off x="2222500" y="3824982"/>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Estimez en planning poker.</a:t>
            </a:r>
            <a:endParaRPr lang="en-US" sz="1400" dirty="0"/>
          </a:p>
        </p:txBody>
      </p:sp>
      <p:sp>
        <p:nvSpPr>
          <p:cNvPr id="13" name="Shape 11"/>
          <p:cNvSpPr/>
          <p:nvPr/>
        </p:nvSpPr>
        <p:spPr>
          <a:xfrm>
            <a:off x="812800" y="4480223"/>
            <a:ext cx="10566400" cy="706041"/>
          </a:xfrm>
          <a:prstGeom prst="roundRect">
            <a:avLst>
              <a:gd name="adj" fmla="val 14390"/>
            </a:avLst>
          </a:prstGeom>
          <a:solidFill>
            <a:srgbClr val="FDFDFB"/>
          </a:solidFill>
          <a:ln/>
        </p:spPr>
      </p:sp>
      <p:sp>
        <p:nvSpPr>
          <p:cNvPr id="14" name="Text 12"/>
          <p:cNvSpPr/>
          <p:nvPr/>
        </p:nvSpPr>
        <p:spPr>
          <a:xfrm>
            <a:off x="1066800" y="4658023"/>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15" name="Text 13"/>
          <p:cNvSpPr/>
          <p:nvPr/>
        </p:nvSpPr>
        <p:spPr>
          <a:xfrm>
            <a:off x="2222500" y="4708823"/>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Le PO priorise ; créez le Sprint 1 : objectif en une phrase, capacité de 20 points.</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4</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Prioriser, c'est dire non</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Où avez-vous placé le « chat » dans le backlog ? Pourquoi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Quelles stories étaient trop grosses (13+) ? Comment les découper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Priorité du client ou valeur pour l'utilisateur : qui a tranché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Avant la séance 5 :</a:t>
            </a:r>
            <a:r>
              <a:rPr lang="en-US" sz="1500" dirty="0">
                <a:solidFill>
                  <a:srgbClr val="14213D"/>
                </a:solidFill>
                <a:latin typeface="IBM Plex Sans" pitchFamily="34" charset="0"/>
                <a:ea typeface="IBM Plex Sans" pitchFamily="34" charset="-122"/>
                <a:cs typeface="IBM Plex Sans" pitchFamily="34" charset="-120"/>
              </a:rPr>
              <a:t> compte GitHub créé, Git et VS Code installés, 20 min sur Learn Git Branching.</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5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Coder à plusieurs avec Git</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Branche, commit, pull request, revue, fusion… et un vrai conflit à résoudre en équipe.</a:t>
            </a:r>
            <a:endParaRPr lang="en-US" sz="1600" dirty="0"/>
          </a:p>
        </p:txBody>
      </p:sp>
      <p:sp>
        <p:nvSpPr>
          <p:cNvPr id="5" name="Shape 3"/>
          <p:cNvSpPr/>
          <p:nvPr/>
        </p:nvSpPr>
        <p:spPr>
          <a:xfrm>
            <a:off x="6807200" y="2209899"/>
            <a:ext cx="4572000" cy="2234902"/>
          </a:xfrm>
          <a:prstGeom prst="roundRect">
            <a:avLst>
              <a:gd name="adj" fmla="val 4546"/>
            </a:avLst>
          </a:prstGeom>
          <a:solidFill>
            <a:srgbClr val="1E2D4F"/>
          </a:solidFill>
          <a:ln/>
        </p:spPr>
      </p:sp>
      <p:sp>
        <p:nvSpPr>
          <p:cNvPr id="6" name="Text 4"/>
          <p:cNvSpPr/>
          <p:nvPr/>
        </p:nvSpPr>
        <p:spPr>
          <a:xfrm>
            <a:off x="7112000" y="251469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91088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0:00–0:35</a:t>
            </a:r>
            <a:endParaRPr lang="en-US" sz="1300" dirty="0"/>
          </a:p>
        </p:txBody>
      </p:sp>
      <p:sp>
        <p:nvSpPr>
          <p:cNvPr id="8" name="Text 6"/>
          <p:cNvSpPr/>
          <p:nvPr/>
        </p:nvSpPr>
        <p:spPr>
          <a:xfrm>
            <a:off x="8407400" y="291088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et démo en direct</a:t>
            </a:r>
            <a:endParaRPr lang="en-US" sz="1300" dirty="0"/>
          </a:p>
        </p:txBody>
      </p:sp>
      <p:sp>
        <p:nvSpPr>
          <p:cNvPr id="9" name="Text 7"/>
          <p:cNvSpPr/>
          <p:nvPr/>
        </p:nvSpPr>
        <p:spPr>
          <a:xfrm>
            <a:off x="7112000" y="329436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0:35–1:45</a:t>
            </a:r>
            <a:endParaRPr lang="en-US" sz="1300" dirty="0"/>
          </a:p>
        </p:txBody>
      </p:sp>
      <p:sp>
        <p:nvSpPr>
          <p:cNvPr id="10" name="Text 8"/>
          <p:cNvSpPr/>
          <p:nvPr/>
        </p:nvSpPr>
        <p:spPr>
          <a:xfrm>
            <a:off x="8407400" y="329436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Étude de cas sur un vrai dépôt</a:t>
            </a:r>
            <a:endParaRPr lang="en-US" sz="1300" dirty="0"/>
          </a:p>
        </p:txBody>
      </p:sp>
      <p:sp>
        <p:nvSpPr>
          <p:cNvPr id="11" name="Text 9"/>
          <p:cNvSpPr/>
          <p:nvPr/>
        </p:nvSpPr>
        <p:spPr>
          <a:xfrm>
            <a:off x="7112000" y="3677841"/>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1:45–2:00</a:t>
            </a:r>
            <a:endParaRPr lang="en-US" sz="1300" dirty="0"/>
          </a:p>
        </p:txBody>
      </p:sp>
      <p:sp>
        <p:nvSpPr>
          <p:cNvPr id="12" name="Text 10"/>
          <p:cNvSpPr/>
          <p:nvPr/>
        </p:nvSpPr>
        <p:spPr>
          <a:xfrm>
            <a:off x="8407400" y="3677841"/>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Chaque groupe montre son historique</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GIT · LE VOCABULAIRE MINIMUM</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Un historique partagé, avec des branches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514898"/>
        </p:xfrm>
        <a:graphic>
          <a:graphicData uri="http://schemas.openxmlformats.org/drawingml/2006/table">
            <a:tbl>
              <a:tblPr/>
              <a:tblGrid>
                <a:gridCol w="2532888"/>
                <a:gridCol w="4010406"/>
                <a:gridCol w="4010406"/>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Terme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Sens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Commande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Dépôt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Le projet et tout son historique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git clone &lt;url&gt;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Commit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Une photo des changements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git add · git commit -m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Branche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Une ligne de travail parallèle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git switch -c feature/CL-12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Push / Pull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Envoyer / récupérer du serveur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git push · git pull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Pull request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Demande de fusion avec revue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Interface GitHub / GitLab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Conflit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Mêmes lignes modifiées par deux personnes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Résolution dans VS 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5" name="Text 2"/>
          <p:cNvSpPr/>
          <p:nvPr/>
        </p:nvSpPr>
        <p:spPr>
          <a:xfrm>
            <a:off x="812800" y="461029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Comme l'historique des versions d'un Google Doc, mais pour un projet entier.</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 : Pro Git, S. Chacon et B. Straub, chapitres 1 à 3 · git-scm.com/book/fr/v2</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GITHUB FLOW</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main reste toujours stable</a:t>
            </a:r>
            <a:endParaRPr lang="en-US" sz="3200" dirty="0"/>
          </a:p>
        </p:txBody>
      </p:sp>
      <p:sp>
        <p:nvSpPr>
          <p:cNvPr id="4" name="Text 2"/>
          <p:cNvSpPr/>
          <p:nvPr/>
        </p:nvSpPr>
        <p:spPr>
          <a:xfrm>
            <a:off x="812800" y="1981101"/>
            <a:ext cx="1808460" cy="535880"/>
          </a:xfrm>
          <a:prstGeom prst="roundRect">
            <a:avLst>
              <a:gd name="adj" fmla="val 18959"/>
            </a:avLst>
          </a:prstGeom>
          <a:solidFill>
            <a:srgbClr val="14213D"/>
          </a:solidFill>
          <a:ln/>
        </p:spPr>
        <p:txBody>
          <a:bodyPr wrap="square" lIns="122642" tIns="122642" rIns="122642" bIns="97242" rtlCol="0" anchor="t">
            <a:normAutofit/>
          </a:bodyPr>
          <a:lstStyle/>
          <a:p>
            <a:pPr algn="ct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Branche</a:t>
            </a:r>
            <a:endParaRPr lang="en-US" sz="1300" dirty="0"/>
          </a:p>
        </p:txBody>
      </p:sp>
      <p:pic>
        <p:nvPicPr>
          <p:cNvPr id="5" name="Image 0" descr="arrow-right">    </p:cNvPr>
          <p:cNvPicPr>
            <a:picLocks noChangeAspect="1"/>
          </p:cNvPicPr>
          <p:nvPr/>
        </p:nvPicPr>
        <p:blipFill>
          <a:blip r:embed="rId1"/>
          <a:srcRect l="0" r="0" t="0" b="0"/>
          <a:stretch/>
        </p:blipFill>
        <p:spPr>
          <a:xfrm>
            <a:off x="2697460" y="2179141"/>
            <a:ext cx="228600" cy="139700"/>
          </a:xfrm>
          <a:prstGeom prst="rect">
            <a:avLst/>
          </a:prstGeom>
        </p:spPr>
      </p:pic>
      <p:sp>
        <p:nvSpPr>
          <p:cNvPr id="6" name="Text 3"/>
          <p:cNvSpPr/>
          <p:nvPr/>
        </p:nvSpPr>
        <p:spPr>
          <a:xfrm>
            <a:off x="3002260" y="1981101"/>
            <a:ext cx="1808559" cy="535880"/>
          </a:xfrm>
          <a:prstGeom prst="roundRect">
            <a:avLst>
              <a:gd name="adj" fmla="val 18959"/>
            </a:avLst>
          </a:prstGeom>
          <a:solidFill>
            <a:srgbClr val="14213D"/>
          </a:solidFill>
          <a:ln/>
        </p:spPr>
        <p:txBody>
          <a:bodyPr wrap="square" lIns="122642" tIns="122642" rIns="122642" bIns="97242" rtlCol="0" anchor="t">
            <a:normAutofit/>
          </a:bodyPr>
          <a:lstStyle/>
          <a:p>
            <a:pPr algn="ct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Commits</a:t>
            </a:r>
            <a:endParaRPr lang="en-US" sz="1300" dirty="0"/>
          </a:p>
        </p:txBody>
      </p:sp>
      <p:pic>
        <p:nvPicPr>
          <p:cNvPr id="7" name="Image 1" descr="arrow-right">    </p:cNvPr>
          <p:cNvPicPr>
            <a:picLocks noChangeAspect="1"/>
          </p:cNvPicPr>
          <p:nvPr/>
        </p:nvPicPr>
        <p:blipFill>
          <a:blip r:embed="rId2"/>
          <a:srcRect l="0" r="0" t="0" b="0"/>
          <a:stretch/>
        </p:blipFill>
        <p:spPr>
          <a:xfrm>
            <a:off x="4887020" y="2179141"/>
            <a:ext cx="228600" cy="139700"/>
          </a:xfrm>
          <a:prstGeom prst="rect">
            <a:avLst/>
          </a:prstGeom>
        </p:spPr>
      </p:pic>
      <p:sp>
        <p:nvSpPr>
          <p:cNvPr id="8" name="Text 4"/>
          <p:cNvSpPr/>
          <p:nvPr/>
        </p:nvSpPr>
        <p:spPr>
          <a:xfrm>
            <a:off x="5191820" y="1981101"/>
            <a:ext cx="1808460" cy="535880"/>
          </a:xfrm>
          <a:prstGeom prst="roundRect">
            <a:avLst>
              <a:gd name="adj" fmla="val 18959"/>
            </a:avLst>
          </a:prstGeom>
          <a:solidFill>
            <a:srgbClr val="14213D"/>
          </a:solidFill>
          <a:ln/>
        </p:spPr>
        <p:txBody>
          <a:bodyPr wrap="square" lIns="122642" tIns="122642" rIns="122642" bIns="97242" rtlCol="0" anchor="t">
            <a:normAutofit/>
          </a:bodyPr>
          <a:lstStyle/>
          <a:p>
            <a:pPr algn="ct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Pull request</a:t>
            </a:r>
            <a:endParaRPr lang="en-US" sz="1300" dirty="0"/>
          </a:p>
        </p:txBody>
      </p:sp>
      <p:pic>
        <p:nvPicPr>
          <p:cNvPr id="9" name="Image 2" descr="arrow-right">    </p:cNvPr>
          <p:cNvPicPr>
            <a:picLocks noChangeAspect="1"/>
          </p:cNvPicPr>
          <p:nvPr/>
        </p:nvPicPr>
        <p:blipFill>
          <a:blip r:embed="rId3"/>
          <a:srcRect l="0" r="0" t="0" b="0"/>
          <a:stretch/>
        </p:blipFill>
        <p:spPr>
          <a:xfrm>
            <a:off x="7076480" y="2179141"/>
            <a:ext cx="228600" cy="139700"/>
          </a:xfrm>
          <a:prstGeom prst="rect">
            <a:avLst/>
          </a:prstGeom>
        </p:spPr>
      </p:pic>
      <p:sp>
        <p:nvSpPr>
          <p:cNvPr id="10" name="Text 5"/>
          <p:cNvSpPr/>
          <p:nvPr/>
        </p:nvSpPr>
        <p:spPr>
          <a:xfrm>
            <a:off x="7381280" y="1981101"/>
            <a:ext cx="1808460" cy="535880"/>
          </a:xfrm>
          <a:prstGeom prst="roundRect">
            <a:avLst>
              <a:gd name="adj" fmla="val 18959"/>
            </a:avLst>
          </a:prstGeom>
          <a:solidFill>
            <a:srgbClr val="B04E15"/>
          </a:solidFill>
          <a:ln/>
        </p:spPr>
        <p:txBody>
          <a:bodyPr wrap="square" lIns="122642" tIns="122642" rIns="122642" bIns="97242" rtlCol="0" anchor="t">
            <a:normAutofit/>
          </a:bodyPr>
          <a:lstStyle/>
          <a:p>
            <a:pPr algn="ct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Revue</a:t>
            </a:r>
            <a:endParaRPr lang="en-US" sz="1300" dirty="0"/>
          </a:p>
        </p:txBody>
      </p:sp>
      <p:pic>
        <p:nvPicPr>
          <p:cNvPr id="11" name="Image 3" descr="arrow-right">    </p:cNvPr>
          <p:cNvPicPr>
            <a:picLocks noChangeAspect="1"/>
          </p:cNvPicPr>
          <p:nvPr/>
        </p:nvPicPr>
        <p:blipFill>
          <a:blip r:embed="rId4"/>
          <a:srcRect l="0" r="0" t="0" b="0"/>
          <a:stretch/>
        </p:blipFill>
        <p:spPr>
          <a:xfrm>
            <a:off x="9265940" y="2179141"/>
            <a:ext cx="228600" cy="139700"/>
          </a:xfrm>
          <a:prstGeom prst="rect">
            <a:avLst/>
          </a:prstGeom>
        </p:spPr>
      </p:pic>
      <p:sp>
        <p:nvSpPr>
          <p:cNvPr id="12" name="Text 6"/>
          <p:cNvSpPr/>
          <p:nvPr/>
        </p:nvSpPr>
        <p:spPr>
          <a:xfrm>
            <a:off x="9570740" y="1981101"/>
            <a:ext cx="1808460" cy="535880"/>
          </a:xfrm>
          <a:prstGeom prst="roundRect">
            <a:avLst>
              <a:gd name="adj" fmla="val 18959"/>
            </a:avLst>
          </a:prstGeom>
          <a:solidFill>
            <a:srgbClr val="14213D"/>
          </a:solidFill>
          <a:ln/>
        </p:spPr>
        <p:txBody>
          <a:bodyPr wrap="square" lIns="122642" tIns="122642" rIns="122642" bIns="97242" rtlCol="0" anchor="t">
            <a:normAutofit/>
          </a:bodyPr>
          <a:lstStyle/>
          <a:p>
            <a:pPr algn="ct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Fusion</a:t>
            </a:r>
            <a:endParaRPr lang="en-US" sz="1300" dirty="0"/>
          </a:p>
        </p:txBody>
      </p:sp>
      <p:sp>
        <p:nvSpPr>
          <p:cNvPr id="13" name="Shape 7"/>
          <p:cNvSpPr/>
          <p:nvPr/>
        </p:nvSpPr>
        <p:spPr>
          <a:xfrm>
            <a:off x="815975" y="2774156"/>
            <a:ext cx="5200650" cy="1103511"/>
          </a:xfrm>
          <a:prstGeom prst="roundRect">
            <a:avLst>
              <a:gd name="adj" fmla="val 8919"/>
            </a:avLst>
          </a:prstGeom>
          <a:solidFill>
            <a:srgbClr val="FDFDFB"/>
          </a:solidFill>
          <a:ln w="6350">
            <a:solidFill>
              <a:srgbClr val="DCE1E8"/>
            </a:solidFill>
            <a:prstDash val="solid"/>
          </a:ln>
        </p:spPr>
      </p:sp>
      <p:sp>
        <p:nvSpPr>
          <p:cNvPr id="14" name="Text 8"/>
          <p:cNvSpPr/>
          <p:nvPr/>
        </p:nvSpPr>
        <p:spPr>
          <a:xfrm>
            <a:off x="1022350" y="2980531"/>
            <a:ext cx="49315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Nommer la branche avec le ticket</a:t>
            </a:r>
            <a:endParaRPr lang="en-US" sz="1400" dirty="0"/>
          </a:p>
        </p:txBody>
      </p:sp>
      <p:sp>
        <p:nvSpPr>
          <p:cNvPr id="15" name="Text 9"/>
          <p:cNvSpPr/>
          <p:nvPr/>
        </p:nvSpPr>
        <p:spPr>
          <a:xfrm>
            <a:off x="1022350" y="3244652"/>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feature/CL-12-inscription : Jira affiche alors branches, commits et PR dans le ticket.</a:t>
            </a:r>
            <a:endParaRPr lang="en-US" sz="1200" dirty="0"/>
          </a:p>
        </p:txBody>
      </p:sp>
      <p:sp>
        <p:nvSpPr>
          <p:cNvPr id="16" name="Shape 10"/>
          <p:cNvSpPr/>
          <p:nvPr/>
        </p:nvSpPr>
        <p:spPr>
          <a:xfrm>
            <a:off x="6175375" y="2774156"/>
            <a:ext cx="5200650" cy="1103511"/>
          </a:xfrm>
          <a:prstGeom prst="roundRect">
            <a:avLst>
              <a:gd name="adj" fmla="val 8919"/>
            </a:avLst>
          </a:prstGeom>
          <a:solidFill>
            <a:srgbClr val="FDFDFB"/>
          </a:solidFill>
          <a:ln w="6350">
            <a:solidFill>
              <a:srgbClr val="DCE1E8"/>
            </a:solidFill>
            <a:prstDash val="solid"/>
          </a:ln>
        </p:spPr>
      </p:sp>
      <p:sp>
        <p:nvSpPr>
          <p:cNvPr id="17" name="Text 11"/>
          <p:cNvSpPr/>
          <p:nvPr/>
        </p:nvSpPr>
        <p:spPr>
          <a:xfrm>
            <a:off x="6381750" y="2980531"/>
            <a:ext cx="49315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Des commits explicites</a:t>
            </a:r>
            <a:endParaRPr lang="en-US" sz="1400" dirty="0"/>
          </a:p>
        </p:txBody>
      </p:sp>
      <p:sp>
        <p:nvSpPr>
          <p:cNvPr id="18" name="Text 12"/>
          <p:cNvSpPr/>
          <p:nvPr/>
        </p:nvSpPr>
        <p:spPr>
          <a:xfrm>
            <a:off x="6381750" y="3244652"/>
            <a:ext cx="493153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Conventional Commits : « feat: bouton d'inscription », « fix: crash Android ».</a:t>
            </a:r>
            <a:endParaRPr lang="en-US" sz="1200" dirty="0"/>
          </a:p>
        </p:txBody>
      </p:sp>
      <p:sp>
        <p:nvSpPr>
          <p:cNvPr id="19" name="Shape 13"/>
          <p:cNvSpPr/>
          <p:nvPr/>
        </p:nvSpPr>
        <p:spPr>
          <a:xfrm>
            <a:off x="815975" y="4036417"/>
            <a:ext cx="5200650" cy="890191"/>
          </a:xfrm>
          <a:prstGeom prst="roundRect">
            <a:avLst>
              <a:gd name="adj" fmla="val 11057"/>
            </a:avLst>
          </a:prstGeom>
          <a:solidFill>
            <a:srgbClr val="FDFDFB"/>
          </a:solidFill>
          <a:ln w="6350">
            <a:solidFill>
              <a:srgbClr val="DCE1E8"/>
            </a:solidFill>
            <a:prstDash val="solid"/>
          </a:ln>
        </p:spPr>
      </p:sp>
      <p:sp>
        <p:nvSpPr>
          <p:cNvPr id="20" name="Text 14"/>
          <p:cNvSpPr/>
          <p:nvPr/>
        </p:nvSpPr>
        <p:spPr>
          <a:xfrm>
            <a:off x="1022350" y="4242792"/>
            <a:ext cx="49315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Petits commits, petites PR</a:t>
            </a:r>
            <a:endParaRPr lang="en-US" sz="1400" dirty="0"/>
          </a:p>
        </p:txBody>
      </p:sp>
      <p:sp>
        <p:nvSpPr>
          <p:cNvPr id="21" name="Text 15"/>
          <p:cNvSpPr/>
          <p:nvPr/>
        </p:nvSpPr>
        <p:spPr>
          <a:xfrm>
            <a:off x="1022350" y="4506913"/>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Plus faciles à relire, plus faciles à annuler.</a:t>
            </a:r>
            <a:endParaRPr lang="en-US" sz="1200" dirty="0"/>
          </a:p>
        </p:txBody>
      </p:sp>
      <p:sp>
        <p:nvSpPr>
          <p:cNvPr id="22" name="Shape 16"/>
          <p:cNvSpPr/>
          <p:nvPr/>
        </p:nvSpPr>
        <p:spPr>
          <a:xfrm>
            <a:off x="6175375" y="4036417"/>
            <a:ext cx="5200650" cy="890191"/>
          </a:xfrm>
          <a:prstGeom prst="roundRect">
            <a:avLst>
              <a:gd name="adj" fmla="val 11057"/>
            </a:avLst>
          </a:prstGeom>
          <a:solidFill>
            <a:srgbClr val="FDFDFB"/>
          </a:solidFill>
          <a:ln w="6350">
            <a:solidFill>
              <a:srgbClr val="DCE1E8"/>
            </a:solidFill>
            <a:prstDash val="solid"/>
          </a:ln>
        </p:spPr>
      </p:sp>
      <p:sp>
        <p:nvSpPr>
          <p:cNvPr id="23" name="Text 17"/>
          <p:cNvSpPr/>
          <p:nvPr/>
        </p:nvSpPr>
        <p:spPr>
          <a:xfrm>
            <a:off x="6381750" y="4242792"/>
            <a:ext cx="4931537"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Jamais directement sur main</a:t>
            </a:r>
            <a:endParaRPr lang="en-US" sz="1400" dirty="0"/>
          </a:p>
        </p:txBody>
      </p:sp>
      <p:sp>
        <p:nvSpPr>
          <p:cNvPr id="24" name="Text 18"/>
          <p:cNvSpPr/>
          <p:nvPr/>
        </p:nvSpPr>
        <p:spPr>
          <a:xfrm>
            <a:off x="6381750" y="4506913"/>
            <a:ext cx="49315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La protection de branche impose une revue.</a:t>
            </a:r>
            <a:endParaRPr lang="en-US" sz="1200" dirty="0"/>
          </a:p>
        </p:txBody>
      </p:sp>
      <p:sp>
        <p:nvSpPr>
          <p:cNvPr id="25"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docs.github.com, « GitHub flow » · conventionalcommits.org/fr · Atlassian, « Intégrer GitHub à Jira »</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EN GROUPE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La page d'accueil à quatre mains</a:t>
            </a:r>
            <a:endParaRPr lang="en-US" sz="3200" dirty="0"/>
          </a:p>
        </p:txBody>
      </p:sp>
      <p:sp>
        <p:nvSpPr>
          <p:cNvPr id="4" name="Shape 2"/>
          <p:cNvSpPr/>
          <p:nvPr/>
        </p:nvSpPr>
        <p:spPr>
          <a:xfrm>
            <a:off x="812800" y="1981101"/>
            <a:ext cx="6705600" cy="2213372"/>
          </a:xfrm>
          <a:prstGeom prst="roundRect">
            <a:avLst>
              <a:gd name="adj" fmla="val 4590"/>
            </a:avLst>
          </a:prstGeom>
          <a:solidFill>
            <a:srgbClr val="FDFDFB"/>
          </a:solidFill>
          <a:ln/>
        </p:spPr>
      </p:sp>
      <p:sp>
        <p:nvSpPr>
          <p:cNvPr id="5" name="Shape 3"/>
          <p:cNvSpPr/>
          <p:nvPr/>
        </p:nvSpPr>
        <p:spPr>
          <a:xfrm>
            <a:off x="812800" y="1981101"/>
            <a:ext cx="6705600" cy="2213372"/>
          </a:xfrm>
          <a:custGeom>
            <a:avLst/>
            <a:gdLst/>
            <a:ahLst/>
            <a:cxnLst/>
            <a:rect l="l" t="t" r="r" b="b"/>
            <a:pathLst>
              <a:path w="6705600" h="2213372">
                <a:moveTo>
                  <a:pt x="101600" y="2213372"/>
                </a:moveTo>
                <a:lnTo>
                  <a:pt x="101600" y="2213372"/>
                </a:lnTo>
                <a:arcTo hR="101600" wR="101600" stAng="5400000" swAng="5400000"/>
                <a:lnTo>
                  <a:pt x="0" y="101600"/>
                </a:lnTo>
                <a:arcTo hR="101600" wR="101600" stAng="10800000" swAng="5400000"/>
                <a:lnTo>
                  <a:pt x="101600" y="0"/>
                </a:lnTo>
                <a:arcTo hR="101600" wR="50800" stAng="16200000" swAng="-5400000"/>
                <a:lnTo>
                  <a:pt x="50800" y="2111772"/>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5 TICKETS DANS VOTRE JIRA</a:t>
            </a:r>
            <a:endParaRPr lang="en-US" sz="1200" dirty="0"/>
          </a:p>
        </p:txBody>
      </p:sp>
      <p:sp>
        <p:nvSpPr>
          <p:cNvPr id="7" name="Text 5"/>
          <p:cNvSpPr/>
          <p:nvPr/>
        </p:nvSpPr>
        <p:spPr>
          <a:xfrm>
            <a:off x="1246632" y="2600821"/>
            <a:ext cx="6140704" cy="131425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Ajouter la section « Associations partenaires »</a:t>
            </a:r>
            <a:endParaRPr lang="en-US" sz="1400" dirty="0"/>
          </a:p>
          <a:p>
            <a:pPr algn="l" marL="175768" indent="-175768">
              <a:lnSpc>
                <a:spcPts val="203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Ajouter la FAQ</a:t>
            </a:r>
            <a:endParaRPr lang="en-US" sz="1400" dirty="0"/>
          </a:p>
          <a:p>
            <a:pPr algn="l" marL="175768" indent="-175768">
              <a:lnSpc>
                <a:spcPts val="2030"/>
              </a:lnSpc>
              <a:buSzPct val="100000"/>
              <a:buChar char="•"/>
            </a:pPr>
            <a:r>
              <a:rPr lang="en-US" sz="1400" dirty="0">
                <a:solidFill>
                  <a:srgbClr val="14213D"/>
                </a:solidFill>
                <a:latin typeface="IBM Plex Sans" pitchFamily="34" charset="0"/>
                <a:ea typeface="IBM Plex Sans" pitchFamily="34" charset="-122"/>
                <a:cs typeface="IBM Plex Sans" pitchFamily="34" charset="-120"/>
              </a:rPr>
              <a:t>Changer la couleur principale</a:t>
            </a:r>
            <a:endParaRPr lang="en-US" sz="1400" dirty="0"/>
          </a:p>
          <a:p>
            <a:pPr algn="l" marL="175768" indent="-175768">
              <a:lnSpc>
                <a:spcPts val="2030"/>
              </a:lnSpc>
              <a:buSzPct val="100000"/>
              <a:buChar char="•"/>
            </a:pPr>
            <a:r>
              <a:rPr lang="en-US" sz="1400" dirty="0">
                <a:solidFill>
                  <a:srgbClr val="14213D"/>
                </a:solidFill>
                <a:latin typeface="IBM Plex Sans" pitchFamily="34" charset="0"/>
                <a:ea typeface="IBM Plex Sans" pitchFamily="34" charset="-122"/>
                <a:cs typeface="IBM Plex Sans" pitchFamily="34" charset="-120"/>
              </a:rPr>
              <a:t>Corriger 3 fautes d'orthographe</a:t>
            </a:r>
            <a:endParaRPr lang="en-US" sz="1400" dirty="0"/>
          </a:p>
          <a:p>
            <a:pPr algn="l" marL="175768" indent="-175768">
              <a:lnSpc>
                <a:spcPts val="2030"/>
              </a:lnSpc>
              <a:buSzPct val="100000"/>
              <a:buChar char="•"/>
            </a:pPr>
            <a:r>
              <a:rPr lang="en-US" sz="1400" dirty="0">
                <a:solidFill>
                  <a:srgbClr val="14213D"/>
                </a:solidFill>
                <a:latin typeface="IBM Plex Sans" pitchFamily="34" charset="0"/>
                <a:ea typeface="IBM Plex Sans" pitchFamily="34" charset="-122"/>
                <a:cs typeface="IBM Plex Sans" pitchFamily="34" charset="-120"/>
              </a:rPr>
              <a:t>Ajouter le pied de page</a:t>
            </a:r>
            <a:endParaRPr lang="en-US" sz="1400" dirty="0"/>
          </a:p>
        </p:txBody>
      </p:sp>
      <p:sp>
        <p:nvSpPr>
          <p:cNvPr id="8" name="Shape 6"/>
          <p:cNvSpPr/>
          <p:nvPr/>
        </p:nvSpPr>
        <p:spPr>
          <a:xfrm>
            <a:off x="7823200" y="1981101"/>
            <a:ext cx="3556000" cy="2213372"/>
          </a:xfrm>
          <a:prstGeom prst="roundRect">
            <a:avLst>
              <a:gd name="adj" fmla="val 4590"/>
            </a:avLst>
          </a:prstGeom>
          <a:solidFill>
            <a:srgbClr val="14213D"/>
          </a:solidFill>
          <a:ln/>
        </p:spPr>
      </p:sp>
      <p:sp>
        <p:nvSpPr>
          <p:cNvPr id="9" name="Text 7"/>
          <p:cNvSpPr/>
          <p:nvPr/>
        </p:nvSpPr>
        <p:spPr>
          <a:xfrm>
            <a:off x="8128000" y="22859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Livrable</a:t>
            </a:r>
            <a:endParaRPr lang="en-US" sz="1600" dirty="0"/>
          </a:p>
        </p:txBody>
      </p:sp>
      <p:sp>
        <p:nvSpPr>
          <p:cNvPr id="10" name="Text 8"/>
          <p:cNvSpPr/>
          <p:nvPr/>
        </p:nvSpPr>
        <p:spPr>
          <a:xfrm>
            <a:off x="8128000" y="2656681"/>
            <a:ext cx="303479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Au moins 5 PR fusionnées avec revue, un conflit résolu, un README de contribution, des tickets liés.</a:t>
            </a:r>
            <a:endParaRPr lang="en-US" sz="14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5</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70 MIN</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Un ticket, une branche, une PR</a:t>
            </a:r>
            <a:endParaRPr lang="en-US" sz="3200" dirty="0"/>
          </a:p>
        </p:txBody>
      </p:sp>
      <p:sp>
        <p:nvSpPr>
          <p:cNvPr id="4" name="Shape 2"/>
          <p:cNvSpPr/>
          <p:nvPr/>
        </p:nvSpPr>
        <p:spPr>
          <a:xfrm>
            <a:off x="812800" y="1828701"/>
            <a:ext cx="10566400" cy="706041"/>
          </a:xfrm>
          <a:prstGeom prst="roundRect">
            <a:avLst>
              <a:gd name="adj" fmla="val 14390"/>
            </a:avLst>
          </a:prstGeom>
          <a:solidFill>
            <a:srgbClr val="FDFDFB"/>
          </a:solidFill>
          <a:ln/>
        </p:spPr>
      </p:sp>
      <p:sp>
        <p:nvSpPr>
          <p:cNvPr id="5" name="Text 3"/>
          <p:cNvSpPr/>
          <p:nvPr/>
        </p:nvSpPr>
        <p:spPr>
          <a:xfrm>
            <a:off x="1066800" y="20065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10 min</a:t>
            </a:r>
            <a:endParaRPr lang="en-US" sz="1400" dirty="0"/>
          </a:p>
        </p:txBody>
      </p:sp>
      <p:sp>
        <p:nvSpPr>
          <p:cNvPr id="6" name="Text 4"/>
          <p:cNvSpPr/>
          <p:nvPr/>
        </p:nvSpPr>
        <p:spPr>
          <a:xfrm>
            <a:off x="2222500" y="20573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Clonez le dépôt, prenez un ticket dans Jira, passez-le « En cours ».</a:t>
            </a:r>
            <a:endParaRPr lang="en-US" sz="1400" dirty="0"/>
          </a:p>
        </p:txBody>
      </p:sp>
      <p:sp>
        <p:nvSpPr>
          <p:cNvPr id="7" name="Shape 5"/>
          <p:cNvSpPr/>
          <p:nvPr/>
        </p:nvSpPr>
        <p:spPr>
          <a:xfrm>
            <a:off x="812800" y="2712541"/>
            <a:ext cx="10566400" cy="853281"/>
          </a:xfrm>
          <a:prstGeom prst="roundRect">
            <a:avLst>
              <a:gd name="adj" fmla="val 11907"/>
            </a:avLst>
          </a:prstGeom>
          <a:solidFill>
            <a:srgbClr val="FDFDFB"/>
          </a:solidFill>
          <a:ln/>
        </p:spPr>
      </p:sp>
      <p:sp>
        <p:nvSpPr>
          <p:cNvPr id="8" name="Text 6"/>
          <p:cNvSpPr/>
          <p:nvPr/>
        </p:nvSpPr>
        <p:spPr>
          <a:xfrm>
            <a:off x="1066800" y="296396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25 min</a:t>
            </a:r>
            <a:endParaRPr lang="en-US" sz="1400" dirty="0"/>
          </a:p>
        </p:txBody>
      </p:sp>
      <p:sp>
        <p:nvSpPr>
          <p:cNvPr id="9" name="Text 7"/>
          <p:cNvSpPr/>
          <p:nvPr/>
        </p:nvSpPr>
        <p:spPr>
          <a:xfrm>
            <a:off x="2222500" y="2890341"/>
            <a:ext cx="916978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Branche nommée avec la clé du ticket, 2 commits propres minimum, PR qui dit ce qui change et comment vérifier.</a:t>
            </a:r>
            <a:endParaRPr lang="en-US" sz="1400" dirty="0"/>
          </a:p>
        </p:txBody>
      </p:sp>
      <p:sp>
        <p:nvSpPr>
          <p:cNvPr id="10" name="Shape 8"/>
          <p:cNvSpPr/>
          <p:nvPr/>
        </p:nvSpPr>
        <p:spPr>
          <a:xfrm>
            <a:off x="812800" y="3743623"/>
            <a:ext cx="10566400" cy="853281"/>
          </a:xfrm>
          <a:prstGeom prst="roundRect">
            <a:avLst>
              <a:gd name="adj" fmla="val 11907"/>
            </a:avLst>
          </a:prstGeom>
          <a:solidFill>
            <a:srgbClr val="FDFDFB"/>
          </a:solidFill>
          <a:ln/>
        </p:spPr>
      </p:sp>
      <p:sp>
        <p:nvSpPr>
          <p:cNvPr id="11" name="Text 9"/>
          <p:cNvSpPr/>
          <p:nvPr/>
        </p:nvSpPr>
        <p:spPr>
          <a:xfrm>
            <a:off x="1066800" y="3995043"/>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20 min</a:t>
            </a:r>
            <a:endParaRPr lang="en-US" sz="1400" dirty="0"/>
          </a:p>
        </p:txBody>
      </p:sp>
      <p:sp>
        <p:nvSpPr>
          <p:cNvPr id="12" name="Text 10"/>
          <p:cNvSpPr/>
          <p:nvPr/>
        </p:nvSpPr>
        <p:spPr>
          <a:xfrm>
            <a:off x="2222500" y="3921423"/>
            <a:ext cx="916978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Chaque PR est relue par un autre membre (1 commentaire constructif minimum) puis fusionnée. Résolvez ensemble le conflit.</a:t>
            </a:r>
            <a:endParaRPr lang="en-US" sz="1400" dirty="0"/>
          </a:p>
        </p:txBody>
      </p:sp>
      <p:sp>
        <p:nvSpPr>
          <p:cNvPr id="13" name="Shape 11"/>
          <p:cNvSpPr/>
          <p:nvPr/>
        </p:nvSpPr>
        <p:spPr>
          <a:xfrm>
            <a:off x="812800" y="4774704"/>
            <a:ext cx="10566400" cy="706041"/>
          </a:xfrm>
          <a:prstGeom prst="roundRect">
            <a:avLst>
              <a:gd name="adj" fmla="val 14390"/>
            </a:avLst>
          </a:prstGeom>
          <a:solidFill>
            <a:srgbClr val="FDFDFB"/>
          </a:solidFill>
          <a:ln/>
        </p:spPr>
      </p:sp>
      <p:sp>
        <p:nvSpPr>
          <p:cNvPr id="14" name="Text 12"/>
          <p:cNvSpPr/>
          <p:nvPr/>
        </p:nvSpPr>
        <p:spPr>
          <a:xfrm>
            <a:off x="1066800" y="4952504"/>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15" name="Text 13"/>
          <p:cNvSpPr/>
          <p:nvPr/>
        </p:nvSpPr>
        <p:spPr>
          <a:xfrm>
            <a:off x="2222500" y="5003304"/>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Écrivez les règles de contribution dans le README. Passez les tickets « Terminé ».</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5</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Un historique lisible se raconte tout seul</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Comment le conflit est-il apparu, et qui l'a résolu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Comprend-on votre historique sans ouvrir le code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 commentaire de revue vous a été le plus utile ?</a:t>
            </a:r>
            <a:endParaRPr lang="en-US" sz="1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6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Documenter avec Confluence</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Écrire pour que l'équipe retrouve l'information sans dépendre d'une seule personne.</a:t>
            </a:r>
            <a:endParaRPr lang="en-US" sz="1600" dirty="0"/>
          </a:p>
        </p:txBody>
      </p:sp>
      <p:sp>
        <p:nvSpPr>
          <p:cNvPr id="5" name="Shape 3"/>
          <p:cNvSpPr/>
          <p:nvPr/>
        </p:nvSpPr>
        <p:spPr>
          <a:xfrm>
            <a:off x="6807200" y="2018209"/>
            <a:ext cx="4572000" cy="2618383"/>
          </a:xfrm>
          <a:prstGeom prst="roundRect">
            <a:avLst>
              <a:gd name="adj" fmla="val 3880"/>
            </a:avLst>
          </a:prstGeom>
          <a:solidFill>
            <a:srgbClr val="1E2D4F"/>
          </a:solidFill>
          <a:ln/>
        </p:spPr>
      </p:sp>
      <p:sp>
        <p:nvSpPr>
          <p:cNvPr id="6" name="Text 4"/>
          <p:cNvSpPr/>
          <p:nvPr/>
        </p:nvSpPr>
        <p:spPr>
          <a:xfrm>
            <a:off x="7112000" y="232300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719189"/>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0:00–0:30</a:t>
            </a:r>
            <a:endParaRPr lang="en-US" sz="1300" dirty="0"/>
          </a:p>
        </p:txBody>
      </p:sp>
      <p:sp>
        <p:nvSpPr>
          <p:cNvPr id="8" name="Text 6"/>
          <p:cNvSpPr/>
          <p:nvPr/>
        </p:nvSpPr>
        <p:spPr>
          <a:xfrm>
            <a:off x="8407400" y="2719189"/>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pourquoi et quoi documenter</a:t>
            </a:r>
            <a:endParaRPr lang="en-US" sz="1300" dirty="0"/>
          </a:p>
        </p:txBody>
      </p:sp>
      <p:sp>
        <p:nvSpPr>
          <p:cNvPr id="9" name="Text 7"/>
          <p:cNvSpPr/>
          <p:nvPr/>
        </p:nvSpPr>
        <p:spPr>
          <a:xfrm>
            <a:off x="7112000" y="333375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0:30–0:40</a:t>
            </a:r>
            <a:endParaRPr lang="en-US" sz="1300" dirty="0"/>
          </a:p>
        </p:txBody>
      </p:sp>
      <p:sp>
        <p:nvSpPr>
          <p:cNvPr id="10" name="Text 8"/>
          <p:cNvSpPr/>
          <p:nvPr/>
        </p:nvSpPr>
        <p:spPr>
          <a:xfrm>
            <a:off x="8407400" y="333375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Démo Confluence</a:t>
            </a:r>
            <a:endParaRPr lang="en-US" sz="1300" dirty="0"/>
          </a:p>
        </p:txBody>
      </p:sp>
      <p:sp>
        <p:nvSpPr>
          <p:cNvPr id="11" name="Text 9"/>
          <p:cNvSpPr/>
          <p:nvPr/>
        </p:nvSpPr>
        <p:spPr>
          <a:xfrm>
            <a:off x="7112000" y="371723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0:40–1:45</a:t>
            </a:r>
            <a:endParaRPr lang="en-US" sz="1300" dirty="0"/>
          </a:p>
        </p:txBody>
      </p:sp>
      <p:sp>
        <p:nvSpPr>
          <p:cNvPr id="12" name="Text 10"/>
          <p:cNvSpPr/>
          <p:nvPr/>
        </p:nvSpPr>
        <p:spPr>
          <a:xfrm>
            <a:off x="8407400" y="371723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Étude de cas en groupe</a:t>
            </a:r>
            <a:endParaRPr lang="en-US" sz="1300" dirty="0"/>
          </a:p>
        </p:txBody>
      </p:sp>
      <p:sp>
        <p:nvSpPr>
          <p:cNvPr id="13" name="Text 11"/>
          <p:cNvSpPr/>
          <p:nvPr/>
        </p:nvSpPr>
        <p:spPr>
          <a:xfrm>
            <a:off x="7112000" y="410071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1:45–2:00</a:t>
            </a:r>
            <a:endParaRPr lang="en-US" sz="1300" dirty="0"/>
          </a:p>
        </p:txBody>
      </p:sp>
      <p:sp>
        <p:nvSpPr>
          <p:cNvPr id="14" name="Text 12"/>
          <p:cNvSpPr/>
          <p:nvPr/>
        </p:nvSpPr>
        <p:spPr>
          <a:xfrm>
            <a:off x="8407400" y="410071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Test du nouveau venu et débrief</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POURQUOI DOCUMENTER</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Si une seule personne sait, le projet est fragile</a:t>
            </a:r>
            <a:endParaRPr lang="en-US" sz="3200" dirty="0"/>
          </a:p>
        </p:txBody>
      </p:sp>
      <p:sp>
        <p:nvSpPr>
          <p:cNvPr id="4" name="Shape 2"/>
          <p:cNvSpPr/>
          <p:nvPr/>
        </p:nvSpPr>
        <p:spPr>
          <a:xfrm>
            <a:off x="812800" y="1879501"/>
            <a:ext cx="3556000" cy="2231727"/>
          </a:xfrm>
          <a:prstGeom prst="roundRect">
            <a:avLst>
              <a:gd name="adj" fmla="val 4553"/>
            </a:avLst>
          </a:prstGeom>
          <a:solidFill>
            <a:srgbClr val="14213D"/>
          </a:solidFill>
          <a:ln/>
        </p:spPr>
      </p:sp>
      <p:sp>
        <p:nvSpPr>
          <p:cNvPr id="5" name="Text 3"/>
          <p:cNvSpPr/>
          <p:nvPr/>
        </p:nvSpPr>
        <p:spPr>
          <a:xfrm>
            <a:off x="1117600" y="2184301"/>
            <a:ext cx="303479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65A"/>
                </a:solidFill>
                <a:latin typeface="Space Grotesk" pitchFamily="34" charset="0"/>
                <a:ea typeface="Space Grotesk" pitchFamily="34" charset="-122"/>
                <a:cs typeface="Space Grotesk" pitchFamily="34" charset="-120"/>
              </a:rPr>
              <a:t>1</a:t>
            </a:r>
            <a:endParaRPr lang="en-US" sz="3600" dirty="0"/>
          </a:p>
        </p:txBody>
      </p:sp>
      <p:sp>
        <p:nvSpPr>
          <p:cNvPr id="6" name="Text 4"/>
          <p:cNvSpPr/>
          <p:nvPr/>
        </p:nvSpPr>
        <p:spPr>
          <a:xfrm>
            <a:off x="1117600" y="27431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Le « bus factor »</a:t>
            </a:r>
            <a:endParaRPr lang="en-US" sz="1600" dirty="0"/>
          </a:p>
        </p:txBody>
      </p:sp>
      <p:sp>
        <p:nvSpPr>
          <p:cNvPr id="7" name="Text 5"/>
          <p:cNvSpPr/>
          <p:nvPr/>
        </p:nvSpPr>
        <p:spPr>
          <a:xfrm>
            <a:off x="1117600" y="3088481"/>
            <a:ext cx="3034792"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E4E9F1"/>
                </a:solidFill>
                <a:latin typeface="IBM Plex Sans" pitchFamily="34" charset="0"/>
                <a:ea typeface="IBM Plex Sans" pitchFamily="34" charset="-122"/>
                <a:cs typeface="IBM Plex Sans" pitchFamily="34" charset="-120"/>
              </a:rPr>
              <a:t>Combien de personnes peuvent partir avant que le projet s'arrête ? Si c'est 1, la connaissance est trop concentrée.</a:t>
            </a:r>
            <a:endParaRPr lang="en-US" sz="1300" dirty="0"/>
          </a:p>
        </p:txBody>
      </p:sp>
      <p:sp>
        <p:nvSpPr>
          <p:cNvPr id="8" name="Shape 6"/>
          <p:cNvSpPr/>
          <p:nvPr/>
        </p:nvSpPr>
        <p:spPr>
          <a:xfrm>
            <a:off x="4676775" y="1882676"/>
            <a:ext cx="3282950" cy="1045964"/>
          </a:xfrm>
          <a:prstGeom prst="roundRect">
            <a:avLst>
              <a:gd name="adj" fmla="val 9410"/>
            </a:avLst>
          </a:prstGeom>
          <a:solidFill>
            <a:srgbClr val="FDFDFB"/>
          </a:solidFill>
          <a:ln w="6350">
            <a:solidFill>
              <a:srgbClr val="DCE1E8"/>
            </a:solidFill>
            <a:prstDash val="solid"/>
          </a:ln>
        </p:spPr>
      </p:sp>
      <p:sp>
        <p:nvSpPr>
          <p:cNvPr id="9" name="Text 7"/>
          <p:cNvSpPr/>
          <p:nvPr/>
        </p:nvSpPr>
        <p:spPr>
          <a:xfrm>
            <a:off x="4883150" y="2089051"/>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Tutoriel</a:t>
            </a:r>
            <a:endParaRPr lang="en-US" sz="1500" dirty="0"/>
          </a:p>
        </p:txBody>
      </p:sp>
      <p:sp>
        <p:nvSpPr>
          <p:cNvPr id="10" name="Text 8"/>
          <p:cNvSpPr/>
          <p:nvPr/>
        </p:nvSpPr>
        <p:spPr>
          <a:xfrm>
            <a:off x="4883150" y="236845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Pour apprendre</a:t>
            </a:r>
            <a:endParaRPr lang="en-US" sz="1200" dirty="0"/>
          </a:p>
        </p:txBody>
      </p:sp>
      <p:sp>
        <p:nvSpPr>
          <p:cNvPr id="11" name="Shape 9"/>
          <p:cNvSpPr/>
          <p:nvPr/>
        </p:nvSpPr>
        <p:spPr>
          <a:xfrm>
            <a:off x="8093075" y="1882676"/>
            <a:ext cx="3282950" cy="1045964"/>
          </a:xfrm>
          <a:prstGeom prst="roundRect">
            <a:avLst>
              <a:gd name="adj" fmla="val 9410"/>
            </a:avLst>
          </a:prstGeom>
          <a:solidFill>
            <a:srgbClr val="FDFDFB"/>
          </a:solidFill>
          <a:ln w="6350">
            <a:solidFill>
              <a:srgbClr val="DCE1E8"/>
            </a:solidFill>
            <a:prstDash val="solid"/>
          </a:ln>
        </p:spPr>
      </p:sp>
      <p:sp>
        <p:nvSpPr>
          <p:cNvPr id="12" name="Text 10"/>
          <p:cNvSpPr/>
          <p:nvPr/>
        </p:nvSpPr>
        <p:spPr>
          <a:xfrm>
            <a:off x="8299450" y="2089051"/>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Guide pratique</a:t>
            </a:r>
            <a:endParaRPr lang="en-US" sz="1500" dirty="0"/>
          </a:p>
        </p:txBody>
      </p:sp>
      <p:sp>
        <p:nvSpPr>
          <p:cNvPr id="13" name="Text 11"/>
          <p:cNvSpPr/>
          <p:nvPr/>
        </p:nvSpPr>
        <p:spPr>
          <a:xfrm>
            <a:off x="8299450" y="2368451"/>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Pour réussir une tâche</a:t>
            </a:r>
            <a:endParaRPr lang="en-US" sz="1200" dirty="0"/>
          </a:p>
        </p:txBody>
      </p:sp>
      <p:sp>
        <p:nvSpPr>
          <p:cNvPr id="14" name="Shape 12"/>
          <p:cNvSpPr/>
          <p:nvPr/>
        </p:nvSpPr>
        <p:spPr>
          <a:xfrm>
            <a:off x="4676775" y="3061990"/>
            <a:ext cx="3282950" cy="1046063"/>
          </a:xfrm>
          <a:prstGeom prst="roundRect">
            <a:avLst>
              <a:gd name="adj" fmla="val 9409"/>
            </a:avLst>
          </a:prstGeom>
          <a:solidFill>
            <a:srgbClr val="FDFDFB"/>
          </a:solidFill>
          <a:ln w="6350">
            <a:solidFill>
              <a:srgbClr val="DCE1E8"/>
            </a:solidFill>
            <a:prstDash val="solid"/>
          </a:ln>
        </p:spPr>
      </p:sp>
      <p:sp>
        <p:nvSpPr>
          <p:cNvPr id="15" name="Text 13"/>
          <p:cNvSpPr/>
          <p:nvPr/>
        </p:nvSpPr>
        <p:spPr>
          <a:xfrm>
            <a:off x="4883150" y="3268365"/>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Référence</a:t>
            </a:r>
            <a:endParaRPr lang="en-US" sz="1500" dirty="0"/>
          </a:p>
        </p:txBody>
      </p:sp>
      <p:sp>
        <p:nvSpPr>
          <p:cNvPr id="16" name="Text 14"/>
          <p:cNvSpPr/>
          <p:nvPr/>
        </p:nvSpPr>
        <p:spPr>
          <a:xfrm>
            <a:off x="4883150" y="35477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Pour vérifier un détail</a:t>
            </a:r>
            <a:endParaRPr lang="en-US" sz="1200" dirty="0"/>
          </a:p>
        </p:txBody>
      </p:sp>
      <p:sp>
        <p:nvSpPr>
          <p:cNvPr id="17" name="Shape 15"/>
          <p:cNvSpPr/>
          <p:nvPr/>
        </p:nvSpPr>
        <p:spPr>
          <a:xfrm>
            <a:off x="8093075" y="3061990"/>
            <a:ext cx="3282950" cy="1046063"/>
          </a:xfrm>
          <a:prstGeom prst="roundRect">
            <a:avLst>
              <a:gd name="adj" fmla="val 9409"/>
            </a:avLst>
          </a:prstGeom>
          <a:solidFill>
            <a:srgbClr val="FDFDFB"/>
          </a:solidFill>
          <a:ln w="6350">
            <a:solidFill>
              <a:srgbClr val="DCE1E8"/>
            </a:solidFill>
            <a:prstDash val="solid"/>
          </a:ln>
        </p:spPr>
      </p:sp>
      <p:sp>
        <p:nvSpPr>
          <p:cNvPr id="18" name="Text 16"/>
          <p:cNvSpPr/>
          <p:nvPr/>
        </p:nvSpPr>
        <p:spPr>
          <a:xfrm>
            <a:off x="8299450" y="3268365"/>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Explication</a:t>
            </a:r>
            <a:endParaRPr lang="en-US" sz="1500" dirty="0"/>
          </a:p>
        </p:txBody>
      </p:sp>
      <p:sp>
        <p:nvSpPr>
          <p:cNvPr id="19" name="Text 17"/>
          <p:cNvSpPr/>
          <p:nvPr/>
        </p:nvSpPr>
        <p:spPr>
          <a:xfrm>
            <a:off x="8299450" y="35477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Pour comprendre le pourquoi</a:t>
            </a:r>
            <a:endParaRPr lang="en-US" sz="1200" dirty="0"/>
          </a:p>
        </p:txBody>
      </p:sp>
      <p:sp>
        <p:nvSpPr>
          <p:cNvPr id="20" name="Text 18"/>
          <p:cNvSpPr/>
          <p:nvPr/>
        </p:nvSpPr>
        <p:spPr>
          <a:xfrm>
            <a:off x="812800" y="431442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Le Manifeste préfère un logiciel qui marche à une documentation </a:t>
            </a:r>
            <a:r>
              <a:rPr lang="en-US" sz="1400" i="1" dirty="0">
                <a:solidFill>
                  <a:srgbClr val="3D4A5C"/>
                </a:solidFill>
                <a:latin typeface="IBM Plex Sans" pitchFamily="34" charset="0"/>
                <a:ea typeface="IBM Plex Sans" pitchFamily="34" charset="-122"/>
                <a:cs typeface="IBM Plex Sans" pitchFamily="34" charset="-120"/>
              </a:rPr>
              <a:t>exhaustive</a:t>
            </a:r>
            <a:r>
              <a:rPr lang="en-US" sz="1400" dirty="0">
                <a:solidFill>
                  <a:srgbClr val="3D4A5C"/>
                </a:solidFill>
                <a:latin typeface="IBM Plex Sans" pitchFamily="34" charset="0"/>
                <a:ea typeface="IBM Plex Sans" pitchFamily="34" charset="-122"/>
                <a:cs typeface="IBM Plex Sans" pitchFamily="34" charset="-120"/>
              </a:rPr>
              <a:t>, pas à l'absence de documentation.</a:t>
            </a:r>
            <a:endParaRPr lang="en-US" sz="14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 : cadre Diátaxis, diataxis.fr</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CONFLUENCE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Les pages types d'une équipe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155627"/>
        </p:xfrm>
        <a:graphic>
          <a:graphicData uri="http://schemas.openxmlformats.org/drawingml/2006/table">
            <a:tbl>
              <a:tblPr/>
              <a:tblGrid>
                <a:gridCol w="2955036"/>
                <a:gridCol w="7598664"/>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Page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Contenu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Accueil de l'espace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Mission, membres, liens utiles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Guide d'onboarding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Accès, installation, premiers pas, qui contacter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Compte-rendu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Participants, décisions, actions (qui / quoi / quand)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Décision (ADR)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Contexte, options, décision, conséquences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Rétrospective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Ce qui a marché, à améliorer, actions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251027"/>
            <a:ext cx="10566400" cy="904081"/>
          </a:xfrm>
          <a:prstGeom prst="roundRect">
            <a:avLst>
              <a:gd name="adj" fmla="val 11238"/>
            </a:avLst>
          </a:prstGeom>
          <a:solidFill>
            <a:srgbClr val="E9EDF3"/>
          </a:solidFill>
          <a:ln/>
        </p:spPr>
        <p:txBody>
          <a:bodyPr wrap="square" lIns="224242" tIns="173442" rIns="0" bIns="148042"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Règles d'écriture :</a:t>
            </a:r>
            <a:r>
              <a:rPr lang="en-US" sz="1400" dirty="0">
                <a:solidFill>
                  <a:srgbClr val="3D4A5C"/>
                </a:solidFill>
                <a:latin typeface="IBM Plex Sans" pitchFamily="34" charset="0"/>
                <a:ea typeface="IBM Plex Sans" pitchFamily="34" charset="-122"/>
                <a:cs typeface="IBM Plex Sans" pitchFamily="34" charset="-120"/>
              </a:rPr>
              <a:t> titre explicite, l'essentiel en haut, listes et tableaux plutôt que des pavés, une date et un propriétaire par page, archiver l'obsolète.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Atlassian, modèles Confluence · M. Nygard, « Documenting Architecture Decisions » (2011)</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EN GROUPE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développeur qui part</a:t>
            </a:r>
            <a:endParaRPr lang="en-US" sz="3200" dirty="0"/>
          </a:p>
        </p:txBody>
      </p:sp>
      <p:sp>
        <p:nvSpPr>
          <p:cNvPr id="4" name="Shape 2"/>
          <p:cNvSpPr/>
          <p:nvPr/>
        </p:nvSpPr>
        <p:spPr>
          <a:xfrm>
            <a:off x="812800" y="1981101"/>
            <a:ext cx="6705600" cy="2458045"/>
          </a:xfrm>
          <a:prstGeom prst="roundRect">
            <a:avLst>
              <a:gd name="adj" fmla="val 4133"/>
            </a:avLst>
          </a:prstGeom>
          <a:solidFill>
            <a:srgbClr val="FDFDFB"/>
          </a:solidFill>
          <a:ln/>
        </p:spPr>
      </p:sp>
      <p:sp>
        <p:nvSpPr>
          <p:cNvPr id="5" name="Shape 3"/>
          <p:cNvSpPr/>
          <p:nvPr/>
        </p:nvSpPr>
        <p:spPr>
          <a:xfrm>
            <a:off x="812800" y="1981101"/>
            <a:ext cx="6705600" cy="2458045"/>
          </a:xfrm>
          <a:custGeom>
            <a:avLst/>
            <a:gdLst/>
            <a:ahLst/>
            <a:cxnLst/>
            <a:rect l="l" t="t" r="r" b="b"/>
            <a:pathLst>
              <a:path w="6705600" h="2458045">
                <a:moveTo>
                  <a:pt x="101600" y="2458045"/>
                </a:moveTo>
                <a:lnTo>
                  <a:pt x="101600" y="2458045"/>
                </a:lnTo>
                <a:arcTo hR="101600" wR="101600" stAng="5400000" swAng="5400000"/>
                <a:lnTo>
                  <a:pt x="0" y="101600"/>
                </a:lnTo>
                <a:arcTo hR="101600" wR="101600" stAng="10800000" swAng="5400000"/>
                <a:lnTo>
                  <a:pt x="101600" y="0"/>
                </a:lnTo>
                <a:arcTo hR="101600" wR="50800" stAng="16200000" swAng="-5400000"/>
                <a:lnTo>
                  <a:pt x="50800" y="2356445"/>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DÉPART DANS 2 SEMAINES</a:t>
            </a:r>
            <a:endParaRPr lang="en-US" sz="1200" dirty="0"/>
          </a:p>
        </p:txBody>
      </p:sp>
      <p:sp>
        <p:nvSpPr>
          <p:cNvPr id="7" name="Text 5"/>
          <p:cNvSpPr/>
          <p:nvPr/>
        </p:nvSpPr>
        <p:spPr>
          <a:xfrm>
            <a:off x="1168400" y="2626221"/>
            <a:ext cx="622655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Karim, développeur depuis 3 ans, quitte CampusLink. Tout le module « Notifications » est dans sa tête, dans 400 messages Slack et dans </a:t>
            </a:r>
            <a:r>
              <a:rPr lang="en-US" sz="1500" i="1" dirty="0">
                <a:solidFill>
                  <a:srgbClr val="14213D"/>
                </a:solidFill>
                <a:latin typeface="IBM Plex Sans" pitchFamily="34" charset="0"/>
                <a:ea typeface="IBM Plex Sans" pitchFamily="34" charset="-122"/>
                <a:cs typeface="IBM Plex Sans" pitchFamily="34" charset="-120"/>
              </a:rPr>
              <a:t>notes_karim_FINAL_v3.txt</a:t>
            </a:r>
            <a:r>
              <a:rPr lang="en-US" sz="1500" dirty="0">
                <a:solidFill>
                  <a:srgbClr val="14213D"/>
                </a:solidFill>
                <a:latin typeface="IBM Plex Sans" pitchFamily="34" charset="0"/>
                <a:ea typeface="IBM Plex Sans" pitchFamily="34" charset="-122"/>
                <a:cs typeface="IBM Plex Sans" pitchFamily="34" charset="-120"/>
              </a:rPr>
              <a:t>.</a:t>
            </a:r>
            <a:endParaRPr lang="en-US" sz="1500" dirty="0"/>
          </a:p>
        </p:txBody>
      </p:sp>
      <p:sp>
        <p:nvSpPr>
          <p:cNvPr id="8" name="Text 6"/>
          <p:cNvSpPr/>
          <p:nvPr/>
        </p:nvSpPr>
        <p:spPr>
          <a:xfrm>
            <a:off x="1168400" y="3581896"/>
            <a:ext cx="6226556"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Vous recevez son dossier : messages, notes brutes, schéma griffonné, 2 décisions prises à l'oral.</a:t>
            </a:r>
            <a:endParaRPr lang="en-US" sz="1500" dirty="0"/>
          </a:p>
        </p:txBody>
      </p:sp>
      <p:sp>
        <p:nvSpPr>
          <p:cNvPr id="9" name="Shape 7"/>
          <p:cNvSpPr/>
          <p:nvPr/>
        </p:nvSpPr>
        <p:spPr>
          <a:xfrm>
            <a:off x="7823200" y="1981101"/>
            <a:ext cx="3556000" cy="2458045"/>
          </a:xfrm>
          <a:prstGeom prst="roundRect">
            <a:avLst>
              <a:gd name="adj" fmla="val 4133"/>
            </a:avLst>
          </a:prstGeom>
          <a:solidFill>
            <a:srgbClr val="14213D"/>
          </a:solidFill>
          <a:ln/>
        </p:spPr>
      </p:sp>
      <p:sp>
        <p:nvSpPr>
          <p:cNvPr id="10" name="Text 8"/>
          <p:cNvSpPr/>
          <p:nvPr/>
        </p:nvSpPr>
        <p:spPr>
          <a:xfrm>
            <a:off x="8128000" y="22859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Livrable</a:t>
            </a:r>
            <a:endParaRPr lang="en-US" sz="1600" dirty="0"/>
          </a:p>
        </p:txBody>
      </p:sp>
      <p:sp>
        <p:nvSpPr>
          <p:cNvPr id="11" name="Text 9"/>
          <p:cNvSpPr/>
          <p:nvPr/>
        </p:nvSpPr>
        <p:spPr>
          <a:xfrm>
            <a:off x="8128000" y="2656681"/>
            <a:ext cx="3034792"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L'espace Confluence de la squad.</a:t>
            </a:r>
            <a:endParaRPr lang="en-US" sz="1400" dirty="0"/>
          </a:p>
        </p:txBody>
      </p:sp>
      <p:sp>
        <p:nvSpPr>
          <p:cNvPr id="12" name="Text 10"/>
          <p:cNvSpPr/>
          <p:nvPr/>
        </p:nvSpPr>
        <p:spPr>
          <a:xfrm>
            <a:off x="8128000" y="3041452"/>
            <a:ext cx="303479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Son score au test du nouveau venu, sur 3.</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6</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65 MIN</a:t>
            </a:r>
            <a:endParaRPr lang="en-US" sz="1200" dirty="0"/>
          </a:p>
        </p:txBody>
      </p:sp>
      <p:sp>
        <p:nvSpPr>
          <p:cNvPr id="3" name="Text 1"/>
          <p:cNvSpPr/>
          <p:nvPr>
            <p:ph type="title"/>
          </p:nvPr>
        </p:nvSpPr>
        <p:spPr>
          <a:xfrm>
            <a:off x="812800" y="12039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Sauver la connaissance de Karim</a:t>
            </a:r>
            <a:endParaRPr lang="en-US" sz="3200" dirty="0"/>
          </a:p>
        </p:txBody>
      </p:sp>
      <p:sp>
        <p:nvSpPr>
          <p:cNvPr id="4" name="Shape 2"/>
          <p:cNvSpPr/>
          <p:nvPr/>
        </p:nvSpPr>
        <p:spPr>
          <a:xfrm>
            <a:off x="812800" y="1828701"/>
            <a:ext cx="10566400" cy="706041"/>
          </a:xfrm>
          <a:prstGeom prst="roundRect">
            <a:avLst>
              <a:gd name="adj" fmla="val 14390"/>
            </a:avLst>
          </a:prstGeom>
          <a:solidFill>
            <a:srgbClr val="FDFDFB"/>
          </a:solidFill>
          <a:ln/>
        </p:spPr>
      </p:sp>
      <p:sp>
        <p:nvSpPr>
          <p:cNvPr id="5" name="Text 3"/>
          <p:cNvSpPr/>
          <p:nvPr/>
        </p:nvSpPr>
        <p:spPr>
          <a:xfrm>
            <a:off x="1066800" y="20065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10 min</a:t>
            </a:r>
            <a:endParaRPr lang="en-US" sz="1400" dirty="0"/>
          </a:p>
        </p:txBody>
      </p:sp>
      <p:sp>
        <p:nvSpPr>
          <p:cNvPr id="6" name="Text 4"/>
          <p:cNvSpPr/>
          <p:nvPr/>
        </p:nvSpPr>
        <p:spPr>
          <a:xfrm>
            <a:off x="2222500" y="20573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Concevez l'arborescence de votre espace Confluence.</a:t>
            </a:r>
            <a:endParaRPr lang="en-US" sz="1400" dirty="0"/>
          </a:p>
        </p:txBody>
      </p:sp>
      <p:sp>
        <p:nvSpPr>
          <p:cNvPr id="7" name="Shape 5"/>
          <p:cNvSpPr/>
          <p:nvPr/>
        </p:nvSpPr>
        <p:spPr>
          <a:xfrm>
            <a:off x="812800" y="2712541"/>
            <a:ext cx="10566400" cy="853281"/>
          </a:xfrm>
          <a:prstGeom prst="roundRect">
            <a:avLst>
              <a:gd name="adj" fmla="val 11907"/>
            </a:avLst>
          </a:prstGeom>
          <a:solidFill>
            <a:srgbClr val="FDFDFB"/>
          </a:solidFill>
          <a:ln/>
        </p:spPr>
      </p:sp>
      <p:sp>
        <p:nvSpPr>
          <p:cNvPr id="8" name="Text 6"/>
          <p:cNvSpPr/>
          <p:nvPr/>
        </p:nvSpPr>
        <p:spPr>
          <a:xfrm>
            <a:off x="1066800" y="296396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40 min</a:t>
            </a:r>
            <a:endParaRPr lang="en-US" sz="1400" dirty="0"/>
          </a:p>
        </p:txBody>
      </p:sp>
      <p:sp>
        <p:nvSpPr>
          <p:cNvPr id="9" name="Text 7"/>
          <p:cNvSpPr/>
          <p:nvPr/>
        </p:nvSpPr>
        <p:spPr>
          <a:xfrm>
            <a:off x="2222500" y="2890341"/>
            <a:ext cx="916978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Rédigez : accueil, guide d'onboarding du module, une page de décision (ADR), le compte-rendu de passation avec actions @mentionnées.</a:t>
            </a:r>
            <a:endParaRPr lang="en-US" sz="1400" dirty="0"/>
          </a:p>
        </p:txBody>
      </p:sp>
      <p:sp>
        <p:nvSpPr>
          <p:cNvPr id="10" name="Shape 8"/>
          <p:cNvSpPr/>
          <p:nvPr/>
        </p:nvSpPr>
        <p:spPr>
          <a:xfrm>
            <a:off x="812800" y="3743623"/>
            <a:ext cx="10566400" cy="706041"/>
          </a:xfrm>
          <a:prstGeom prst="roundRect">
            <a:avLst>
              <a:gd name="adj" fmla="val 14390"/>
            </a:avLst>
          </a:prstGeom>
          <a:solidFill>
            <a:srgbClr val="FDFDFB"/>
          </a:solidFill>
          <a:ln/>
        </p:spPr>
      </p:sp>
      <p:sp>
        <p:nvSpPr>
          <p:cNvPr id="11" name="Text 9"/>
          <p:cNvSpPr/>
          <p:nvPr/>
        </p:nvSpPr>
        <p:spPr>
          <a:xfrm>
            <a:off x="1066800" y="3921423"/>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12" name="Text 10"/>
          <p:cNvSpPr/>
          <p:nvPr/>
        </p:nvSpPr>
        <p:spPr>
          <a:xfrm>
            <a:off x="2222500" y="3972223"/>
            <a:ext cx="916978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Liez une page à des tickets Jira. Transférez la charte d'équipe dans Confluence.</a:t>
            </a:r>
            <a:endParaRPr lang="en-US" sz="1400" dirty="0"/>
          </a:p>
        </p:txBody>
      </p:sp>
      <p:sp>
        <p:nvSpPr>
          <p:cNvPr id="13" name="Text 11"/>
          <p:cNvSpPr/>
          <p:nvPr/>
        </p:nvSpPr>
        <p:spPr>
          <a:xfrm>
            <a:off x="812800" y="4627463"/>
            <a:ext cx="10566400" cy="853281"/>
          </a:xfrm>
          <a:prstGeom prst="roundRect">
            <a:avLst>
              <a:gd name="adj" fmla="val 11907"/>
            </a:avLst>
          </a:prstGeom>
          <a:solidFill>
            <a:srgbClr val="14213D"/>
          </a:solidFill>
          <a:ln/>
        </p:spPr>
        <p:txBody>
          <a:bodyPr wrap="square" lIns="224242" tIns="148042" rIns="0" bIns="122642" rtlCol="0" anchor="t">
            <a:normAutofit/>
          </a:bodyPr>
          <a:lstStyle/>
          <a:p>
            <a:pPr algn="l" indent="0" marL="0">
              <a:lnSpc>
                <a:spcPts val="1960"/>
              </a:lnSpc>
              <a:buNone/>
            </a:pPr>
            <a:r>
              <a:rPr lang="en-US" sz="1400" b="1" dirty="0">
                <a:solidFill>
                  <a:srgbClr val="F2A65A"/>
                </a:solidFill>
                <a:latin typeface="IBM Plex Sans" pitchFamily="34" charset="0"/>
                <a:ea typeface="IBM Plex Sans" pitchFamily="34" charset="-122"/>
                <a:cs typeface="IBM Plex Sans" pitchFamily="34" charset="-120"/>
              </a:rPr>
              <a:t>Test du nouveau venu :</a:t>
            </a:r>
            <a:r>
              <a:rPr lang="en-US" sz="1400" dirty="0">
                <a:solidFill>
                  <a:srgbClr val="E4E9F1"/>
                </a:solidFill>
                <a:latin typeface="IBM Plex Sans" pitchFamily="34" charset="0"/>
                <a:ea typeface="IBM Plex Sans" pitchFamily="34" charset="-122"/>
                <a:cs typeface="IBM Plex Sans" pitchFamily="34" charset="-120"/>
              </a:rPr>
              <a:t> un étudiant d'un autre groupe a 5 min, sans poser de question, pour répondre à 3 questions avec votre espace.</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6</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Documenter au fil de l'eau coûte moins cher</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 score avez-vous obtenu au test du nouveau venu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Qu'est-ce qui manquait dans les notes de Karim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Combien de temps aurait-il fallu pour documenter au fil de l'eau ?</a:t>
            </a:r>
            <a:endParaRPr lang="en-US" sz="1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6</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7 · 2 H</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Kanban, feedback et revue de code</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Gérer un flux continu et donner un retour, sur du code ou un comportement, sans braquer.</a:t>
            </a:r>
            <a:endParaRPr lang="en-US" sz="1600" dirty="0"/>
          </a:p>
        </p:txBody>
      </p:sp>
      <p:sp>
        <p:nvSpPr>
          <p:cNvPr id="5" name="Shape 3"/>
          <p:cNvSpPr/>
          <p:nvPr/>
        </p:nvSpPr>
        <p:spPr>
          <a:xfrm>
            <a:off x="6807200" y="2018209"/>
            <a:ext cx="4572000" cy="2618383"/>
          </a:xfrm>
          <a:prstGeom prst="roundRect">
            <a:avLst>
              <a:gd name="adj" fmla="val 3880"/>
            </a:avLst>
          </a:prstGeom>
          <a:solidFill>
            <a:srgbClr val="1E2D4F"/>
          </a:solidFill>
          <a:ln/>
        </p:spPr>
      </p:sp>
      <p:sp>
        <p:nvSpPr>
          <p:cNvPr id="6" name="Text 4"/>
          <p:cNvSpPr/>
          <p:nvPr/>
        </p:nvSpPr>
        <p:spPr>
          <a:xfrm>
            <a:off x="7112000" y="232300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719189"/>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0:00–0:30</a:t>
            </a:r>
            <a:endParaRPr lang="en-US" sz="1300" dirty="0"/>
          </a:p>
        </p:txBody>
      </p:sp>
      <p:sp>
        <p:nvSpPr>
          <p:cNvPr id="8" name="Text 6"/>
          <p:cNvSpPr/>
          <p:nvPr/>
        </p:nvSpPr>
        <p:spPr>
          <a:xfrm>
            <a:off x="8407400" y="2719189"/>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Kanban, feedback SBI, revue de code</a:t>
            </a:r>
            <a:endParaRPr lang="en-US" sz="1300" dirty="0"/>
          </a:p>
        </p:txBody>
      </p:sp>
      <p:sp>
        <p:nvSpPr>
          <p:cNvPr id="9" name="Text 7"/>
          <p:cNvSpPr/>
          <p:nvPr/>
        </p:nvSpPr>
        <p:spPr>
          <a:xfrm>
            <a:off x="7112000" y="333375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0:30–1:00</a:t>
            </a:r>
            <a:endParaRPr lang="en-US" sz="1300" dirty="0"/>
          </a:p>
        </p:txBody>
      </p:sp>
      <p:sp>
        <p:nvSpPr>
          <p:cNvPr id="10" name="Text 8"/>
          <p:cNvSpPr/>
          <p:nvPr/>
        </p:nvSpPr>
        <p:spPr>
          <a:xfrm>
            <a:off x="8407400" y="333375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Cas A : le Kanban du support</a:t>
            </a:r>
            <a:endParaRPr lang="en-US" sz="1300" dirty="0"/>
          </a:p>
        </p:txBody>
      </p:sp>
      <p:sp>
        <p:nvSpPr>
          <p:cNvPr id="11" name="Text 9"/>
          <p:cNvSpPr/>
          <p:nvPr/>
        </p:nvSpPr>
        <p:spPr>
          <a:xfrm>
            <a:off x="7112000" y="3717230"/>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1:00–1:45</a:t>
            </a:r>
            <a:endParaRPr lang="en-US" sz="1300" dirty="0"/>
          </a:p>
        </p:txBody>
      </p:sp>
      <p:sp>
        <p:nvSpPr>
          <p:cNvPr id="12" name="Text 10"/>
          <p:cNvSpPr/>
          <p:nvPr/>
        </p:nvSpPr>
        <p:spPr>
          <a:xfrm>
            <a:off x="8407400" y="3717230"/>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Cas B : la revue de code qui blesse</a:t>
            </a:r>
            <a:endParaRPr lang="en-US" sz="1300" dirty="0"/>
          </a:p>
        </p:txBody>
      </p:sp>
      <p:sp>
        <p:nvSpPr>
          <p:cNvPr id="13" name="Text 11"/>
          <p:cNvSpPr/>
          <p:nvPr/>
        </p:nvSpPr>
        <p:spPr>
          <a:xfrm>
            <a:off x="7112000" y="410071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1:45–2:00</a:t>
            </a:r>
            <a:endParaRPr lang="en-US" sz="1300" dirty="0"/>
          </a:p>
        </p:txBody>
      </p:sp>
      <p:sp>
        <p:nvSpPr>
          <p:cNvPr id="14" name="Text 12"/>
          <p:cNvSpPr/>
          <p:nvPr/>
        </p:nvSpPr>
        <p:spPr>
          <a:xfrm>
            <a:off x="8407400" y="410071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Débrief</a:t>
            </a:r>
            <a:endParaRPr lang="en-US" sz="13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7</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KANBAN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Arrêtez de commencer, commencez à finir</a:t>
            </a:r>
            <a:endParaRPr lang="en-US" sz="3200" dirty="0"/>
          </a:p>
        </p:txBody>
      </p:sp>
      <p:sp>
        <p:nvSpPr>
          <p:cNvPr id="4" name="Shape 2"/>
          <p:cNvSpPr/>
          <p:nvPr/>
        </p:nvSpPr>
        <p:spPr>
          <a:xfrm>
            <a:off x="812800" y="1879501"/>
            <a:ext cx="3420467" cy="1112441"/>
          </a:xfrm>
          <a:prstGeom prst="roundRect">
            <a:avLst>
              <a:gd name="adj" fmla="val 9133"/>
            </a:avLst>
          </a:prstGeom>
          <a:solidFill>
            <a:srgbClr val="14213D"/>
          </a:solidFill>
          <a:ln/>
        </p:spPr>
      </p:sp>
      <p:sp>
        <p:nvSpPr>
          <p:cNvPr id="5" name="Text 3"/>
          <p:cNvSpPr/>
          <p:nvPr/>
        </p:nvSpPr>
        <p:spPr>
          <a:xfrm>
            <a:off x="1016000" y="2082701"/>
            <a:ext cx="31044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Visualiser</a:t>
            </a:r>
            <a:endParaRPr lang="en-US" sz="1500" dirty="0"/>
          </a:p>
        </p:txBody>
      </p:sp>
      <p:sp>
        <p:nvSpPr>
          <p:cNvPr id="6" name="Text 4"/>
          <p:cNvSpPr/>
          <p:nvPr/>
        </p:nvSpPr>
        <p:spPr>
          <a:xfrm>
            <a:off x="1016000" y="2362101"/>
            <a:ext cx="31044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Le travail en colonnes</a:t>
            </a:r>
            <a:endParaRPr lang="en-US" sz="1200" dirty="0"/>
          </a:p>
        </p:txBody>
      </p:sp>
      <p:sp>
        <p:nvSpPr>
          <p:cNvPr id="7" name="Shape 5"/>
          <p:cNvSpPr/>
          <p:nvPr/>
        </p:nvSpPr>
        <p:spPr>
          <a:xfrm>
            <a:off x="4385667" y="1879501"/>
            <a:ext cx="3420566" cy="1112441"/>
          </a:xfrm>
          <a:prstGeom prst="roundRect">
            <a:avLst>
              <a:gd name="adj" fmla="val 9133"/>
            </a:avLst>
          </a:prstGeom>
          <a:solidFill>
            <a:srgbClr val="14213D"/>
          </a:solidFill>
          <a:ln/>
        </p:spPr>
      </p:sp>
      <p:sp>
        <p:nvSpPr>
          <p:cNvPr id="8" name="Text 6"/>
          <p:cNvSpPr/>
          <p:nvPr/>
        </p:nvSpPr>
        <p:spPr>
          <a:xfrm>
            <a:off x="4588867" y="208270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Limiter le WIP</a:t>
            </a:r>
            <a:endParaRPr lang="en-US" sz="1500" dirty="0"/>
          </a:p>
        </p:txBody>
      </p:sp>
      <p:sp>
        <p:nvSpPr>
          <p:cNvPr id="9" name="Text 7"/>
          <p:cNvSpPr/>
          <p:nvPr/>
        </p:nvSpPr>
        <p:spPr>
          <a:xfrm>
            <a:off x="4588867" y="2362101"/>
            <a:ext cx="310459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Un maximum de tâches en cours par colonne</a:t>
            </a:r>
            <a:endParaRPr lang="en-US" sz="1200" dirty="0"/>
          </a:p>
        </p:txBody>
      </p:sp>
      <p:sp>
        <p:nvSpPr>
          <p:cNvPr id="10" name="Shape 8"/>
          <p:cNvSpPr/>
          <p:nvPr/>
        </p:nvSpPr>
        <p:spPr>
          <a:xfrm>
            <a:off x="7958634" y="1879501"/>
            <a:ext cx="3420566" cy="1112441"/>
          </a:xfrm>
          <a:prstGeom prst="roundRect">
            <a:avLst>
              <a:gd name="adj" fmla="val 9133"/>
            </a:avLst>
          </a:prstGeom>
          <a:solidFill>
            <a:srgbClr val="14213D"/>
          </a:solidFill>
          <a:ln/>
        </p:spPr>
      </p:sp>
      <p:sp>
        <p:nvSpPr>
          <p:cNvPr id="11" name="Text 9"/>
          <p:cNvSpPr/>
          <p:nvPr/>
        </p:nvSpPr>
        <p:spPr>
          <a:xfrm>
            <a:off x="8161834" y="2082701"/>
            <a:ext cx="31045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Gérer le flux</a:t>
            </a:r>
            <a:endParaRPr lang="en-US" sz="1500" dirty="0"/>
          </a:p>
        </p:txBody>
      </p:sp>
      <p:sp>
        <p:nvSpPr>
          <p:cNvPr id="12" name="Text 10"/>
          <p:cNvSpPr/>
          <p:nvPr/>
        </p:nvSpPr>
        <p:spPr>
          <a:xfrm>
            <a:off x="8161834" y="2362101"/>
            <a:ext cx="31045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Mesurer le temps de cycle, améliorer</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207841"/>
          <a:ext cx="10553700" cy="1796355"/>
        </p:xfrm>
        <a:graphic>
          <a:graphicData uri="http://schemas.openxmlformats.org/drawingml/2006/table">
            <a:tbl>
              <a:tblPr/>
              <a:tblGrid>
                <a:gridCol w="3166110"/>
                <a:gridCol w="3693795"/>
                <a:gridCol w="3693795"/>
              </a:tblGrid>
              <a:tr h="359271">
                <a:tc>
                  <a:txBody>
                    <a:bodyPr/>
                    <a:lstStyle/>
                    <a:p>
                      <a:pPr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Critère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Scrum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c>
                  <a:txBody>
                    <a:bodyPr/>
                    <a:lstStyle/>
                    <a:p>
                      <a:pPr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Kanban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BDC2"/>
                      </a:solidFill>
                      <a:prstDash val="solid"/>
                      <a:round/>
                      <a:headEnd type="none" w="med" len="med"/>
                      <a:tailEnd type="none" w="med" len="med"/>
                    </a:lnL>
                    <a:lnR w="12700" cap="flat" cmpd="sng" algn="ctr">
                      <a:solidFill>
                        <a:srgbClr val="BABDC2"/>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ABDC2"/>
                      </a:solidFill>
                      <a:prstDash val="solid"/>
                      <a:round/>
                      <a:headEnd type="none" w="med" len="med"/>
                      <a:tailEnd type="none" w="med" len="med"/>
                    </a:lnB>
                    <a:solidFill>
                      <a:srgbClr val="E9EDF3"/>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Rythme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Sprints de durée fixe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Flux continu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ABDC2"/>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Rôles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PO, Scrum Master, Developers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Pas de rôles imposés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Changement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Évité pendant le sprint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Possible à tout moment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Indicateur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Vélocité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Temps de cycle, débit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Atlassian, « Kanban » · The Kanban Guide, kanbanguides.org</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FEEDBACK</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Décrire des faits, pas juger la personne</a:t>
            </a:r>
            <a:endParaRPr lang="en-US" sz="3200" dirty="0"/>
          </a:p>
        </p:txBody>
      </p:sp>
      <p:sp>
        <p:nvSpPr>
          <p:cNvPr id="4" name="Shape 2"/>
          <p:cNvSpPr/>
          <p:nvPr/>
        </p:nvSpPr>
        <p:spPr>
          <a:xfrm>
            <a:off x="815975" y="1984276"/>
            <a:ext cx="5175250" cy="2131913"/>
          </a:xfrm>
          <a:prstGeom prst="roundRect">
            <a:avLst>
              <a:gd name="adj" fmla="val 4617"/>
            </a:avLst>
          </a:prstGeom>
          <a:solidFill>
            <a:srgbClr val="FDFDFB"/>
          </a:solidFill>
          <a:ln w="6350">
            <a:solidFill>
              <a:srgbClr val="DCE1E8"/>
            </a:solidFill>
            <a:prstDash val="solid"/>
          </a:ln>
        </p:spPr>
      </p:sp>
      <p:sp>
        <p:nvSpPr>
          <p:cNvPr id="5" name="Text 3"/>
          <p:cNvSpPr/>
          <p:nvPr/>
        </p:nvSpPr>
        <p:spPr>
          <a:xfrm>
            <a:off x="1073150" y="224145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Le modèle SBI</a:t>
            </a:r>
            <a:endParaRPr lang="en-US" sz="1600" dirty="0"/>
          </a:p>
        </p:txBody>
      </p:sp>
      <p:sp>
        <p:nvSpPr>
          <p:cNvPr id="6" name="Text 4"/>
          <p:cNvSpPr/>
          <p:nvPr/>
        </p:nvSpPr>
        <p:spPr>
          <a:xfrm>
            <a:off x="1073150" y="2586831"/>
            <a:ext cx="4800727"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B04E15"/>
                </a:solidFill>
                <a:latin typeface="IBM Plex Sans" pitchFamily="34" charset="0"/>
                <a:ea typeface="IBM Plex Sans" pitchFamily="34" charset="-122"/>
                <a:cs typeface="IBM Plex Sans" pitchFamily="34" charset="-120"/>
              </a:rPr>
              <a:t>Situation</a:t>
            </a:r>
            <a:r>
              <a:rPr lang="en-US" sz="1300" dirty="0">
                <a:solidFill>
                  <a:srgbClr val="3D4A5C"/>
                </a:solidFill>
                <a:latin typeface="IBM Plex Sans" pitchFamily="34" charset="0"/>
                <a:ea typeface="IBM Plex Sans" pitchFamily="34" charset="-122"/>
                <a:cs typeface="IBM Plex Sans" pitchFamily="34" charset="-120"/>
              </a:rPr>
              <a:t> · Lors du daily de mardi,</a:t>
            </a:r>
            <a:endParaRPr lang="en-US" sz="1300" dirty="0"/>
          </a:p>
          <a:p>
            <a:pPr algn="l" indent="0" marL="0">
              <a:lnSpc>
                <a:spcPts val="1950"/>
              </a:lnSpc>
              <a:buNone/>
            </a:pPr>
            <a:r>
              <a:rPr lang="en-US" sz="1300" b="1" dirty="0">
                <a:solidFill>
                  <a:srgbClr val="B04E15"/>
                </a:solidFill>
                <a:latin typeface="IBM Plex Sans" pitchFamily="34" charset="0"/>
                <a:ea typeface="IBM Plex Sans" pitchFamily="34" charset="-122"/>
                <a:cs typeface="IBM Plex Sans" pitchFamily="34" charset="-120"/>
              </a:rPr>
              <a:t>Behavior</a:t>
            </a:r>
            <a:r>
              <a:rPr lang="en-US" sz="1300" dirty="0">
                <a:solidFill>
                  <a:srgbClr val="3D4A5C"/>
                </a:solidFill>
                <a:latin typeface="IBM Plex Sans" pitchFamily="34" charset="0"/>
                <a:ea typeface="IBM Plex Sans" pitchFamily="34" charset="-122"/>
                <a:cs typeface="IBM Plex Sans" pitchFamily="34" charset="-120"/>
              </a:rPr>
              <a:t> · tu as coupé la parole à Léa deux fois ;</a:t>
            </a:r>
            <a:endParaRPr lang="en-US" sz="1300" dirty="0"/>
          </a:p>
          <a:p>
            <a:pPr algn="l" indent="0" marL="0">
              <a:lnSpc>
                <a:spcPts val="1950"/>
              </a:lnSpc>
              <a:buNone/>
            </a:pPr>
            <a:r>
              <a:rPr lang="en-US" sz="1300" b="1" dirty="0">
                <a:solidFill>
                  <a:srgbClr val="B04E15"/>
                </a:solidFill>
                <a:latin typeface="IBM Plex Sans" pitchFamily="34" charset="0"/>
                <a:ea typeface="IBM Plex Sans" pitchFamily="34" charset="-122"/>
                <a:cs typeface="IBM Plex Sans" pitchFamily="34" charset="-120"/>
              </a:rPr>
              <a:t>Impact</a:t>
            </a:r>
            <a:r>
              <a:rPr lang="en-US" sz="1300" dirty="0">
                <a:solidFill>
                  <a:srgbClr val="3D4A5C"/>
                </a:solidFill>
                <a:latin typeface="IBM Plex Sans" pitchFamily="34" charset="0"/>
                <a:ea typeface="IBM Plex Sans" pitchFamily="34" charset="-122"/>
                <a:cs typeface="IBM Plex Sans" pitchFamily="34" charset="-120"/>
              </a:rPr>
              <a:t> · elle n'a pas pu signaler son blocage.</a:t>
            </a:r>
            <a:endParaRPr lang="en-US" sz="1300" dirty="0"/>
          </a:p>
        </p:txBody>
      </p:sp>
      <p:sp>
        <p:nvSpPr>
          <p:cNvPr id="7" name="Text 5"/>
          <p:cNvSpPr/>
          <p:nvPr/>
        </p:nvSpPr>
        <p:spPr>
          <a:xfrm>
            <a:off x="1073150" y="343138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Pour recevoir : écouter jusqu'au bout, remercier, reformuler, ne pas se justifier tout de suite.</a:t>
            </a:r>
            <a:endParaRPr lang="en-US" sz="1200" dirty="0"/>
          </a:p>
        </p:txBody>
      </p:sp>
      <p:sp>
        <p:nvSpPr>
          <p:cNvPr id="8" name="Shape 6"/>
          <p:cNvSpPr/>
          <p:nvPr/>
        </p:nvSpPr>
        <p:spPr>
          <a:xfrm>
            <a:off x="6200775" y="1984276"/>
            <a:ext cx="5175250" cy="2131913"/>
          </a:xfrm>
          <a:prstGeom prst="roundRect">
            <a:avLst>
              <a:gd name="adj" fmla="val 4617"/>
            </a:avLst>
          </a:prstGeom>
          <a:solidFill>
            <a:srgbClr val="FDFDFB"/>
          </a:solidFill>
          <a:ln w="6350">
            <a:solidFill>
              <a:srgbClr val="DCE1E8"/>
            </a:solidFill>
            <a:prstDash val="solid"/>
          </a:ln>
        </p:spPr>
      </p:sp>
      <p:sp>
        <p:nvSpPr>
          <p:cNvPr id="9" name="Text 7"/>
          <p:cNvSpPr/>
          <p:nvPr/>
        </p:nvSpPr>
        <p:spPr>
          <a:xfrm>
            <a:off x="6457950" y="2241451"/>
            <a:ext cx="480072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La revue de code bienveillante</a:t>
            </a:r>
            <a:endParaRPr lang="en-US" sz="1600" dirty="0"/>
          </a:p>
        </p:txBody>
      </p:sp>
      <p:sp>
        <p:nvSpPr>
          <p:cNvPr id="10" name="Text 8"/>
          <p:cNvSpPr/>
          <p:nvPr/>
        </p:nvSpPr>
        <p:spPr>
          <a:xfrm>
            <a:off x="6543294" y="2586831"/>
            <a:ext cx="4707763" cy="982662"/>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Commenter le code, pas la personne</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Expliquer le pourquoi</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Distinguer bloquant et optionnel</a:t>
            </a:r>
            <a:endParaRPr lang="en-US" sz="1300" dirty="0"/>
          </a:p>
          <a:p>
            <a:pPr algn="l" marL="168656" indent="-168656">
              <a:lnSpc>
                <a:spcPts val="1885"/>
              </a:lnSpc>
              <a:buSzPct val="100000"/>
              <a:buChar char="•"/>
            </a:pPr>
            <a:r>
              <a:rPr lang="en-US" sz="1300" dirty="0">
                <a:solidFill>
                  <a:srgbClr val="3D4A5C"/>
                </a:solidFill>
                <a:latin typeface="IBM Plex Sans" pitchFamily="34" charset="0"/>
                <a:ea typeface="IBM Plex Sans" pitchFamily="34" charset="-122"/>
                <a:cs typeface="IBM Plex Sans" pitchFamily="34" charset="-120"/>
              </a:rPr>
              <a:t>Féliciter ce qui est bien fait</a:t>
            </a:r>
            <a:endParaRPr lang="en-US" sz="1300" dirty="0"/>
          </a:p>
        </p:txBody>
      </p:sp>
      <p:sp>
        <p:nvSpPr>
          <p:cNvPr id="11" name="Text 9"/>
          <p:cNvSpPr/>
          <p:nvPr/>
        </p:nvSpPr>
        <p:spPr>
          <a:xfrm>
            <a:off x="6457950" y="3645694"/>
            <a:ext cx="48007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Courier New" pitchFamily="49" charset="0"/>
                <a:ea typeface="Courier New" pitchFamily="49" charset="-122"/>
                <a:cs typeface="Courier New" pitchFamily="49" charset="-120"/>
              </a:rPr>
              <a:t>suggestion: · question: · nitpick: · praise:</a:t>
            </a:r>
            <a:endParaRPr lang="en-US" sz="12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Center for Creative Leadership (SBI) · Google Engineering Practices · conventionalcomments.org</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A · 30 MIN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Kanban du support</a:t>
            </a:r>
            <a:endParaRPr lang="en-US" sz="3200" dirty="0"/>
          </a:p>
        </p:txBody>
      </p:sp>
      <p:sp>
        <p:nvSpPr>
          <p:cNvPr id="4" name="Text 2"/>
          <p:cNvSpPr/>
          <p:nvPr/>
        </p:nvSpPr>
        <p:spPr>
          <a:xfrm>
            <a:off x="812800" y="187950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Créez dans Jira un tableau Kanban, puis jouez 3 tours de 5 minutes avec les 15 demandes distribuées.</a:t>
            </a:r>
            <a:endParaRPr lang="en-US" sz="1400" dirty="0"/>
          </a:p>
        </p:txBody>
      </p:sp>
      <p:sp>
        <p:nvSpPr>
          <p:cNvPr id="5" name="Text 3"/>
          <p:cNvSpPr/>
          <p:nvPr/>
        </p:nvSpPr>
        <p:spPr>
          <a:xfrm>
            <a:off x="812800" y="2331541"/>
            <a:ext cx="2052241" cy="812701"/>
          </a:xfrm>
          <a:prstGeom prst="roundRect">
            <a:avLst>
              <a:gd name="adj" fmla="val 9376"/>
            </a:avLst>
          </a:prstGeom>
          <a:solidFill>
            <a:srgbClr val="FDFDFB"/>
          </a:solidFill>
          <a:ln/>
        </p:spPr>
        <p:txBody>
          <a:bodyPr wrap="square" lIns="130082" tIns="168182" rIns="77659" bIns="130082"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À faire</a:t>
            </a:r>
            <a:endParaRPr lang="en-US" sz="1300" dirty="0"/>
          </a:p>
        </p:txBody>
      </p:sp>
      <p:sp>
        <p:nvSpPr>
          <p:cNvPr id="6" name="Shape 4"/>
          <p:cNvSpPr/>
          <p:nvPr/>
        </p:nvSpPr>
        <p:spPr>
          <a:xfrm>
            <a:off x="812800" y="2331541"/>
            <a:ext cx="2052241" cy="812701"/>
          </a:xfrm>
          <a:custGeom>
            <a:avLst/>
            <a:gdLst/>
            <a:ahLst/>
            <a:cxnLst/>
            <a:rect l="l" t="t" r="r" b="b"/>
            <a:pathLst>
              <a:path w="2052241" h="812701">
                <a:moveTo>
                  <a:pt x="0" y="76200"/>
                </a:moveTo>
                <a:lnTo>
                  <a:pt x="0" y="76200"/>
                </a:lnTo>
                <a:arcTo hR="76200" wR="76200" stAng="10800000" swAng="5400000"/>
                <a:lnTo>
                  <a:pt x="1976041" y="0"/>
                </a:lnTo>
                <a:arcTo hR="76200" wR="76200" stAng="16200000" swAng="5400000"/>
                <a:lnTo>
                  <a:pt x="2052241" y="76200"/>
                </a:lnTo>
                <a:arcTo hR="38100" wR="76200" stAng="0" swAng="-5400000"/>
                <a:lnTo>
                  <a:pt x="76200" y="38100"/>
                </a:lnTo>
                <a:arcTo hR="38100" wR="76200" stAng="16200000" swAng="-5400000"/>
                <a:close/>
              </a:path>
            </a:pathLst>
          </a:custGeom>
          <a:solidFill>
            <a:srgbClr val="14213D"/>
          </a:solidFill>
          <a:ln/>
        </p:spPr>
      </p:sp>
      <p:sp>
        <p:nvSpPr>
          <p:cNvPr id="7" name="Shape 5"/>
          <p:cNvSpPr/>
          <p:nvPr/>
        </p:nvSpPr>
        <p:spPr>
          <a:xfrm>
            <a:off x="2941241" y="2331541"/>
            <a:ext cx="2052340" cy="812701"/>
          </a:xfrm>
          <a:prstGeom prst="roundRect">
            <a:avLst>
              <a:gd name="adj" fmla="val 9376"/>
            </a:avLst>
          </a:prstGeom>
          <a:solidFill>
            <a:srgbClr val="FDFDFB"/>
          </a:solidFill>
          <a:ln/>
        </p:spPr>
      </p:sp>
      <p:sp>
        <p:nvSpPr>
          <p:cNvPr id="8" name="Shape 6"/>
          <p:cNvSpPr/>
          <p:nvPr/>
        </p:nvSpPr>
        <p:spPr>
          <a:xfrm>
            <a:off x="2941241" y="2331541"/>
            <a:ext cx="2052340" cy="812701"/>
          </a:xfrm>
          <a:custGeom>
            <a:avLst/>
            <a:gdLst/>
            <a:ahLst/>
            <a:cxnLst/>
            <a:rect l="l" t="t" r="r" b="b"/>
            <a:pathLst>
              <a:path w="2052340" h="812701">
                <a:moveTo>
                  <a:pt x="0" y="76200"/>
                </a:moveTo>
                <a:lnTo>
                  <a:pt x="0" y="76200"/>
                </a:lnTo>
                <a:arcTo hR="76200" wR="76200" stAng="10800000" swAng="5400000"/>
                <a:lnTo>
                  <a:pt x="1976140" y="0"/>
                </a:lnTo>
                <a:arcTo hR="76200" wR="76200" stAng="16200000" swAng="5400000"/>
                <a:lnTo>
                  <a:pt x="2052340" y="76200"/>
                </a:lnTo>
                <a:arcTo hR="38100" wR="76200" stAng="0" swAng="-5400000"/>
                <a:lnTo>
                  <a:pt x="76200" y="38100"/>
                </a:lnTo>
                <a:arcTo hR="38100" wR="76200" stAng="16200000" swAng="-5400000"/>
                <a:close/>
              </a:path>
            </a:pathLst>
          </a:custGeom>
          <a:solidFill>
            <a:srgbClr val="14213D"/>
          </a:solidFill>
          <a:ln/>
        </p:spPr>
      </p:sp>
      <p:sp>
        <p:nvSpPr>
          <p:cNvPr id="9" name="Text 7"/>
          <p:cNvSpPr/>
          <p:nvPr/>
        </p:nvSpPr>
        <p:spPr>
          <a:xfrm>
            <a:off x="3093641" y="2522041"/>
            <a:ext cx="17999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En analyse</a:t>
            </a:r>
            <a:endParaRPr lang="en-US" sz="1300" dirty="0"/>
          </a:p>
        </p:txBody>
      </p:sp>
      <p:sp>
        <p:nvSpPr>
          <p:cNvPr id="10" name="Text 8"/>
          <p:cNvSpPr/>
          <p:nvPr/>
        </p:nvSpPr>
        <p:spPr>
          <a:xfrm>
            <a:off x="3093641" y="2778522"/>
            <a:ext cx="17999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E15"/>
                </a:solidFill>
                <a:latin typeface="IBM Plex Sans" pitchFamily="34" charset="0"/>
                <a:ea typeface="IBM Plex Sans" pitchFamily="34" charset="-122"/>
                <a:cs typeface="IBM Plex Sans" pitchFamily="34" charset="-120"/>
              </a:rPr>
              <a:t>WIP 2</a:t>
            </a:r>
            <a:endParaRPr lang="en-US" sz="1200" dirty="0"/>
          </a:p>
        </p:txBody>
      </p:sp>
      <p:sp>
        <p:nvSpPr>
          <p:cNvPr id="11" name="Shape 9"/>
          <p:cNvSpPr/>
          <p:nvPr/>
        </p:nvSpPr>
        <p:spPr>
          <a:xfrm>
            <a:off x="5069780" y="2331541"/>
            <a:ext cx="2052340" cy="812701"/>
          </a:xfrm>
          <a:prstGeom prst="roundRect">
            <a:avLst>
              <a:gd name="adj" fmla="val 9376"/>
            </a:avLst>
          </a:prstGeom>
          <a:solidFill>
            <a:srgbClr val="FDFDFB"/>
          </a:solidFill>
          <a:ln/>
        </p:spPr>
      </p:sp>
      <p:sp>
        <p:nvSpPr>
          <p:cNvPr id="12" name="Shape 10"/>
          <p:cNvSpPr/>
          <p:nvPr/>
        </p:nvSpPr>
        <p:spPr>
          <a:xfrm>
            <a:off x="5069780" y="2331541"/>
            <a:ext cx="2052340" cy="812701"/>
          </a:xfrm>
          <a:custGeom>
            <a:avLst/>
            <a:gdLst/>
            <a:ahLst/>
            <a:cxnLst/>
            <a:rect l="l" t="t" r="r" b="b"/>
            <a:pathLst>
              <a:path w="2052340" h="812701">
                <a:moveTo>
                  <a:pt x="0" y="76200"/>
                </a:moveTo>
                <a:lnTo>
                  <a:pt x="0" y="76200"/>
                </a:lnTo>
                <a:arcTo hR="76200" wR="76200" stAng="10800000" swAng="5400000"/>
                <a:lnTo>
                  <a:pt x="1976140" y="0"/>
                </a:lnTo>
                <a:arcTo hR="76200" wR="76200" stAng="16200000" swAng="5400000"/>
                <a:lnTo>
                  <a:pt x="2052340" y="76200"/>
                </a:lnTo>
                <a:arcTo hR="38100" wR="76200" stAng="0" swAng="-5400000"/>
                <a:lnTo>
                  <a:pt x="76200" y="38100"/>
                </a:lnTo>
                <a:arcTo hR="38100" wR="76200" stAng="16200000" swAng="-5400000"/>
                <a:close/>
              </a:path>
            </a:pathLst>
          </a:custGeom>
          <a:solidFill>
            <a:srgbClr val="14213D"/>
          </a:solidFill>
          <a:ln/>
        </p:spPr>
      </p:sp>
      <p:sp>
        <p:nvSpPr>
          <p:cNvPr id="13" name="Text 11"/>
          <p:cNvSpPr/>
          <p:nvPr/>
        </p:nvSpPr>
        <p:spPr>
          <a:xfrm>
            <a:off x="5222180" y="2522041"/>
            <a:ext cx="17999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En cours</a:t>
            </a:r>
            <a:endParaRPr lang="en-US" sz="1300" dirty="0"/>
          </a:p>
        </p:txBody>
      </p:sp>
      <p:sp>
        <p:nvSpPr>
          <p:cNvPr id="14" name="Text 12"/>
          <p:cNvSpPr/>
          <p:nvPr/>
        </p:nvSpPr>
        <p:spPr>
          <a:xfrm>
            <a:off x="5222180" y="2778522"/>
            <a:ext cx="17999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E15"/>
                </a:solidFill>
                <a:latin typeface="IBM Plex Sans" pitchFamily="34" charset="0"/>
                <a:ea typeface="IBM Plex Sans" pitchFamily="34" charset="-122"/>
                <a:cs typeface="IBM Plex Sans" pitchFamily="34" charset="-120"/>
              </a:rPr>
              <a:t>WIP 2</a:t>
            </a:r>
            <a:endParaRPr lang="en-US" sz="1200" dirty="0"/>
          </a:p>
        </p:txBody>
      </p:sp>
      <p:sp>
        <p:nvSpPr>
          <p:cNvPr id="15" name="Shape 13"/>
          <p:cNvSpPr/>
          <p:nvPr/>
        </p:nvSpPr>
        <p:spPr>
          <a:xfrm>
            <a:off x="7198320" y="2331541"/>
            <a:ext cx="2052340" cy="812701"/>
          </a:xfrm>
          <a:prstGeom prst="roundRect">
            <a:avLst>
              <a:gd name="adj" fmla="val 9376"/>
            </a:avLst>
          </a:prstGeom>
          <a:solidFill>
            <a:srgbClr val="FDFDFB"/>
          </a:solidFill>
          <a:ln/>
        </p:spPr>
      </p:sp>
      <p:sp>
        <p:nvSpPr>
          <p:cNvPr id="16" name="Shape 14"/>
          <p:cNvSpPr/>
          <p:nvPr/>
        </p:nvSpPr>
        <p:spPr>
          <a:xfrm>
            <a:off x="7198320" y="2331541"/>
            <a:ext cx="2052340" cy="812701"/>
          </a:xfrm>
          <a:custGeom>
            <a:avLst/>
            <a:gdLst/>
            <a:ahLst/>
            <a:cxnLst/>
            <a:rect l="l" t="t" r="r" b="b"/>
            <a:pathLst>
              <a:path w="2052340" h="812701">
                <a:moveTo>
                  <a:pt x="0" y="76200"/>
                </a:moveTo>
                <a:lnTo>
                  <a:pt x="0" y="76200"/>
                </a:lnTo>
                <a:arcTo hR="76200" wR="76200" stAng="10800000" swAng="5400000"/>
                <a:lnTo>
                  <a:pt x="1976140" y="0"/>
                </a:lnTo>
                <a:arcTo hR="76200" wR="76200" stAng="16200000" swAng="5400000"/>
                <a:lnTo>
                  <a:pt x="2052340" y="76200"/>
                </a:lnTo>
                <a:arcTo hR="38100" wR="76200" stAng="0" swAng="-5400000"/>
                <a:lnTo>
                  <a:pt x="76200" y="38100"/>
                </a:lnTo>
                <a:arcTo hR="38100" wR="76200" stAng="16200000" swAng="-5400000"/>
                <a:close/>
              </a:path>
            </a:pathLst>
          </a:custGeom>
          <a:solidFill>
            <a:srgbClr val="14213D"/>
          </a:solidFill>
          <a:ln/>
        </p:spPr>
      </p:sp>
      <p:sp>
        <p:nvSpPr>
          <p:cNvPr id="17" name="Text 15"/>
          <p:cNvSpPr/>
          <p:nvPr/>
        </p:nvSpPr>
        <p:spPr>
          <a:xfrm>
            <a:off x="7350720" y="2522041"/>
            <a:ext cx="17999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En test</a:t>
            </a:r>
            <a:endParaRPr lang="en-US" sz="1300" dirty="0"/>
          </a:p>
        </p:txBody>
      </p:sp>
      <p:sp>
        <p:nvSpPr>
          <p:cNvPr id="18" name="Text 16"/>
          <p:cNvSpPr/>
          <p:nvPr/>
        </p:nvSpPr>
        <p:spPr>
          <a:xfrm>
            <a:off x="7350720" y="2778522"/>
            <a:ext cx="17999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04E15"/>
                </a:solidFill>
                <a:latin typeface="IBM Plex Sans" pitchFamily="34" charset="0"/>
                <a:ea typeface="IBM Plex Sans" pitchFamily="34" charset="-122"/>
                <a:cs typeface="IBM Plex Sans" pitchFamily="34" charset="-120"/>
              </a:rPr>
              <a:t>WIP 2</a:t>
            </a:r>
            <a:endParaRPr lang="en-US" sz="1200" dirty="0"/>
          </a:p>
        </p:txBody>
      </p:sp>
      <p:sp>
        <p:nvSpPr>
          <p:cNvPr id="19" name="Text 17"/>
          <p:cNvSpPr/>
          <p:nvPr/>
        </p:nvSpPr>
        <p:spPr>
          <a:xfrm>
            <a:off x="9326860" y="2331541"/>
            <a:ext cx="2052340" cy="812701"/>
          </a:xfrm>
          <a:prstGeom prst="roundRect">
            <a:avLst>
              <a:gd name="adj" fmla="val 9376"/>
            </a:avLst>
          </a:prstGeom>
          <a:solidFill>
            <a:srgbClr val="FDFDFB"/>
          </a:solidFill>
          <a:ln/>
        </p:spPr>
        <p:txBody>
          <a:bodyPr wrap="square" lIns="130082" tIns="168182" rIns="77656" bIns="130082"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Terminé</a:t>
            </a:r>
            <a:endParaRPr lang="en-US" sz="1300" dirty="0"/>
          </a:p>
        </p:txBody>
      </p:sp>
      <p:sp>
        <p:nvSpPr>
          <p:cNvPr id="20" name="Shape 18"/>
          <p:cNvSpPr/>
          <p:nvPr/>
        </p:nvSpPr>
        <p:spPr>
          <a:xfrm>
            <a:off x="9326860" y="2331541"/>
            <a:ext cx="2052340" cy="812701"/>
          </a:xfrm>
          <a:custGeom>
            <a:avLst/>
            <a:gdLst/>
            <a:ahLst/>
            <a:cxnLst/>
            <a:rect l="l" t="t" r="r" b="b"/>
            <a:pathLst>
              <a:path w="2052340" h="812701">
                <a:moveTo>
                  <a:pt x="0" y="76200"/>
                </a:moveTo>
                <a:lnTo>
                  <a:pt x="0" y="76200"/>
                </a:lnTo>
                <a:arcTo hR="76200" wR="76200" stAng="10800000" swAng="5400000"/>
                <a:lnTo>
                  <a:pt x="1976140" y="0"/>
                </a:lnTo>
                <a:arcTo hR="76200" wR="76200" stAng="16200000" swAng="5400000"/>
                <a:lnTo>
                  <a:pt x="2052340" y="76200"/>
                </a:lnTo>
                <a:arcTo hR="38100" wR="76200" stAng="0" swAng="-5400000"/>
                <a:lnTo>
                  <a:pt x="76200" y="38100"/>
                </a:lnTo>
                <a:arcTo hR="38100" wR="76200" stAng="16200000" swAng="-5400000"/>
                <a:close/>
              </a:path>
            </a:pathLst>
          </a:custGeom>
          <a:solidFill>
            <a:srgbClr val="14213D"/>
          </a:solidFill>
          <a:ln/>
        </p:spPr>
      </p:sp>
      <p:sp>
        <p:nvSpPr>
          <p:cNvPr id="21" name="Shape 19"/>
          <p:cNvSpPr/>
          <p:nvPr/>
        </p:nvSpPr>
        <p:spPr>
          <a:xfrm>
            <a:off x="812800" y="3347442"/>
            <a:ext cx="3420467" cy="901601"/>
          </a:xfrm>
          <a:prstGeom prst="roundRect">
            <a:avLst>
              <a:gd name="adj" fmla="val 11269"/>
            </a:avLst>
          </a:prstGeom>
          <a:solidFill>
            <a:srgbClr val="14213D"/>
          </a:solidFill>
          <a:ln/>
        </p:spPr>
      </p:sp>
      <p:sp>
        <p:nvSpPr>
          <p:cNvPr id="22" name="Text 20"/>
          <p:cNvSpPr/>
          <p:nvPr/>
        </p:nvSpPr>
        <p:spPr>
          <a:xfrm>
            <a:off x="1016000" y="3550642"/>
            <a:ext cx="31044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Tour 1</a:t>
            </a:r>
            <a:endParaRPr lang="en-US" sz="1400" dirty="0"/>
          </a:p>
        </p:txBody>
      </p:sp>
      <p:sp>
        <p:nvSpPr>
          <p:cNvPr id="23" name="Text 21"/>
          <p:cNvSpPr/>
          <p:nvPr/>
        </p:nvSpPr>
        <p:spPr>
          <a:xfrm>
            <a:off x="1016000" y="3814763"/>
            <a:ext cx="310448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1"/>
                </a:solidFill>
                <a:latin typeface="IBM Plex Sans" pitchFamily="34" charset="0"/>
                <a:ea typeface="IBM Plex Sans" pitchFamily="34" charset="-122"/>
                <a:cs typeface="IBM Plex Sans" pitchFamily="34" charset="-120"/>
              </a:rPr>
              <a:t>Sans limite WIP</a:t>
            </a:r>
            <a:endParaRPr lang="en-US" sz="1300" dirty="0"/>
          </a:p>
        </p:txBody>
      </p:sp>
      <p:sp>
        <p:nvSpPr>
          <p:cNvPr id="24" name="Shape 22"/>
          <p:cNvSpPr/>
          <p:nvPr/>
        </p:nvSpPr>
        <p:spPr>
          <a:xfrm>
            <a:off x="4385667" y="3347442"/>
            <a:ext cx="3420566" cy="901601"/>
          </a:xfrm>
          <a:prstGeom prst="roundRect">
            <a:avLst>
              <a:gd name="adj" fmla="val 11269"/>
            </a:avLst>
          </a:prstGeom>
          <a:solidFill>
            <a:srgbClr val="14213D"/>
          </a:solidFill>
          <a:ln/>
        </p:spPr>
      </p:sp>
      <p:sp>
        <p:nvSpPr>
          <p:cNvPr id="25" name="Text 23"/>
          <p:cNvSpPr/>
          <p:nvPr/>
        </p:nvSpPr>
        <p:spPr>
          <a:xfrm>
            <a:off x="4588867" y="3550642"/>
            <a:ext cx="31045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Tours 2 et 3</a:t>
            </a:r>
            <a:endParaRPr lang="en-US" sz="1400" dirty="0"/>
          </a:p>
        </p:txBody>
      </p:sp>
      <p:sp>
        <p:nvSpPr>
          <p:cNvPr id="26" name="Text 24"/>
          <p:cNvSpPr/>
          <p:nvPr/>
        </p:nvSpPr>
        <p:spPr>
          <a:xfrm>
            <a:off x="4588867" y="3814763"/>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1"/>
                </a:solidFill>
                <a:latin typeface="IBM Plex Sans" pitchFamily="34" charset="0"/>
                <a:ea typeface="IBM Plex Sans" pitchFamily="34" charset="-122"/>
                <a:cs typeface="IBM Plex Sans" pitchFamily="34" charset="-120"/>
              </a:rPr>
              <a:t>Limite de 2 par colonne</a:t>
            </a:r>
            <a:endParaRPr lang="en-US" sz="1300" dirty="0"/>
          </a:p>
        </p:txBody>
      </p:sp>
      <p:sp>
        <p:nvSpPr>
          <p:cNvPr id="27" name="Shape 25"/>
          <p:cNvSpPr/>
          <p:nvPr/>
        </p:nvSpPr>
        <p:spPr>
          <a:xfrm>
            <a:off x="7958634" y="3347442"/>
            <a:ext cx="3420566" cy="901601"/>
          </a:xfrm>
          <a:prstGeom prst="roundRect">
            <a:avLst>
              <a:gd name="adj" fmla="val 11269"/>
            </a:avLst>
          </a:prstGeom>
          <a:solidFill>
            <a:srgbClr val="14213D"/>
          </a:solidFill>
          <a:ln/>
        </p:spPr>
      </p:sp>
      <p:sp>
        <p:nvSpPr>
          <p:cNvPr id="28" name="Text 26"/>
          <p:cNvSpPr/>
          <p:nvPr/>
        </p:nvSpPr>
        <p:spPr>
          <a:xfrm>
            <a:off x="8161834" y="3550642"/>
            <a:ext cx="310459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2A65A"/>
                </a:solidFill>
                <a:latin typeface="IBM Plex Sans" pitchFamily="34" charset="0"/>
                <a:ea typeface="IBM Plex Sans" pitchFamily="34" charset="-122"/>
                <a:cs typeface="IBM Plex Sans" pitchFamily="34" charset="-120"/>
              </a:rPr>
              <a:t>À chaque tour</a:t>
            </a:r>
            <a:endParaRPr lang="en-US" sz="1400" dirty="0"/>
          </a:p>
        </p:txBody>
      </p:sp>
      <p:sp>
        <p:nvSpPr>
          <p:cNvPr id="29" name="Text 27"/>
          <p:cNvSpPr/>
          <p:nvPr/>
        </p:nvSpPr>
        <p:spPr>
          <a:xfrm>
            <a:off x="8161834" y="3814763"/>
            <a:ext cx="310459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4E9F1"/>
                </a:solidFill>
                <a:latin typeface="IBM Plex Sans" pitchFamily="34" charset="0"/>
                <a:ea typeface="IBM Plex Sans" pitchFamily="34" charset="-122"/>
                <a:cs typeface="IBM Plex Sans" pitchFamily="34" charset="-120"/>
              </a:rPr>
              <a:t>Comptez les demandes terminées</a:t>
            </a:r>
            <a:endParaRPr lang="en-US" sz="13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7</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B · 45 MIN</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La revue de code qui blesse</a:t>
            </a:r>
            <a:endParaRPr lang="en-US" sz="3200" dirty="0"/>
          </a:p>
        </p:txBody>
      </p:sp>
      <p:sp>
        <p:nvSpPr>
          <p:cNvPr id="4" name="Shape 2"/>
          <p:cNvSpPr/>
          <p:nvPr/>
        </p:nvSpPr>
        <p:spPr>
          <a:xfrm>
            <a:off x="812800" y="1879501"/>
            <a:ext cx="5156200" cy="2489002"/>
          </a:xfrm>
          <a:prstGeom prst="roundRect">
            <a:avLst>
              <a:gd name="adj" fmla="val 4082"/>
            </a:avLst>
          </a:prstGeom>
          <a:solidFill>
            <a:srgbClr val="FDFDFB"/>
          </a:solidFill>
          <a:ln/>
        </p:spPr>
      </p:sp>
      <p:sp>
        <p:nvSpPr>
          <p:cNvPr id="5" name="Shape 3"/>
          <p:cNvSpPr/>
          <p:nvPr/>
        </p:nvSpPr>
        <p:spPr>
          <a:xfrm>
            <a:off x="812800" y="1879501"/>
            <a:ext cx="5156200" cy="2489002"/>
          </a:xfrm>
          <a:custGeom>
            <a:avLst/>
            <a:gdLst/>
            <a:ahLst/>
            <a:cxnLst/>
            <a:rect l="l" t="t" r="r" b="b"/>
            <a:pathLst>
              <a:path w="5156200" h="2489002">
                <a:moveTo>
                  <a:pt x="101600" y="2489002"/>
                </a:moveTo>
                <a:lnTo>
                  <a:pt x="101600" y="2489002"/>
                </a:lnTo>
                <a:arcTo hR="101600" wR="101600" stAng="5400000" swAng="5400000"/>
                <a:lnTo>
                  <a:pt x="0" y="101600"/>
                </a:lnTo>
                <a:arcTo hR="101600" wR="101600" stAng="10800000" swAng="5400000"/>
                <a:lnTo>
                  <a:pt x="101600" y="0"/>
                </a:lnTo>
                <a:arcTo hR="101600" wR="50800" stAng="16200000" swAng="-5400000"/>
                <a:lnTo>
                  <a:pt x="50800" y="2387402"/>
                </a:lnTo>
                <a:arcTo hR="101600" wR="50800" stAng="10800000" swAng="-5400000"/>
                <a:close/>
              </a:path>
            </a:pathLst>
          </a:custGeom>
          <a:solidFill>
            <a:srgbClr val="B04E15"/>
          </a:solidFill>
          <a:ln/>
        </p:spPr>
      </p:sp>
      <p:sp>
        <p:nvSpPr>
          <p:cNvPr id="6" name="Text 4"/>
          <p:cNvSpPr/>
          <p:nvPr/>
        </p:nvSpPr>
        <p:spPr>
          <a:xfrm>
            <a:off x="1117600" y="2133501"/>
            <a:ext cx="473532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Première PR de Lina, junior arrivée il y a 3 semaines. Commentaires de Marc, senior :</a:t>
            </a:r>
            <a:endParaRPr lang="en-US" sz="1200" dirty="0"/>
          </a:p>
        </p:txBody>
      </p:sp>
      <p:sp>
        <p:nvSpPr>
          <p:cNvPr id="7" name="Text 5"/>
          <p:cNvSpPr/>
          <p:nvPr/>
        </p:nvSpPr>
        <p:spPr>
          <a:xfrm>
            <a:off x="1117600" y="2661741"/>
            <a:ext cx="4735322"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 C'est quoi ce nom de variable ? x2 ?? »</a:t>
            </a:r>
            <a:endParaRPr lang="en-US" sz="1400" dirty="0"/>
          </a:p>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 On t'a pas appris les boucles ? »</a:t>
            </a:r>
            <a:endParaRPr lang="en-US" sz="1400" dirty="0"/>
          </a:p>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 Non. »</a:t>
            </a:r>
            <a:endParaRPr lang="en-US" sz="1400" dirty="0"/>
          </a:p>
          <a:p>
            <a:pPr algn="l" indent="0" marL="0">
              <a:lnSpc>
                <a:spcPts val="2240"/>
              </a:lnSpc>
              <a:buNone/>
            </a:pPr>
            <a:r>
              <a:rPr lang="en-US" sz="1400" dirty="0">
                <a:solidFill>
                  <a:srgbClr val="14213D"/>
                </a:solidFill>
                <a:latin typeface="Courier New" pitchFamily="49" charset="0"/>
                <a:ea typeface="Courier New" pitchFamily="49" charset="-122"/>
                <a:cs typeface="Courier New" pitchFamily="49" charset="-120"/>
              </a:rPr>
              <a:t>« Refais tout, c'est illisible. »</a:t>
            </a:r>
            <a:endParaRPr lang="en-US" sz="1400" dirty="0"/>
          </a:p>
        </p:txBody>
      </p:sp>
      <p:sp>
        <p:nvSpPr>
          <p:cNvPr id="8" name="Text 6"/>
          <p:cNvSpPr/>
          <p:nvPr/>
        </p:nvSpPr>
        <p:spPr>
          <a:xfrm>
            <a:off x="1117600" y="3901182"/>
            <a:ext cx="47353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Le lendemain, Lina n'ouvre plus de PR.</a:t>
            </a:r>
            <a:endParaRPr lang="en-US" sz="1200" dirty="0"/>
          </a:p>
        </p:txBody>
      </p:sp>
      <p:sp>
        <p:nvSpPr>
          <p:cNvPr id="9" name="Shape 7"/>
          <p:cNvSpPr/>
          <p:nvPr/>
        </p:nvSpPr>
        <p:spPr>
          <a:xfrm>
            <a:off x="6223000" y="1879501"/>
            <a:ext cx="5156200" cy="2489002"/>
          </a:xfrm>
          <a:prstGeom prst="roundRect">
            <a:avLst>
              <a:gd name="adj" fmla="val 4082"/>
            </a:avLst>
          </a:prstGeom>
          <a:solidFill>
            <a:srgbClr val="14213D"/>
          </a:solidFill>
          <a:ln/>
        </p:spPr>
      </p:sp>
      <p:sp>
        <p:nvSpPr>
          <p:cNvPr id="10" name="Text 8"/>
          <p:cNvSpPr/>
          <p:nvPr/>
        </p:nvSpPr>
        <p:spPr>
          <a:xfrm>
            <a:off x="6477000" y="2133501"/>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À faire</a:t>
            </a:r>
            <a:endParaRPr lang="en-US" sz="1500" dirty="0"/>
          </a:p>
        </p:txBody>
      </p:sp>
      <p:sp>
        <p:nvSpPr>
          <p:cNvPr id="11" name="Text 9"/>
          <p:cNvSpPr/>
          <p:nvPr/>
        </p:nvSpPr>
        <p:spPr>
          <a:xfrm>
            <a:off x="6547941" y="2463701"/>
            <a:ext cx="4709085" cy="1461294"/>
          </a:xfrm>
          <a:prstGeom prst="rect">
            <a:avLst/>
          </a:prstGeom>
          <a:noFill/>
          <a:ln/>
        </p:spPr>
        <p:txBody>
          <a:bodyPr wrap="square" lIns="0" tIns="0" rIns="0" bIns="0" rtlCol="0" anchor="t">
            <a:normAutofit/>
          </a:bodyPr>
          <a:lstStyle/>
          <a:p>
            <a:pPr algn="l" marL="183059" indent="-183059">
              <a:lnSpc>
                <a:spcPts val="1885"/>
              </a:lnSpc>
              <a:buSzPct val="100000"/>
              <a:buFontTx/>
              <a:buAutoNum type="arabicPeriod" startAt="1"/>
            </a:pPr>
            <a:r>
              <a:rPr lang="en-US" sz="1300" dirty="0">
                <a:solidFill>
                  <a:srgbClr val="E4E9F1"/>
                </a:solidFill>
                <a:latin typeface="IBM Plex Sans" pitchFamily="34" charset="0"/>
                <a:ea typeface="IBM Plex Sans" pitchFamily="34" charset="-122"/>
                <a:cs typeface="IBM Plex Sans" pitchFamily="34" charset="-120"/>
              </a:rPr>
              <a:t>Impact sur Lina, l'équipe, le produit</a:t>
            </a:r>
            <a:endParaRPr lang="en-US" sz="1300" dirty="0"/>
          </a:p>
          <a:p>
            <a:pPr algn="l" marL="183059" indent="-183059">
              <a:lnSpc>
                <a:spcPts val="1885"/>
              </a:lnSpc>
              <a:buSzPct val="100000"/>
              <a:buFontTx/>
              <a:buAutoNum type="arabicPeriod" startAt="1"/>
            </a:pPr>
            <a:r>
              <a:rPr lang="en-US" sz="1300" dirty="0">
                <a:solidFill>
                  <a:srgbClr val="E4E9F1"/>
                </a:solidFill>
                <a:latin typeface="IBM Plex Sans" pitchFamily="34" charset="0"/>
                <a:ea typeface="IBM Plex Sans" pitchFamily="34" charset="-122"/>
                <a:cs typeface="IBM Plex Sans" pitchFamily="34" charset="-120"/>
              </a:rPr>
              <a:t>Réécrire les 4 commentaires (Conventional Comments), sans baisser l'exigence</a:t>
            </a:r>
            <a:endParaRPr lang="en-US" sz="1300" dirty="0"/>
          </a:p>
          <a:p>
            <a:pPr algn="l" marL="183059" indent="-183059">
              <a:lnSpc>
                <a:spcPts val="1885"/>
              </a:lnSpc>
              <a:buSzPct val="100000"/>
              <a:buFontTx/>
              <a:buAutoNum type="arabicPeriod" startAt="1"/>
            </a:pPr>
            <a:r>
              <a:rPr lang="en-US" sz="1300" dirty="0">
                <a:solidFill>
                  <a:srgbClr val="E4E9F1"/>
                </a:solidFill>
                <a:latin typeface="IBM Plex Sans" pitchFamily="34" charset="0"/>
                <a:ea typeface="IBM Plex Sans" pitchFamily="34" charset="-122"/>
                <a:cs typeface="IBM Plex Sans" pitchFamily="34" charset="-120"/>
              </a:rPr>
              <a:t>En binôme : jouer la conversation SBI entre le Tech Lead et Marc</a:t>
            </a:r>
            <a:endParaRPr lang="en-US" sz="1300" dirty="0"/>
          </a:p>
          <a:p>
            <a:pPr algn="l" marL="183059" indent="-183059">
              <a:lnSpc>
                <a:spcPts val="1885"/>
              </a:lnSpc>
              <a:buSzPct val="100000"/>
              <a:buFontTx/>
              <a:buAutoNum type="arabicPeriod" startAt="1"/>
            </a:pPr>
            <a:r>
              <a:rPr lang="en-US" sz="1300" dirty="0">
                <a:solidFill>
                  <a:srgbClr val="E4E9F1"/>
                </a:solidFill>
                <a:latin typeface="IBM Plex Sans" pitchFamily="34" charset="0"/>
                <a:ea typeface="IBM Plex Sans" pitchFamily="34" charset="-122"/>
                <a:cs typeface="IBM Plex Sans" pitchFamily="34" charset="-120"/>
              </a:rPr>
              <a:t>5 règles de revue pour le README</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7</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Exigeant et bienveillant à la fois</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Pourquoi le débit monte-t-il avec une limite WIP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Une revue exigeante peut-elle être bienveillante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Quelle règle de revue garderez-vous en stage ?</a:t>
            </a:r>
            <a:endParaRPr lang="en-US" sz="18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7294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8 · 2 H</a:t>
            </a:r>
            <a:endParaRPr lang="en-US" sz="1200" dirty="0"/>
          </a:p>
        </p:txBody>
      </p:sp>
      <p:sp>
        <p:nvSpPr>
          <p:cNvPr id="3" name="Text 1"/>
          <p:cNvSpPr/>
          <p:nvPr>
            <p:ph type="title"/>
          </p:nvPr>
        </p:nvSpPr>
        <p:spPr>
          <a:xfrm>
            <a:off x="812800" y="2189460"/>
            <a:ext cx="5546344" cy="19455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Tensions, distance et cultures</a:t>
            </a:r>
            <a:endParaRPr lang="en-US" sz="4800" dirty="0"/>
          </a:p>
        </p:txBody>
      </p:sp>
      <p:sp>
        <p:nvSpPr>
          <p:cNvPr id="4" name="Text 2"/>
          <p:cNvSpPr/>
          <p:nvPr/>
        </p:nvSpPr>
        <p:spPr>
          <a:xfrm>
            <a:off x="812800" y="4312841"/>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Reconnaître un conflit naissant, choisir une stratégie, collaborer dans une équipe dispersée.</a:t>
            </a:r>
            <a:endParaRPr lang="en-US" sz="1600" dirty="0"/>
          </a:p>
        </p:txBody>
      </p:sp>
      <p:sp>
        <p:nvSpPr>
          <p:cNvPr id="5" name="Shape 3"/>
          <p:cNvSpPr/>
          <p:nvPr/>
        </p:nvSpPr>
        <p:spPr>
          <a:xfrm>
            <a:off x="6807200" y="2209899"/>
            <a:ext cx="4572000" cy="2234902"/>
          </a:xfrm>
          <a:prstGeom prst="roundRect">
            <a:avLst>
              <a:gd name="adj" fmla="val 4546"/>
            </a:avLst>
          </a:prstGeom>
          <a:solidFill>
            <a:srgbClr val="1E2D4F"/>
          </a:solidFill>
          <a:ln/>
        </p:spPr>
      </p:sp>
      <p:sp>
        <p:nvSpPr>
          <p:cNvPr id="6" name="Text 4"/>
          <p:cNvSpPr/>
          <p:nvPr/>
        </p:nvSpPr>
        <p:spPr>
          <a:xfrm>
            <a:off x="7112000" y="2514699"/>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Déroulé</a:t>
            </a:r>
            <a:endParaRPr lang="en-US" sz="1600" dirty="0"/>
          </a:p>
        </p:txBody>
      </p:sp>
      <p:sp>
        <p:nvSpPr>
          <p:cNvPr id="7" name="Text 5"/>
          <p:cNvSpPr/>
          <p:nvPr/>
        </p:nvSpPr>
        <p:spPr>
          <a:xfrm>
            <a:off x="7112000" y="2910880"/>
            <a:ext cx="1193800"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0:00–0:30</a:t>
            </a:r>
            <a:endParaRPr lang="en-US" sz="1300" dirty="0"/>
          </a:p>
        </p:txBody>
      </p:sp>
      <p:sp>
        <p:nvSpPr>
          <p:cNvPr id="8" name="Text 6"/>
          <p:cNvSpPr/>
          <p:nvPr/>
        </p:nvSpPr>
        <p:spPr>
          <a:xfrm>
            <a:off x="8407400" y="2910880"/>
            <a:ext cx="27470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Cours : conflits, CNV, remote, interculturel</a:t>
            </a:r>
            <a:endParaRPr lang="en-US" sz="1300" dirty="0"/>
          </a:p>
        </p:txBody>
      </p:sp>
      <p:sp>
        <p:nvSpPr>
          <p:cNvPr id="9" name="Text 7"/>
          <p:cNvSpPr/>
          <p:nvPr/>
        </p:nvSpPr>
        <p:spPr>
          <a:xfrm>
            <a:off x="7112000" y="352544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0:30–1:35</a:t>
            </a:r>
            <a:endParaRPr lang="en-US" sz="1300" dirty="0"/>
          </a:p>
        </p:txBody>
      </p:sp>
      <p:sp>
        <p:nvSpPr>
          <p:cNvPr id="10" name="Text 8"/>
          <p:cNvSpPr/>
          <p:nvPr/>
        </p:nvSpPr>
        <p:spPr>
          <a:xfrm>
            <a:off x="8407400" y="352544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Jeu de rôle en 2 manches</a:t>
            </a:r>
            <a:endParaRPr lang="en-US" sz="1300" dirty="0"/>
          </a:p>
        </p:txBody>
      </p:sp>
      <p:sp>
        <p:nvSpPr>
          <p:cNvPr id="11" name="Text 9"/>
          <p:cNvSpPr/>
          <p:nvPr/>
        </p:nvSpPr>
        <p:spPr>
          <a:xfrm>
            <a:off x="7112000" y="3908921"/>
            <a:ext cx="11938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1:35–2:00</a:t>
            </a:r>
            <a:endParaRPr lang="en-US" sz="1300" dirty="0"/>
          </a:p>
        </p:txBody>
      </p:sp>
      <p:sp>
        <p:nvSpPr>
          <p:cNvPr id="12" name="Text 10"/>
          <p:cNvSpPr/>
          <p:nvPr/>
        </p:nvSpPr>
        <p:spPr>
          <a:xfrm>
            <a:off x="8407400" y="3908921"/>
            <a:ext cx="274701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Débrief collectif</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GÉRER UN CONFLIT</a:t>
            </a:r>
            <a:endParaRPr lang="en-US" sz="1200" dirty="0"/>
          </a:p>
        </p:txBody>
      </p:sp>
      <p:sp>
        <p:nvSpPr>
          <p:cNvPr id="3" name="Text 1"/>
          <p:cNvSpPr/>
          <p:nvPr>
            <p:ph type="title"/>
          </p:nvPr>
        </p:nvSpPr>
        <p:spPr>
          <a:xfrm>
            <a:off x="812800" y="12293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Cinq réactions possibles, aucune n'est toujours la bonne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39181"/>
          <a:ext cx="10553700" cy="2155627"/>
        </p:xfrm>
        <a:graphic>
          <a:graphicData uri="http://schemas.openxmlformats.org/drawingml/2006/table">
            <a:tbl>
              <a:tblPr/>
              <a:tblGrid>
                <a:gridCol w="2532888"/>
                <a:gridCol w="4221480"/>
                <a:gridCol w="3799332"/>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Mode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Adapté quand…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Risque si systématique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Compétition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Urgence, sécurité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Relations abîmées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Collaboration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Enjeu important pour les deux</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Lent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Compromis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Solution temporaire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Personne n'est satisfait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Évitement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Sujet mineur, besoin de recul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Le problème grossit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Accommodation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On a tort, la relation prime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Frustration accumulée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812800" y="4698008"/>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Un désaccord sur le </a:t>
            </a:r>
            <a:r>
              <a:rPr lang="en-US" sz="1400" i="1" dirty="0">
                <a:solidFill>
                  <a:srgbClr val="3D4A5C"/>
                </a:solidFill>
                <a:latin typeface="IBM Plex Sans" pitchFamily="34" charset="0"/>
                <a:ea typeface="IBM Plex Sans" pitchFamily="34" charset="-122"/>
                <a:cs typeface="IBM Plex Sans" pitchFamily="34" charset="-120"/>
              </a:rPr>
              <a:t>quoi</a:t>
            </a:r>
            <a:r>
              <a:rPr lang="en-US" sz="1400" dirty="0">
                <a:solidFill>
                  <a:srgbClr val="3D4A5C"/>
                </a:solidFill>
                <a:latin typeface="IBM Plex Sans" pitchFamily="34" charset="0"/>
                <a:ea typeface="IBM Plex Sans" pitchFamily="34" charset="-122"/>
                <a:cs typeface="IBM Plex Sans" pitchFamily="34" charset="-120"/>
              </a:rPr>
              <a:t> est sain s'il est traité tôt. Il devient toxique quand il glisse vers la personne.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 : Thomas-Kilmann Conflict Mode Instrument, kilmanndiagnostics.com</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OUTILS RELATIONNELS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Exprimer un besoin, à distance et entre cultures</a:t>
            </a:r>
            <a:endParaRPr lang="en-US" sz="3200" dirty="0"/>
          </a:p>
        </p:txBody>
      </p:sp>
      <p:sp>
        <p:nvSpPr>
          <p:cNvPr id="4" name="Shape 2"/>
          <p:cNvSpPr/>
          <p:nvPr/>
        </p:nvSpPr>
        <p:spPr>
          <a:xfrm>
            <a:off x="812800" y="1981101"/>
            <a:ext cx="3412034" cy="1658541"/>
          </a:xfrm>
          <a:prstGeom prst="roundRect">
            <a:avLst>
              <a:gd name="adj" fmla="val 6126"/>
            </a:avLst>
          </a:prstGeom>
          <a:solidFill>
            <a:srgbClr val="14213D"/>
          </a:solidFill>
          <a:ln/>
        </p:spPr>
      </p:sp>
      <p:sp>
        <p:nvSpPr>
          <p:cNvPr id="5" name="Text 3"/>
          <p:cNvSpPr/>
          <p:nvPr/>
        </p:nvSpPr>
        <p:spPr>
          <a:xfrm>
            <a:off x="1041400" y="2209701"/>
            <a:ext cx="30434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CNV : O-S-B-D</a:t>
            </a:r>
            <a:endParaRPr lang="en-US" sz="1500" dirty="0"/>
          </a:p>
        </p:txBody>
      </p:sp>
      <p:sp>
        <p:nvSpPr>
          <p:cNvPr id="6" name="Text 4"/>
          <p:cNvSpPr/>
          <p:nvPr/>
        </p:nvSpPr>
        <p:spPr>
          <a:xfrm>
            <a:off x="1041400" y="2514501"/>
            <a:ext cx="3043479" cy="90924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4E9F1"/>
                </a:solidFill>
                <a:latin typeface="IBM Plex Sans" pitchFamily="34" charset="0"/>
                <a:ea typeface="IBM Plex Sans" pitchFamily="34" charset="-122"/>
                <a:cs typeface="IBM Plex Sans" pitchFamily="34" charset="-120"/>
              </a:rPr>
              <a:t>« Les 3 dernières PR ont été fusionnées sans revue (O). Je suis inquiet (S) : j'ai besoin de garantir la stabilité de main (B). Peux-tu attendre une approbation ? (D) »</a:t>
            </a:r>
            <a:endParaRPr lang="en-US" sz="1200" dirty="0"/>
          </a:p>
        </p:txBody>
      </p:sp>
      <p:sp>
        <p:nvSpPr>
          <p:cNvPr id="7" name="Shape 5"/>
          <p:cNvSpPr/>
          <p:nvPr/>
        </p:nvSpPr>
        <p:spPr>
          <a:xfrm>
            <a:off x="4380409" y="1984276"/>
            <a:ext cx="3418483" cy="1652191"/>
          </a:xfrm>
          <a:prstGeom prst="roundRect">
            <a:avLst>
              <a:gd name="adj" fmla="val 5957"/>
            </a:avLst>
          </a:prstGeom>
          <a:solidFill>
            <a:srgbClr val="FDFDFB"/>
          </a:solidFill>
          <a:ln w="6350">
            <a:solidFill>
              <a:srgbClr val="DCE1E8"/>
            </a:solidFill>
            <a:prstDash val="solid"/>
          </a:ln>
        </p:spPr>
      </p:sp>
      <p:sp>
        <p:nvSpPr>
          <p:cNvPr id="8" name="Text 6"/>
          <p:cNvSpPr/>
          <p:nvPr/>
        </p:nvSpPr>
        <p:spPr>
          <a:xfrm>
            <a:off x="4612184" y="2216051"/>
            <a:ext cx="304358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Travailler à distance</a:t>
            </a:r>
            <a:endParaRPr lang="en-US" sz="1500" dirty="0"/>
          </a:p>
        </p:txBody>
      </p:sp>
      <p:sp>
        <p:nvSpPr>
          <p:cNvPr id="9" name="Text 7"/>
          <p:cNvSpPr/>
          <p:nvPr/>
        </p:nvSpPr>
        <p:spPr>
          <a:xfrm>
            <a:off x="4710990" y="2520851"/>
            <a:ext cx="2937155" cy="90924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Écrire par défaut</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Statut Jira à jour</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Respecter les fuseaux horaires</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Planifier des moments informels</a:t>
            </a:r>
            <a:endParaRPr lang="en-US" sz="1200" dirty="0"/>
          </a:p>
        </p:txBody>
      </p:sp>
      <p:sp>
        <p:nvSpPr>
          <p:cNvPr id="10" name="Shape 8"/>
          <p:cNvSpPr/>
          <p:nvPr/>
        </p:nvSpPr>
        <p:spPr>
          <a:xfrm>
            <a:off x="7957641" y="1984276"/>
            <a:ext cx="3418384" cy="1652191"/>
          </a:xfrm>
          <a:prstGeom prst="roundRect">
            <a:avLst>
              <a:gd name="adj" fmla="val 5957"/>
            </a:avLst>
          </a:prstGeom>
          <a:solidFill>
            <a:srgbClr val="FDFDFB"/>
          </a:solidFill>
          <a:ln w="6350">
            <a:solidFill>
              <a:srgbClr val="DCE1E8"/>
            </a:solidFill>
            <a:prstDash val="solid"/>
          </a:ln>
        </p:spPr>
      </p:sp>
      <p:sp>
        <p:nvSpPr>
          <p:cNvPr id="11" name="Text 9"/>
          <p:cNvSpPr/>
          <p:nvPr/>
        </p:nvSpPr>
        <p:spPr>
          <a:xfrm>
            <a:off x="8189416" y="2216051"/>
            <a:ext cx="304347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Différences culturelles</a:t>
            </a:r>
            <a:endParaRPr lang="en-US" sz="1500" dirty="0"/>
          </a:p>
        </p:txBody>
      </p:sp>
      <p:sp>
        <p:nvSpPr>
          <p:cNvPr id="12" name="Text 10"/>
          <p:cNvSpPr/>
          <p:nvPr/>
        </p:nvSpPr>
        <p:spPr>
          <a:xfrm>
            <a:off x="8288222" y="2520851"/>
            <a:ext cx="2937053" cy="909241"/>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Explicite ou implicite</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Feedback direct ou indirect</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Décision consensuelle ou descendante</a:t>
            </a:r>
            <a:endParaRPr lang="en-US" sz="1200" dirty="0"/>
          </a:p>
          <a:p>
            <a:pPr algn="l" marL="155194" indent="-155194">
              <a:lnSpc>
                <a:spcPts val="1740"/>
              </a:lnSpc>
              <a:buSzPct val="100000"/>
              <a:buChar char="•"/>
            </a:pPr>
            <a:r>
              <a:rPr lang="en-US" sz="1200" dirty="0">
                <a:solidFill>
                  <a:srgbClr val="3D4A5C"/>
                </a:solidFill>
                <a:latin typeface="IBM Plex Sans" pitchFamily="34" charset="0"/>
                <a:ea typeface="IBM Plex Sans" pitchFamily="34" charset="-122"/>
                <a:cs typeface="IBM Plex Sans" pitchFamily="34" charset="-120"/>
              </a:rPr>
              <a:t>Temps linéaire ou flexible</a:t>
            </a:r>
            <a:endParaRPr lang="en-US" sz="1200" dirty="0"/>
          </a:p>
        </p:txBody>
      </p:sp>
      <p:sp>
        <p:nvSpPr>
          <p:cNvPr id="13" name="Text 11"/>
          <p:cNvSpPr/>
          <p:nvPr/>
        </p:nvSpPr>
        <p:spPr>
          <a:xfrm>
            <a:off x="812800" y="38936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Ce qui paraît « impoli » ou « flou » est souvent une norme culturelle différente.</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Sources : M. Rosenberg, cnvc.org · GitLab, All-Remote Guide · E. Meyer, The Culture Map (2014)</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 JEU DE RÔLE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Squad sous tension</a:t>
            </a:r>
            <a:endParaRPr lang="en-US" sz="3200" dirty="0"/>
          </a:p>
        </p:txBody>
      </p:sp>
      <p:sp>
        <p:nvSpPr>
          <p:cNvPr id="4" name="Text 2"/>
          <p:cNvSpPr/>
          <p:nvPr/>
        </p:nvSpPr>
        <p:spPr>
          <a:xfrm>
            <a:off x="812800" y="1879501"/>
            <a:ext cx="1088339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Le paiement des cotisations doit être livré dans 10 jours. L'équipe est répartie entre Paris, Montréal (−6 h) et Bangalore (+3 h 30 à +4 h 30).</a:t>
            </a:r>
            <a:endParaRPr lang="en-US" sz="1400" dirty="0"/>
          </a:p>
        </p:txBody>
      </p:sp>
      <p:sp>
        <p:nvSpPr>
          <p:cNvPr id="5" name="Shape 3"/>
          <p:cNvSpPr/>
          <p:nvPr/>
        </p:nvSpPr>
        <p:spPr>
          <a:xfrm>
            <a:off x="812800" y="2580382"/>
            <a:ext cx="5219700" cy="820341"/>
          </a:xfrm>
          <a:prstGeom prst="roundRect">
            <a:avLst>
              <a:gd name="adj" fmla="val 12385"/>
            </a:avLst>
          </a:prstGeom>
          <a:solidFill>
            <a:srgbClr val="FDFDFB"/>
          </a:solidFill>
          <a:ln/>
        </p:spPr>
      </p:sp>
      <p:sp>
        <p:nvSpPr>
          <p:cNvPr id="6" name="Text 4"/>
          <p:cNvSpPr/>
          <p:nvPr/>
        </p:nvSpPr>
        <p:spPr>
          <a:xfrm>
            <a:off x="990600" y="2758182"/>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Sophie · PO, Paris</a:t>
            </a:r>
            <a:endParaRPr lang="en-US" sz="1400" dirty="0"/>
          </a:p>
        </p:txBody>
      </p:sp>
      <p:sp>
        <p:nvSpPr>
          <p:cNvPr id="7" name="Text 5"/>
          <p:cNvSpPr/>
          <p:nvPr/>
        </p:nvSpPr>
        <p:spPr>
          <a:xfrm>
            <a:off x="990600" y="300960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Veut ajouter le paiement en 3 fois demandé par le client.</a:t>
            </a:r>
            <a:endParaRPr lang="en-US" sz="1200" dirty="0"/>
          </a:p>
        </p:txBody>
      </p:sp>
      <p:sp>
        <p:nvSpPr>
          <p:cNvPr id="8" name="Shape 6"/>
          <p:cNvSpPr/>
          <p:nvPr/>
        </p:nvSpPr>
        <p:spPr>
          <a:xfrm>
            <a:off x="6159500" y="2580382"/>
            <a:ext cx="5219700" cy="820341"/>
          </a:xfrm>
          <a:prstGeom prst="roundRect">
            <a:avLst>
              <a:gd name="adj" fmla="val 12385"/>
            </a:avLst>
          </a:prstGeom>
          <a:solidFill>
            <a:srgbClr val="FDFDFB"/>
          </a:solidFill>
          <a:ln/>
        </p:spPr>
      </p:sp>
      <p:sp>
        <p:nvSpPr>
          <p:cNvPr id="9" name="Text 7"/>
          <p:cNvSpPr/>
          <p:nvPr/>
        </p:nvSpPr>
        <p:spPr>
          <a:xfrm>
            <a:off x="6337300" y="2758182"/>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Thomas · Tech Lead, Paris</a:t>
            </a:r>
            <a:endParaRPr lang="en-US" sz="1400" dirty="0"/>
          </a:p>
        </p:txBody>
      </p:sp>
      <p:sp>
        <p:nvSpPr>
          <p:cNvPr id="10" name="Text 8"/>
          <p:cNvSpPr/>
          <p:nvPr/>
        </p:nvSpPr>
        <p:spPr>
          <a:xfrm>
            <a:off x="6337300" y="3009602"/>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Refuse : « On n'a pas de tests, on va casser la prod. »</a:t>
            </a:r>
            <a:endParaRPr lang="en-US" sz="1200" dirty="0"/>
          </a:p>
        </p:txBody>
      </p:sp>
      <p:sp>
        <p:nvSpPr>
          <p:cNvPr id="11" name="Shape 9"/>
          <p:cNvSpPr/>
          <p:nvPr/>
        </p:nvSpPr>
        <p:spPr>
          <a:xfrm>
            <a:off x="812800" y="3527723"/>
            <a:ext cx="5219700" cy="820341"/>
          </a:xfrm>
          <a:prstGeom prst="roundRect">
            <a:avLst>
              <a:gd name="adj" fmla="val 12385"/>
            </a:avLst>
          </a:prstGeom>
          <a:solidFill>
            <a:srgbClr val="FDFDFB"/>
          </a:solidFill>
          <a:ln/>
        </p:spPr>
      </p:sp>
      <p:sp>
        <p:nvSpPr>
          <p:cNvPr id="12" name="Text 10"/>
          <p:cNvSpPr/>
          <p:nvPr/>
        </p:nvSpPr>
        <p:spPr>
          <a:xfrm>
            <a:off x="990600" y="3705523"/>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Priya · développeuse, Bangalore</a:t>
            </a:r>
            <a:endParaRPr lang="en-US" sz="1400" dirty="0"/>
          </a:p>
        </p:txBody>
      </p:sp>
      <p:sp>
        <p:nvSpPr>
          <p:cNvPr id="13" name="Text 11"/>
          <p:cNvSpPr/>
          <p:nvPr/>
        </p:nvSpPr>
        <p:spPr>
          <a:xfrm>
            <a:off x="990600" y="395694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Ne contredit jamais en réunion, accumule du retard sans le dire.</a:t>
            </a:r>
            <a:endParaRPr lang="en-US" sz="1200" dirty="0"/>
          </a:p>
        </p:txBody>
      </p:sp>
      <p:sp>
        <p:nvSpPr>
          <p:cNvPr id="14" name="Shape 12"/>
          <p:cNvSpPr/>
          <p:nvPr/>
        </p:nvSpPr>
        <p:spPr>
          <a:xfrm>
            <a:off x="6159500" y="3527723"/>
            <a:ext cx="5219700" cy="820341"/>
          </a:xfrm>
          <a:prstGeom prst="roundRect">
            <a:avLst>
              <a:gd name="adj" fmla="val 12385"/>
            </a:avLst>
          </a:prstGeom>
          <a:solidFill>
            <a:srgbClr val="FDFDFB"/>
          </a:solidFill>
          <a:ln/>
        </p:spPr>
      </p:sp>
      <p:sp>
        <p:nvSpPr>
          <p:cNvPr id="15" name="Text 13"/>
          <p:cNvSpPr/>
          <p:nvPr/>
        </p:nvSpPr>
        <p:spPr>
          <a:xfrm>
            <a:off x="6337300" y="3705523"/>
            <a:ext cx="501002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Julien · designer, Montréal</a:t>
            </a:r>
            <a:endParaRPr lang="en-US" sz="1400" dirty="0"/>
          </a:p>
        </p:txBody>
      </p:sp>
      <p:sp>
        <p:nvSpPr>
          <p:cNvPr id="16" name="Text 14"/>
          <p:cNvSpPr/>
          <p:nvPr/>
        </p:nvSpPr>
        <p:spPr>
          <a:xfrm>
            <a:off x="6337300" y="3956943"/>
            <a:ext cx="5010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Absent du daily de 9 h 30, soit 3 h 30 du matin chez lui.</a:t>
            </a:r>
            <a:endParaRPr lang="en-US" sz="1200" dirty="0"/>
          </a:p>
        </p:txBody>
      </p:sp>
      <p:sp>
        <p:nvSpPr>
          <p:cNvPr id="17" name="Text 15"/>
          <p:cNvSpPr/>
          <p:nvPr/>
        </p:nvSpPr>
        <p:spPr>
          <a:xfrm>
            <a:off x="812800" y="4551263"/>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 un observateur</a:t>
            </a:r>
            <a:r>
              <a:rPr lang="en-US" sz="1300" dirty="0">
                <a:solidFill>
                  <a:srgbClr val="3D4A5C"/>
                </a:solidFill>
                <a:latin typeface="IBM Plex Sans" pitchFamily="34" charset="0"/>
                <a:ea typeface="IBM Plex Sans" pitchFamily="34" charset="-122"/>
                <a:cs typeface="IBM Plex Sans" pitchFamily="34" charset="-120"/>
              </a:rPr>
              <a:t> avec une grille. Chacun reçoit une fiche secrète : motivations et contraintes.</a:t>
            </a:r>
            <a:endParaRPr lang="en-US" sz="13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8</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 · 65 MIN</a:t>
            </a:r>
            <a:endParaRPr lang="en-US" sz="1200" dirty="0"/>
          </a:p>
        </p:txBody>
      </p:sp>
      <p:sp>
        <p:nvSpPr>
          <p:cNvPr id="3" name="Text 1"/>
          <p:cNvSpPr/>
          <p:nvPr>
            <p:ph type="title"/>
          </p:nvPr>
        </p:nvSpPr>
        <p:spPr>
          <a:xfrm>
            <a:off x="812800" y="1153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Jouer, analyser, rejouer</a:t>
            </a:r>
            <a:endParaRPr lang="en-US" sz="3200" dirty="0"/>
          </a:p>
        </p:txBody>
      </p:sp>
      <p:sp>
        <p:nvSpPr>
          <p:cNvPr id="4" name="Shape 2"/>
          <p:cNvSpPr/>
          <p:nvPr/>
        </p:nvSpPr>
        <p:spPr>
          <a:xfrm>
            <a:off x="812800" y="1727101"/>
            <a:ext cx="10566400" cy="604441"/>
          </a:xfrm>
          <a:prstGeom prst="roundRect">
            <a:avLst>
              <a:gd name="adj" fmla="val 16809"/>
            </a:avLst>
          </a:prstGeom>
          <a:solidFill>
            <a:srgbClr val="FDFDFB"/>
          </a:solidFill>
          <a:ln/>
        </p:spPr>
      </p:sp>
      <p:sp>
        <p:nvSpPr>
          <p:cNvPr id="5" name="Text 3"/>
          <p:cNvSpPr/>
          <p:nvPr/>
        </p:nvSpPr>
        <p:spPr>
          <a:xfrm>
            <a:off x="1066800" y="185410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6" name="Text 4"/>
          <p:cNvSpPr/>
          <p:nvPr/>
        </p:nvSpPr>
        <p:spPr>
          <a:xfrm>
            <a:off x="2222500" y="1904901"/>
            <a:ext cx="916978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Manche 1 :</a:t>
            </a:r>
            <a:r>
              <a:rPr lang="en-US" sz="1400" dirty="0">
                <a:solidFill>
                  <a:srgbClr val="3D4A5C"/>
                </a:solidFill>
                <a:latin typeface="IBM Plex Sans" pitchFamily="34" charset="0"/>
                <a:ea typeface="IBM Plex Sans" pitchFamily="34" charset="-122"/>
                <a:cs typeface="IBM Plex Sans" pitchFamily="34" charset="-120"/>
              </a:rPr>
              <a:t> réunion de crise sans préparation. L'observateur note les modes utilisés et les ruptures.</a:t>
            </a:r>
            <a:endParaRPr lang="en-US" sz="1400" dirty="0"/>
          </a:p>
        </p:txBody>
      </p:sp>
      <p:sp>
        <p:nvSpPr>
          <p:cNvPr id="7" name="Shape 5"/>
          <p:cNvSpPr/>
          <p:nvPr/>
        </p:nvSpPr>
        <p:spPr>
          <a:xfrm>
            <a:off x="812800" y="2458541"/>
            <a:ext cx="10566400" cy="604441"/>
          </a:xfrm>
          <a:prstGeom prst="roundRect">
            <a:avLst>
              <a:gd name="adj" fmla="val 16809"/>
            </a:avLst>
          </a:prstGeom>
          <a:solidFill>
            <a:srgbClr val="FDFDFB"/>
          </a:solidFill>
          <a:ln/>
        </p:spPr>
      </p:sp>
      <p:sp>
        <p:nvSpPr>
          <p:cNvPr id="8" name="Text 6"/>
          <p:cNvSpPr/>
          <p:nvPr/>
        </p:nvSpPr>
        <p:spPr>
          <a:xfrm>
            <a:off x="1066800" y="2585541"/>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9" name="Text 7"/>
          <p:cNvSpPr/>
          <p:nvPr/>
        </p:nvSpPr>
        <p:spPr>
          <a:xfrm>
            <a:off x="2222500" y="2636341"/>
            <a:ext cx="916978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Analyse :</a:t>
            </a:r>
            <a:r>
              <a:rPr lang="en-US" sz="1400" dirty="0">
                <a:solidFill>
                  <a:srgbClr val="3D4A5C"/>
                </a:solidFill>
                <a:latin typeface="IBM Plex Sans" pitchFamily="34" charset="0"/>
                <a:ea typeface="IBM Plex Sans" pitchFamily="34" charset="-122"/>
                <a:cs typeface="IBM Plex Sans" pitchFamily="34" charset="-120"/>
              </a:rPr>
              <a:t> besoins non exprimés, différences culturelles, organisation du remote.</a:t>
            </a:r>
            <a:endParaRPr lang="en-US" sz="1400" dirty="0"/>
          </a:p>
        </p:txBody>
      </p:sp>
      <p:sp>
        <p:nvSpPr>
          <p:cNvPr id="10" name="Shape 8"/>
          <p:cNvSpPr/>
          <p:nvPr/>
        </p:nvSpPr>
        <p:spPr>
          <a:xfrm>
            <a:off x="812800" y="3189982"/>
            <a:ext cx="10566400" cy="604441"/>
          </a:xfrm>
          <a:prstGeom prst="roundRect">
            <a:avLst>
              <a:gd name="adj" fmla="val 16809"/>
            </a:avLst>
          </a:prstGeom>
          <a:solidFill>
            <a:srgbClr val="FDFDFB"/>
          </a:solidFill>
          <a:ln/>
        </p:spPr>
      </p:sp>
      <p:sp>
        <p:nvSpPr>
          <p:cNvPr id="11" name="Text 9"/>
          <p:cNvSpPr/>
          <p:nvPr/>
        </p:nvSpPr>
        <p:spPr>
          <a:xfrm>
            <a:off x="1066800" y="3316982"/>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15 min</a:t>
            </a:r>
            <a:endParaRPr lang="en-US" sz="1400" dirty="0"/>
          </a:p>
        </p:txBody>
      </p:sp>
      <p:sp>
        <p:nvSpPr>
          <p:cNvPr id="12" name="Text 10"/>
          <p:cNvSpPr/>
          <p:nvPr/>
        </p:nvSpPr>
        <p:spPr>
          <a:xfrm>
            <a:off x="2222500" y="3367782"/>
            <a:ext cx="916978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Manche 2 :</a:t>
            </a:r>
            <a:r>
              <a:rPr lang="en-US" sz="1400" dirty="0">
                <a:solidFill>
                  <a:srgbClr val="3D4A5C"/>
                </a:solidFill>
                <a:latin typeface="IBM Plex Sans" pitchFamily="34" charset="0"/>
                <a:ea typeface="IBM Plex Sans" pitchFamily="34" charset="-122"/>
                <a:cs typeface="IBM Plex Sans" pitchFamily="34" charset="-120"/>
              </a:rPr>
              <a:t> rejouez avec la CNV et un mode collaboratif. Chacun prépare une phrase O-S-B-D.</a:t>
            </a:r>
            <a:endParaRPr lang="en-US" sz="1400" dirty="0"/>
          </a:p>
        </p:txBody>
      </p:sp>
      <p:sp>
        <p:nvSpPr>
          <p:cNvPr id="13" name="Shape 11"/>
          <p:cNvSpPr/>
          <p:nvPr/>
        </p:nvSpPr>
        <p:spPr>
          <a:xfrm>
            <a:off x="812800" y="3921423"/>
            <a:ext cx="10566400" cy="604441"/>
          </a:xfrm>
          <a:prstGeom prst="roundRect">
            <a:avLst>
              <a:gd name="adj" fmla="val 16809"/>
            </a:avLst>
          </a:prstGeom>
          <a:solidFill>
            <a:srgbClr val="FDFDFB"/>
          </a:solidFill>
          <a:ln/>
        </p:spPr>
      </p:sp>
      <p:sp>
        <p:nvSpPr>
          <p:cNvPr id="14" name="Text 12"/>
          <p:cNvSpPr/>
          <p:nvPr/>
        </p:nvSpPr>
        <p:spPr>
          <a:xfrm>
            <a:off x="1066800" y="4048423"/>
            <a:ext cx="952500" cy="350441"/>
          </a:xfrm>
          <a:custGeom>
            <a:avLst/>
            <a:gdLst/>
            <a:ahLst/>
            <a:cxnLst/>
            <a:rect l="l" t="t" r="r" b="b"/>
            <a:pathLst>
              <a:path w="952500" h="350441">
                <a:moveTo>
                  <a:pt x="175220" y="0"/>
                </a:moveTo>
                <a:lnTo>
                  <a:pt x="777280" y="0"/>
                </a:lnTo>
                <a:arcTo hR="175220" wR="175220" stAng="16200000" swAng="5400000"/>
                <a:lnTo>
                  <a:pt x="952500" y="175220"/>
                </a:lnTo>
                <a:arcTo hR="175220" wR="175220" stAng="0" swAng="5400000"/>
                <a:lnTo>
                  <a:pt x="175220" y="350441"/>
                </a:lnTo>
                <a:arcTo hR="175220" wR="175220" stAng="5400000" swAng="5400000"/>
                <a:lnTo>
                  <a:pt x="0" y="175220"/>
                </a:lnTo>
                <a:arcTo hR="175220" wR="175220" stAng="10800000" swAng="5400000"/>
                <a:close/>
              </a:path>
            </a:pathLst>
          </a:custGeom>
          <a:solidFill>
            <a:srgbClr val="B04E15"/>
          </a:solidFill>
          <a:ln/>
        </p:spPr>
        <p:txBody>
          <a:bodyPr wrap="square" lIns="0" tIns="50800" rIns="0" bIns="25400" rtlCol="0" anchor="t">
            <a:normAutofit/>
          </a:bodyPr>
          <a:lstStyle/>
          <a:p>
            <a:pPr algn="ctr" indent="0" marL="0">
              <a:lnSpc>
                <a:spcPts val="1960"/>
              </a:lnSpc>
              <a:buNone/>
            </a:pPr>
            <a:r>
              <a:rPr lang="en-US" sz="1400" b="1" dirty="0">
                <a:solidFill>
                  <a:srgbClr val="FDFDFB"/>
                </a:solidFill>
                <a:latin typeface="IBM Plex Sans" pitchFamily="34" charset="0"/>
                <a:ea typeface="IBM Plex Sans" pitchFamily="34" charset="-122"/>
                <a:cs typeface="IBM Plex Sans" pitchFamily="34" charset="-120"/>
              </a:rPr>
              <a:t>20 min</a:t>
            </a:r>
            <a:endParaRPr lang="en-US" sz="1400" dirty="0"/>
          </a:p>
        </p:txBody>
      </p:sp>
      <p:sp>
        <p:nvSpPr>
          <p:cNvPr id="15" name="Text 13"/>
          <p:cNvSpPr/>
          <p:nvPr/>
        </p:nvSpPr>
        <p:spPr>
          <a:xfrm>
            <a:off x="2222500" y="4099223"/>
            <a:ext cx="916978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Plan d'action</a:t>
            </a:r>
            <a:r>
              <a:rPr lang="en-US" sz="1400" dirty="0">
                <a:solidFill>
                  <a:srgbClr val="3D4A5C"/>
                </a:solidFill>
                <a:latin typeface="IBM Plex Sans" pitchFamily="34" charset="0"/>
                <a:ea typeface="IBM Plex Sans" pitchFamily="34" charset="-122"/>
                <a:cs typeface="IBM Plex Sans" pitchFamily="34" charset="-120"/>
              </a:rPr>
              <a:t> (page Confluence) : périmètre décidé, rituels adaptés aux fuseaux, charte mise à jour.</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8</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Un besoin exprimé se négocie</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Qu'est-ce qui a changé entre les deux manches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Comment faire émerger le retard de Priya sans la mettre en difficulté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Quel rituel proposez-vous pour inclure Julien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Séance 9 :</a:t>
            </a:r>
            <a:r>
              <a:rPr lang="en-US" sz="1500" dirty="0">
                <a:solidFill>
                  <a:srgbClr val="14213D"/>
                </a:solidFill>
                <a:latin typeface="IBM Plex Sans" pitchFamily="34" charset="0"/>
                <a:ea typeface="IBM Plex Sans" pitchFamily="34" charset="-122"/>
                <a:cs typeface="IBM Plex Sans" pitchFamily="34" charset="-120"/>
              </a:rPr>
              <a:t> simulation finale. Venez avec Jira, GitHub, Confluence et Slack/Teams opérationnels.</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8</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2093020"/>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65A"/>
                </a:solidFill>
                <a:latin typeface="IBM Plex Sans" pitchFamily="34" charset="0"/>
                <a:ea typeface="IBM Plex Sans" pitchFamily="34" charset="-122"/>
                <a:cs typeface="IBM Plex Sans" pitchFamily="34" charset="-120"/>
              </a:rPr>
              <a:t>SÉANCE 9 · 2 H · NOTÉE</a:t>
            </a:r>
            <a:endParaRPr lang="en-US" sz="1200" dirty="0"/>
          </a:p>
        </p:txBody>
      </p:sp>
      <p:sp>
        <p:nvSpPr>
          <p:cNvPr id="3" name="Text 1"/>
          <p:cNvSpPr/>
          <p:nvPr>
            <p:ph type="title"/>
          </p:nvPr>
        </p:nvSpPr>
        <p:spPr>
          <a:xfrm>
            <a:off x="812800" y="2509540"/>
            <a:ext cx="5546344"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Sprint express CampusLink</a:t>
            </a:r>
            <a:endParaRPr lang="en-US" sz="4800" dirty="0"/>
          </a:p>
        </p:txBody>
      </p:sp>
      <p:sp>
        <p:nvSpPr>
          <p:cNvPr id="4" name="Text 2"/>
          <p:cNvSpPr/>
          <p:nvPr/>
        </p:nvSpPr>
        <p:spPr>
          <a:xfrm>
            <a:off x="812800" y="3992860"/>
            <a:ext cx="554634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Tout ce que vous avez appris, sur un sprint compressé de 2 heures.</a:t>
            </a:r>
            <a:endParaRPr lang="en-US" sz="1600" dirty="0"/>
          </a:p>
        </p:txBody>
      </p:sp>
      <p:sp>
        <p:nvSpPr>
          <p:cNvPr id="5" name="Shape 3"/>
          <p:cNvSpPr/>
          <p:nvPr/>
        </p:nvSpPr>
        <p:spPr>
          <a:xfrm>
            <a:off x="6807200" y="1821160"/>
            <a:ext cx="4572000" cy="3012380"/>
          </a:xfrm>
          <a:prstGeom prst="roundRect">
            <a:avLst>
              <a:gd name="adj" fmla="val 3373"/>
            </a:avLst>
          </a:prstGeom>
          <a:solidFill>
            <a:srgbClr val="1E2D4F"/>
          </a:solidFill>
          <a:ln/>
        </p:spPr>
      </p:sp>
      <p:sp>
        <p:nvSpPr>
          <p:cNvPr id="6" name="Text 4"/>
          <p:cNvSpPr/>
          <p:nvPr/>
        </p:nvSpPr>
        <p:spPr>
          <a:xfrm>
            <a:off x="7112000" y="2125960"/>
            <a:ext cx="408127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IBM Plex Sans" pitchFamily="34" charset="0"/>
                <a:ea typeface="IBM Plex Sans" pitchFamily="34" charset="-122"/>
                <a:cs typeface="IBM Plex Sans" pitchFamily="34" charset="-120"/>
              </a:rPr>
              <a:t>Ce qui est mobilisé</a:t>
            </a:r>
            <a:endParaRPr lang="en-US" sz="1600" dirty="0"/>
          </a:p>
        </p:txBody>
      </p:sp>
      <p:pic>
        <p:nvPicPr>
          <p:cNvPr id="7" name="Image 0" descr="Users">    </p:cNvPr>
          <p:cNvPicPr>
            <a:picLocks noChangeAspect="1"/>
          </p:cNvPicPr>
          <p:nvPr/>
        </p:nvPicPr>
        <p:blipFill>
          <a:blip r:embed="rId1"/>
          <a:srcRect l="0" r="0" t="0" b="0"/>
          <a:stretch/>
        </p:blipFill>
        <p:spPr>
          <a:xfrm>
            <a:off x="7112000" y="2522141"/>
            <a:ext cx="279400" cy="279400"/>
          </a:xfrm>
          <a:prstGeom prst="rect">
            <a:avLst/>
          </a:prstGeom>
        </p:spPr>
      </p:pic>
      <p:sp>
        <p:nvSpPr>
          <p:cNvPr id="8" name="Text 5"/>
          <p:cNvSpPr/>
          <p:nvPr/>
        </p:nvSpPr>
        <p:spPr>
          <a:xfrm>
            <a:off x="7543800" y="2546251"/>
            <a:ext cx="3636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Scrum : planning, daily, review, rétro</a:t>
            </a:r>
            <a:endParaRPr lang="en-US" sz="1300" dirty="0"/>
          </a:p>
        </p:txBody>
      </p:sp>
      <p:pic>
        <p:nvPicPr>
          <p:cNvPr id="9" name="Image 1" descr="CheckCircle">    </p:cNvPr>
          <p:cNvPicPr>
            <a:picLocks noChangeAspect="1"/>
          </p:cNvPicPr>
          <p:nvPr/>
        </p:nvPicPr>
        <p:blipFill>
          <a:blip r:embed="rId2"/>
          <a:srcRect l="0" r="0" t="0" b="0"/>
          <a:stretch/>
        </p:blipFill>
        <p:spPr>
          <a:xfrm>
            <a:off x="7112000" y="2953941"/>
            <a:ext cx="279400" cy="279400"/>
          </a:xfrm>
          <a:prstGeom prst="rect">
            <a:avLst/>
          </a:prstGeom>
        </p:spPr>
      </p:pic>
      <p:sp>
        <p:nvSpPr>
          <p:cNvPr id="10" name="Text 6"/>
          <p:cNvSpPr/>
          <p:nvPr/>
        </p:nvSpPr>
        <p:spPr>
          <a:xfrm>
            <a:off x="7543800" y="2978051"/>
            <a:ext cx="3636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Jira : stories, sprint, tableau</a:t>
            </a:r>
            <a:endParaRPr lang="en-US" sz="1300" dirty="0"/>
          </a:p>
        </p:txBody>
      </p:sp>
      <p:pic>
        <p:nvPicPr>
          <p:cNvPr id="11" name="Image 2" descr="Code">    </p:cNvPr>
          <p:cNvPicPr>
            <a:picLocks noChangeAspect="1"/>
          </p:cNvPicPr>
          <p:nvPr/>
        </p:nvPicPr>
        <p:blipFill>
          <a:blip r:embed="rId3"/>
          <a:srcRect l="0" r="0" t="0" b="0"/>
          <a:stretch/>
        </p:blipFill>
        <p:spPr>
          <a:xfrm>
            <a:off x="7112000" y="3385741"/>
            <a:ext cx="279400" cy="279400"/>
          </a:xfrm>
          <a:prstGeom prst="rect">
            <a:avLst/>
          </a:prstGeom>
        </p:spPr>
      </p:pic>
      <p:sp>
        <p:nvSpPr>
          <p:cNvPr id="12" name="Text 7"/>
          <p:cNvSpPr/>
          <p:nvPr/>
        </p:nvSpPr>
        <p:spPr>
          <a:xfrm>
            <a:off x="7543800" y="3409851"/>
            <a:ext cx="3636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Git : branches, PR, revue</a:t>
            </a:r>
            <a:endParaRPr lang="en-US" sz="1300" dirty="0"/>
          </a:p>
        </p:txBody>
      </p:sp>
      <p:pic>
        <p:nvPicPr>
          <p:cNvPr id="13" name="Image 3" descr="Book">    </p:cNvPr>
          <p:cNvPicPr>
            <a:picLocks noChangeAspect="1"/>
          </p:cNvPicPr>
          <p:nvPr/>
        </p:nvPicPr>
        <p:blipFill>
          <a:blip r:embed="rId4"/>
          <a:srcRect l="0" r="0" t="0" b="0"/>
          <a:stretch/>
        </p:blipFill>
        <p:spPr>
          <a:xfrm>
            <a:off x="7112000" y="3817541"/>
            <a:ext cx="279400" cy="279400"/>
          </a:xfrm>
          <a:prstGeom prst="rect">
            <a:avLst/>
          </a:prstGeom>
        </p:spPr>
      </p:pic>
      <p:sp>
        <p:nvSpPr>
          <p:cNvPr id="14" name="Text 8"/>
          <p:cNvSpPr/>
          <p:nvPr/>
        </p:nvSpPr>
        <p:spPr>
          <a:xfrm>
            <a:off x="7543800" y="3841651"/>
            <a:ext cx="3636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Confluence : comptes-rendus, décisions</a:t>
            </a:r>
            <a:endParaRPr lang="en-US" sz="1300" dirty="0"/>
          </a:p>
        </p:txBody>
      </p:sp>
      <p:pic>
        <p:nvPicPr>
          <p:cNvPr id="15" name="Image 4" descr="Chat">    </p:cNvPr>
          <p:cNvPicPr>
            <a:picLocks noChangeAspect="1"/>
          </p:cNvPicPr>
          <p:nvPr/>
        </p:nvPicPr>
        <p:blipFill>
          <a:blip r:embed="rId5"/>
          <a:srcRect l="0" r="0" t="0" b="0"/>
          <a:stretch/>
        </p:blipFill>
        <p:spPr>
          <a:xfrm>
            <a:off x="7112000" y="4249341"/>
            <a:ext cx="279400" cy="279400"/>
          </a:xfrm>
          <a:prstGeom prst="rect">
            <a:avLst/>
          </a:prstGeom>
        </p:spPr>
      </p:pic>
      <p:sp>
        <p:nvSpPr>
          <p:cNvPr id="16" name="Text 9"/>
          <p:cNvSpPr/>
          <p:nvPr/>
        </p:nvSpPr>
        <p:spPr>
          <a:xfrm>
            <a:off x="7543800" y="4273451"/>
            <a:ext cx="363651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Slack/Teams, feedback, gestion de l'imprévu</a:t>
            </a:r>
            <a:endParaRPr lang="en-US" sz="1300" dirty="0"/>
          </a:p>
        </p:txBody>
      </p:sp>
      <p:sp>
        <p:nvSpPr>
          <p:cNvPr id="17"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Séance 9</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LE SPRINT MINUTE PAR MINUTE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Un sprint de 2 heures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2201"/>
          <a:ext cx="10553700" cy="2514898"/>
        </p:xfrm>
        <a:graphic>
          <a:graphicData uri="http://schemas.openxmlformats.org/drawingml/2006/table">
            <a:tbl>
              <a:tblPr/>
              <a:tblGrid>
                <a:gridCol w="1899666"/>
                <a:gridCol w="5487924"/>
                <a:gridCol w="3166110"/>
              </a:tblGrid>
              <a:tr h="359271">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Temps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Événement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7F6F2"/>
                          </a:solidFill>
                          <a:latin typeface="IBM Plex Sans" pitchFamily="34" charset="0"/>
                          <a:ea typeface="IBM Plex Sans" pitchFamily="34" charset="-122"/>
                          <a:cs typeface="IBM Plex Sans" pitchFamily="34" charset="-120"/>
                        </a:rPr>
                        <a:t>Outils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0:00–0:10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Lancement : le client présente le besoin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0:10–0:25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 Planning : objectif, stories, découpage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Jira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0:25–1:10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Développement + 2 Daily Scrums de 5 min (0:40 et 0:55)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Git, Jira, Slack, Confluence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1:10–1:30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 Review : démo de 3 min par groupe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Vidéoprojecteur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1:30–1:45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 Retrospective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Miro ou Confluence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9271">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1:45–2:00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Bilan individuel et clôture du module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c>
                  <a:txBody>
                    <a:bodyPr/>
                    <a:lstStyle/>
                    <a:p>
                      <a:pPr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Formulaire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5"/>
                    </a:solidFill>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9</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ÉTUDE DE CAS FINALE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La page « Forum 2026 »</a:t>
            </a:r>
            <a:endParaRPr lang="en-US" sz="3200" dirty="0"/>
          </a:p>
        </p:txBody>
      </p:sp>
      <p:sp>
        <p:nvSpPr>
          <p:cNvPr id="4" name="Shape 2"/>
          <p:cNvSpPr/>
          <p:nvPr/>
        </p:nvSpPr>
        <p:spPr>
          <a:xfrm>
            <a:off x="812800" y="1981101"/>
            <a:ext cx="6705600" cy="2236291"/>
          </a:xfrm>
          <a:prstGeom prst="roundRect">
            <a:avLst>
              <a:gd name="adj" fmla="val 4543"/>
            </a:avLst>
          </a:prstGeom>
          <a:solidFill>
            <a:srgbClr val="FDFDFB"/>
          </a:solidFill>
          <a:ln/>
        </p:spPr>
      </p:sp>
      <p:sp>
        <p:nvSpPr>
          <p:cNvPr id="5" name="Shape 3"/>
          <p:cNvSpPr/>
          <p:nvPr/>
        </p:nvSpPr>
        <p:spPr>
          <a:xfrm>
            <a:off x="812800" y="1981101"/>
            <a:ext cx="6705600" cy="2236291"/>
          </a:xfrm>
          <a:custGeom>
            <a:avLst/>
            <a:gdLst/>
            <a:ahLst/>
            <a:cxnLst/>
            <a:rect l="l" t="t" r="r" b="b"/>
            <a:pathLst>
              <a:path w="6705600" h="2236291">
                <a:moveTo>
                  <a:pt x="101600" y="2236291"/>
                </a:moveTo>
                <a:lnTo>
                  <a:pt x="101600" y="2236291"/>
                </a:lnTo>
                <a:arcTo hR="101600" wR="101600" stAng="5400000" swAng="5400000"/>
                <a:lnTo>
                  <a:pt x="0" y="101600"/>
                </a:lnTo>
                <a:arcTo hR="101600" wR="101600" stAng="10800000" swAng="5400000"/>
                <a:lnTo>
                  <a:pt x="101600" y="0"/>
                </a:lnTo>
                <a:arcTo hR="101600" wR="50800" stAng="16200000" swAng="-5400000"/>
                <a:lnTo>
                  <a:pt x="50800" y="2134691"/>
                </a:lnTo>
                <a:arcTo hR="101600" wR="50800" stAng="10800000" swAng="-5400000"/>
                <a:close/>
              </a:path>
            </a:pathLst>
          </a:custGeom>
          <a:solidFill>
            <a:srgbClr val="B04E15"/>
          </a:solidFill>
          <a:ln/>
        </p:spPr>
      </p:sp>
      <p:sp>
        <p:nvSpPr>
          <p:cNvPr id="6" name="Text 4"/>
          <p:cNvSpPr/>
          <p:nvPr/>
        </p:nvSpPr>
        <p:spPr>
          <a:xfrm>
            <a:off x="1168400" y="2285901"/>
            <a:ext cx="622655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585"/>
                </a:solidFill>
                <a:latin typeface="IBM Plex Sans" pitchFamily="34" charset="0"/>
                <a:ea typeface="IBM Plex Sans" pitchFamily="34" charset="-122"/>
                <a:cs typeface="IBM Plex Sans" pitchFamily="34" charset="-120"/>
              </a:rPr>
              <a:t>LE CLIENT</a:t>
            </a:r>
            <a:endParaRPr lang="en-US" sz="1200" dirty="0"/>
          </a:p>
        </p:txBody>
      </p:sp>
      <p:sp>
        <p:nvSpPr>
          <p:cNvPr id="7" name="Text 5"/>
          <p:cNvSpPr/>
          <p:nvPr/>
        </p:nvSpPr>
        <p:spPr>
          <a:xfrm>
            <a:off x="1168400" y="2626221"/>
            <a:ext cx="6226556"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4213D"/>
                </a:solidFill>
                <a:latin typeface="IBM Plex Sans" pitchFamily="34" charset="0"/>
                <a:ea typeface="IBM Plex Sans" pitchFamily="34" charset="-122"/>
                <a:cs typeface="IBM Plex Sans" pitchFamily="34" charset="-120"/>
              </a:rPr>
              <a:t>La Fédération des associations organise un forum dans une semaine. Elle veut une page web avec le programme, la liste des stands et un formulaire de contact.</a:t>
            </a:r>
            <a:endParaRPr lang="en-US" sz="1500" dirty="0"/>
          </a:p>
        </p:txBody>
      </p:sp>
      <p:sp>
        <p:nvSpPr>
          <p:cNvPr id="8" name="Shape 6"/>
          <p:cNvSpPr/>
          <p:nvPr/>
        </p:nvSpPr>
        <p:spPr>
          <a:xfrm>
            <a:off x="7823200" y="1981101"/>
            <a:ext cx="3556000" cy="2236291"/>
          </a:xfrm>
          <a:prstGeom prst="roundRect">
            <a:avLst>
              <a:gd name="adj" fmla="val 4543"/>
            </a:avLst>
          </a:prstGeom>
          <a:solidFill>
            <a:srgbClr val="14213D"/>
          </a:solidFill>
          <a:ln/>
        </p:spPr>
      </p:sp>
      <p:pic>
        <p:nvPicPr>
          <p:cNvPr id="9" name="Image 0" descr="Warning">    </p:cNvPr>
          <p:cNvPicPr>
            <a:picLocks noChangeAspect="1"/>
          </p:cNvPicPr>
          <p:nvPr/>
        </p:nvPicPr>
        <p:blipFill>
          <a:blip r:embed="rId1"/>
          <a:srcRect l="0" r="0" t="0" b="0"/>
          <a:stretch/>
        </p:blipFill>
        <p:spPr>
          <a:xfrm>
            <a:off x="8128000" y="2285901"/>
            <a:ext cx="355600" cy="355600"/>
          </a:xfrm>
          <a:prstGeom prst="rect">
            <a:avLst/>
          </a:prstGeom>
        </p:spPr>
      </p:pic>
      <p:sp>
        <p:nvSpPr>
          <p:cNvPr id="10" name="Text 7"/>
          <p:cNvSpPr/>
          <p:nvPr/>
        </p:nvSpPr>
        <p:spPr>
          <a:xfrm>
            <a:off x="8128000" y="2768501"/>
            <a:ext cx="303479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2A65A"/>
                </a:solidFill>
                <a:latin typeface="IBM Plex Sans" pitchFamily="34" charset="0"/>
                <a:ea typeface="IBM Plex Sans" pitchFamily="34" charset="-122"/>
                <a:cs typeface="IBM Plex Sans" pitchFamily="34" charset="-120"/>
              </a:rPr>
              <a:t>Imprévu garanti</a:t>
            </a:r>
            <a:endParaRPr lang="en-US" sz="1600" dirty="0"/>
          </a:p>
        </p:txBody>
      </p:sp>
      <p:sp>
        <p:nvSpPr>
          <p:cNvPr id="11" name="Text 8"/>
          <p:cNvSpPr/>
          <p:nvPr/>
        </p:nvSpPr>
        <p:spPr>
          <a:xfrm>
            <a:off x="8128000" y="3139281"/>
            <a:ext cx="3034792"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E4E9F1"/>
                </a:solidFill>
                <a:latin typeface="IBM Plex Sans" pitchFamily="34" charset="0"/>
                <a:ea typeface="IBM Plex Sans" pitchFamily="34" charset="-122"/>
                <a:cs typeface="IBM Plex Sans" pitchFamily="34" charset="-120"/>
              </a:rPr>
              <a:t>Pendant le sprint, un membre « tombe malade » ou le client ajoute une exigence urgente.</a:t>
            </a:r>
            <a:endParaRPr lang="en-US" sz="14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9</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9ED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CONSIGNES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Chaque outil a son rôle</a:t>
            </a:r>
            <a:endParaRPr lang="en-US" sz="3200" dirty="0"/>
          </a:p>
        </p:txBody>
      </p:sp>
      <p:sp>
        <p:nvSpPr>
          <p:cNvPr id="4" name="Shape 2"/>
          <p:cNvSpPr/>
          <p:nvPr/>
        </p:nvSpPr>
        <p:spPr>
          <a:xfrm>
            <a:off x="812800" y="1981101"/>
            <a:ext cx="5207000" cy="1198761"/>
          </a:xfrm>
          <a:prstGeom prst="roundRect">
            <a:avLst>
              <a:gd name="adj" fmla="val 8475"/>
            </a:avLst>
          </a:prstGeom>
          <a:solidFill>
            <a:srgbClr val="FDFDFB"/>
          </a:solidFill>
          <a:ln/>
        </p:spPr>
      </p:sp>
      <p:sp>
        <p:nvSpPr>
          <p:cNvPr id="5" name="Text 3"/>
          <p:cNvSpPr/>
          <p:nvPr/>
        </p:nvSpPr>
        <p:spPr>
          <a:xfrm>
            <a:off x="1041400" y="2209701"/>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Jira</a:t>
            </a:r>
            <a:endParaRPr lang="en-US" sz="1500" dirty="0"/>
          </a:p>
        </p:txBody>
      </p:sp>
      <p:sp>
        <p:nvSpPr>
          <p:cNvPr id="6" name="Text 4"/>
          <p:cNvSpPr/>
          <p:nvPr/>
        </p:nvSpPr>
        <p:spPr>
          <a:xfrm>
            <a:off x="1041400" y="2489101"/>
            <a:ext cx="489229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Sprint « Forum », 5 à 8 stories avec critères d'acceptation, estimées. Definition of Done écrite.</a:t>
            </a:r>
            <a:endParaRPr lang="en-US" sz="1300" dirty="0"/>
          </a:p>
        </p:txBody>
      </p:sp>
      <p:sp>
        <p:nvSpPr>
          <p:cNvPr id="7" name="Shape 5"/>
          <p:cNvSpPr/>
          <p:nvPr/>
        </p:nvSpPr>
        <p:spPr>
          <a:xfrm>
            <a:off x="6172200" y="1981101"/>
            <a:ext cx="5207000" cy="1198761"/>
          </a:xfrm>
          <a:prstGeom prst="roundRect">
            <a:avLst>
              <a:gd name="adj" fmla="val 8475"/>
            </a:avLst>
          </a:prstGeom>
          <a:solidFill>
            <a:srgbClr val="FDFDFB"/>
          </a:solidFill>
          <a:ln/>
        </p:spPr>
      </p:sp>
      <p:sp>
        <p:nvSpPr>
          <p:cNvPr id="8" name="Text 6"/>
          <p:cNvSpPr/>
          <p:nvPr/>
        </p:nvSpPr>
        <p:spPr>
          <a:xfrm>
            <a:off x="6400800" y="2209701"/>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Git</a:t>
            </a:r>
            <a:endParaRPr lang="en-US" sz="1500" dirty="0"/>
          </a:p>
        </p:txBody>
      </p:sp>
      <p:sp>
        <p:nvSpPr>
          <p:cNvPr id="9" name="Text 7"/>
          <p:cNvSpPr/>
          <p:nvPr/>
        </p:nvSpPr>
        <p:spPr>
          <a:xfrm>
            <a:off x="6400800" y="2489101"/>
            <a:ext cx="489229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Une branche par story, PR relues avec Conventional Comments, aucun commit direct sur main.</a:t>
            </a:r>
            <a:endParaRPr lang="en-US" sz="1300" dirty="0"/>
          </a:p>
        </p:txBody>
      </p:sp>
      <p:sp>
        <p:nvSpPr>
          <p:cNvPr id="10" name="Shape 8"/>
          <p:cNvSpPr/>
          <p:nvPr/>
        </p:nvSpPr>
        <p:spPr>
          <a:xfrm>
            <a:off x="812800" y="3332262"/>
            <a:ext cx="5207000" cy="1198761"/>
          </a:xfrm>
          <a:prstGeom prst="roundRect">
            <a:avLst>
              <a:gd name="adj" fmla="val 8475"/>
            </a:avLst>
          </a:prstGeom>
          <a:solidFill>
            <a:srgbClr val="FDFDFB"/>
          </a:solidFill>
          <a:ln/>
        </p:spPr>
      </p:sp>
      <p:sp>
        <p:nvSpPr>
          <p:cNvPr id="11" name="Text 9"/>
          <p:cNvSpPr/>
          <p:nvPr/>
        </p:nvSpPr>
        <p:spPr>
          <a:xfrm>
            <a:off x="1041400" y="3560862"/>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Slack / Teams</a:t>
            </a:r>
            <a:endParaRPr lang="en-US" sz="1500" dirty="0"/>
          </a:p>
        </p:txBody>
      </p:sp>
      <p:sp>
        <p:nvSpPr>
          <p:cNvPr id="12" name="Text 10"/>
          <p:cNvSpPr/>
          <p:nvPr/>
        </p:nvSpPr>
        <p:spPr>
          <a:xfrm>
            <a:off x="1041400" y="3840262"/>
            <a:ext cx="489229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Toute la communication passe par le canal de la squad : l'enseignant l'observe.</a:t>
            </a:r>
            <a:endParaRPr lang="en-US" sz="1300" dirty="0"/>
          </a:p>
        </p:txBody>
      </p:sp>
      <p:sp>
        <p:nvSpPr>
          <p:cNvPr id="13" name="Shape 11"/>
          <p:cNvSpPr/>
          <p:nvPr/>
        </p:nvSpPr>
        <p:spPr>
          <a:xfrm>
            <a:off x="6172200" y="3332262"/>
            <a:ext cx="5207000" cy="1198761"/>
          </a:xfrm>
          <a:prstGeom prst="roundRect">
            <a:avLst>
              <a:gd name="adj" fmla="val 8475"/>
            </a:avLst>
          </a:prstGeom>
          <a:solidFill>
            <a:srgbClr val="FDFDFB"/>
          </a:solidFill>
          <a:ln/>
        </p:spPr>
      </p:sp>
      <p:sp>
        <p:nvSpPr>
          <p:cNvPr id="14" name="Text 12"/>
          <p:cNvSpPr/>
          <p:nvPr/>
        </p:nvSpPr>
        <p:spPr>
          <a:xfrm>
            <a:off x="6400800" y="3560862"/>
            <a:ext cx="4892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Confluence</a:t>
            </a:r>
            <a:endParaRPr lang="en-US" sz="1500" dirty="0"/>
          </a:p>
        </p:txBody>
      </p:sp>
      <p:sp>
        <p:nvSpPr>
          <p:cNvPr id="15" name="Text 13"/>
          <p:cNvSpPr/>
          <p:nvPr/>
        </p:nvSpPr>
        <p:spPr>
          <a:xfrm>
            <a:off x="6400800" y="3840262"/>
            <a:ext cx="489229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Compte-rendu du planning, page de décision si arbitrage, page de rétrospective.</a:t>
            </a:r>
            <a:endParaRPr lang="en-US" sz="1300" dirty="0"/>
          </a:p>
        </p:txBody>
      </p:sp>
      <p:sp>
        <p:nvSpPr>
          <p:cNvPr id="16" name="Text 14"/>
          <p:cNvSpPr/>
          <p:nvPr/>
        </p:nvSpPr>
        <p:spPr>
          <a:xfrm>
            <a:off x="812800" y="47850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D4A5C"/>
                </a:solidFill>
                <a:latin typeface="IBM Plex Sans" pitchFamily="34" charset="0"/>
                <a:ea typeface="IBM Plex Sans" pitchFamily="34" charset="-122"/>
                <a:cs typeface="IBM Plex Sans" pitchFamily="34" charset="-120"/>
              </a:rPr>
              <a:t>Livrables :</a:t>
            </a:r>
            <a:r>
              <a:rPr lang="en-US" sz="1400" dirty="0">
                <a:solidFill>
                  <a:srgbClr val="3D4A5C"/>
                </a:solidFill>
                <a:latin typeface="IBM Plex Sans" pitchFamily="34" charset="0"/>
                <a:ea typeface="IBM Plex Sans" pitchFamily="34" charset="-122"/>
                <a:cs typeface="IBM Plex Sans" pitchFamily="34" charset="-120"/>
              </a:rPr>
              <a:t> incrément démontré, tableau Jira, historique Git, espace Confluence à jour.</a:t>
            </a:r>
            <a:endParaRPr lang="en-US" sz="14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Collaborer dans un environnement IT · Séance 9</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04E15"/>
                </a:solidFill>
                <a:latin typeface="IBM Plex Sans" pitchFamily="34" charset="0"/>
                <a:ea typeface="IBM Plex Sans" pitchFamily="34" charset="-122"/>
                <a:cs typeface="IBM Plex Sans" pitchFamily="34" charset="-120"/>
              </a:rPr>
              <a:t>RÉTROSPECTIVE · 15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Le format Starfish</a:t>
            </a:r>
            <a:endParaRPr lang="en-US" sz="3200" dirty="0"/>
          </a:p>
        </p:txBody>
      </p:sp>
      <p:sp>
        <p:nvSpPr>
          <p:cNvPr id="4" name="Shape 2"/>
          <p:cNvSpPr/>
          <p:nvPr/>
        </p:nvSpPr>
        <p:spPr>
          <a:xfrm>
            <a:off x="812800" y="1981101"/>
            <a:ext cx="2011660" cy="899120"/>
          </a:xfrm>
          <a:prstGeom prst="roundRect">
            <a:avLst>
              <a:gd name="adj" fmla="val 11300"/>
            </a:avLst>
          </a:prstGeom>
          <a:solidFill>
            <a:srgbClr val="14213D"/>
          </a:solidFill>
          <a:ln/>
        </p:spPr>
      </p:sp>
      <p:sp>
        <p:nvSpPr>
          <p:cNvPr id="5" name="Text 3"/>
          <p:cNvSpPr/>
          <p:nvPr/>
        </p:nvSpPr>
        <p:spPr>
          <a:xfrm>
            <a:off x="1016000" y="2184301"/>
            <a:ext cx="16560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Continuer</a:t>
            </a:r>
            <a:endParaRPr lang="en-US" sz="1500" dirty="0"/>
          </a:p>
        </p:txBody>
      </p:sp>
      <p:sp>
        <p:nvSpPr>
          <p:cNvPr id="6" name="Text 4"/>
          <p:cNvSpPr/>
          <p:nvPr/>
        </p:nvSpPr>
        <p:spPr>
          <a:xfrm>
            <a:off x="1016000" y="2463701"/>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Ce qui marche</a:t>
            </a:r>
            <a:endParaRPr lang="en-US" sz="1200" dirty="0"/>
          </a:p>
        </p:txBody>
      </p:sp>
      <p:sp>
        <p:nvSpPr>
          <p:cNvPr id="7" name="Shape 5"/>
          <p:cNvSpPr/>
          <p:nvPr/>
        </p:nvSpPr>
        <p:spPr>
          <a:xfrm>
            <a:off x="2951460" y="1981101"/>
            <a:ext cx="2011759" cy="899120"/>
          </a:xfrm>
          <a:prstGeom prst="roundRect">
            <a:avLst>
              <a:gd name="adj" fmla="val 11300"/>
            </a:avLst>
          </a:prstGeom>
          <a:solidFill>
            <a:srgbClr val="14213D"/>
          </a:solidFill>
          <a:ln/>
        </p:spPr>
      </p:sp>
      <p:sp>
        <p:nvSpPr>
          <p:cNvPr id="8" name="Text 6"/>
          <p:cNvSpPr/>
          <p:nvPr/>
        </p:nvSpPr>
        <p:spPr>
          <a:xfrm>
            <a:off x="3154660" y="2184301"/>
            <a:ext cx="165615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Arrêter</a:t>
            </a:r>
            <a:endParaRPr lang="en-US" sz="1500" dirty="0"/>
          </a:p>
        </p:txBody>
      </p:sp>
      <p:sp>
        <p:nvSpPr>
          <p:cNvPr id="9" name="Text 7"/>
          <p:cNvSpPr/>
          <p:nvPr/>
        </p:nvSpPr>
        <p:spPr>
          <a:xfrm>
            <a:off x="3154660" y="2463701"/>
            <a:ext cx="16561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Ce qui gêne</a:t>
            </a:r>
            <a:endParaRPr lang="en-US" sz="1200" dirty="0"/>
          </a:p>
        </p:txBody>
      </p:sp>
      <p:sp>
        <p:nvSpPr>
          <p:cNvPr id="10" name="Shape 8"/>
          <p:cNvSpPr/>
          <p:nvPr/>
        </p:nvSpPr>
        <p:spPr>
          <a:xfrm>
            <a:off x="5090220" y="1981101"/>
            <a:ext cx="2011660" cy="899120"/>
          </a:xfrm>
          <a:prstGeom prst="roundRect">
            <a:avLst>
              <a:gd name="adj" fmla="val 11300"/>
            </a:avLst>
          </a:prstGeom>
          <a:solidFill>
            <a:srgbClr val="14213D"/>
          </a:solidFill>
          <a:ln/>
        </p:spPr>
      </p:sp>
      <p:sp>
        <p:nvSpPr>
          <p:cNvPr id="11" name="Text 9"/>
          <p:cNvSpPr/>
          <p:nvPr/>
        </p:nvSpPr>
        <p:spPr>
          <a:xfrm>
            <a:off x="5293420" y="2184301"/>
            <a:ext cx="16560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Commencer</a:t>
            </a:r>
            <a:endParaRPr lang="en-US" sz="1500" dirty="0"/>
          </a:p>
        </p:txBody>
      </p:sp>
      <p:sp>
        <p:nvSpPr>
          <p:cNvPr id="12" name="Text 10"/>
          <p:cNvSpPr/>
          <p:nvPr/>
        </p:nvSpPr>
        <p:spPr>
          <a:xfrm>
            <a:off x="5293420" y="2463701"/>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Ce qui manque</a:t>
            </a:r>
            <a:endParaRPr lang="en-US" sz="1200" dirty="0"/>
          </a:p>
        </p:txBody>
      </p:sp>
      <p:sp>
        <p:nvSpPr>
          <p:cNvPr id="13" name="Shape 11"/>
          <p:cNvSpPr/>
          <p:nvPr/>
        </p:nvSpPr>
        <p:spPr>
          <a:xfrm>
            <a:off x="7228880" y="1981101"/>
            <a:ext cx="2011660" cy="899120"/>
          </a:xfrm>
          <a:prstGeom prst="roundRect">
            <a:avLst>
              <a:gd name="adj" fmla="val 11300"/>
            </a:avLst>
          </a:prstGeom>
          <a:solidFill>
            <a:srgbClr val="14213D"/>
          </a:solidFill>
          <a:ln/>
        </p:spPr>
      </p:sp>
      <p:sp>
        <p:nvSpPr>
          <p:cNvPr id="14" name="Text 12"/>
          <p:cNvSpPr/>
          <p:nvPr/>
        </p:nvSpPr>
        <p:spPr>
          <a:xfrm>
            <a:off x="7432080" y="2184301"/>
            <a:ext cx="16560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Plus de</a:t>
            </a:r>
            <a:endParaRPr lang="en-US" sz="1500" dirty="0"/>
          </a:p>
        </p:txBody>
      </p:sp>
      <p:sp>
        <p:nvSpPr>
          <p:cNvPr id="15" name="Text 13"/>
          <p:cNvSpPr/>
          <p:nvPr/>
        </p:nvSpPr>
        <p:spPr>
          <a:xfrm>
            <a:off x="7432080" y="2463701"/>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À renforcer</a:t>
            </a:r>
            <a:endParaRPr lang="en-US" sz="1200" dirty="0"/>
          </a:p>
        </p:txBody>
      </p:sp>
      <p:sp>
        <p:nvSpPr>
          <p:cNvPr id="16" name="Shape 14"/>
          <p:cNvSpPr/>
          <p:nvPr/>
        </p:nvSpPr>
        <p:spPr>
          <a:xfrm>
            <a:off x="9367540" y="1981101"/>
            <a:ext cx="2011660" cy="899120"/>
          </a:xfrm>
          <a:prstGeom prst="roundRect">
            <a:avLst>
              <a:gd name="adj" fmla="val 11300"/>
            </a:avLst>
          </a:prstGeom>
          <a:solidFill>
            <a:srgbClr val="14213D"/>
          </a:solidFill>
          <a:ln/>
        </p:spPr>
      </p:sp>
      <p:sp>
        <p:nvSpPr>
          <p:cNvPr id="17" name="Text 15"/>
          <p:cNvSpPr/>
          <p:nvPr/>
        </p:nvSpPr>
        <p:spPr>
          <a:xfrm>
            <a:off x="9570740" y="2184301"/>
            <a:ext cx="165606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2A65A"/>
                </a:solidFill>
                <a:latin typeface="IBM Plex Sans" pitchFamily="34" charset="0"/>
                <a:ea typeface="IBM Plex Sans" pitchFamily="34" charset="-122"/>
                <a:cs typeface="IBM Plex Sans" pitchFamily="34" charset="-120"/>
              </a:rPr>
              <a:t>Moins de</a:t>
            </a:r>
            <a:endParaRPr lang="en-US" sz="1500" dirty="0"/>
          </a:p>
        </p:txBody>
      </p:sp>
      <p:sp>
        <p:nvSpPr>
          <p:cNvPr id="18" name="Text 16"/>
          <p:cNvSpPr/>
          <p:nvPr/>
        </p:nvSpPr>
        <p:spPr>
          <a:xfrm>
            <a:off x="9570740" y="2463701"/>
            <a:ext cx="16560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1"/>
                </a:solidFill>
                <a:latin typeface="IBM Plex Sans" pitchFamily="34" charset="0"/>
                <a:ea typeface="IBM Plex Sans" pitchFamily="34" charset="-122"/>
                <a:cs typeface="IBM Plex Sans" pitchFamily="34" charset="-120"/>
              </a:rPr>
              <a:t>À réduire</a:t>
            </a:r>
            <a:endParaRPr lang="en-US" sz="1200" dirty="0"/>
          </a:p>
        </p:txBody>
      </p:sp>
      <p:sp>
        <p:nvSpPr>
          <p:cNvPr id="19" name="Shape 17"/>
          <p:cNvSpPr/>
          <p:nvPr/>
        </p:nvSpPr>
        <p:spPr>
          <a:xfrm>
            <a:off x="812800" y="3134221"/>
            <a:ext cx="10566400" cy="1601291"/>
          </a:xfrm>
          <a:prstGeom prst="roundRect">
            <a:avLst>
              <a:gd name="adj" fmla="val 6345"/>
            </a:avLst>
          </a:prstGeom>
          <a:solidFill>
            <a:srgbClr val="E9EDF3"/>
          </a:solidFill>
          <a:ln/>
        </p:spPr>
      </p:sp>
      <p:sp>
        <p:nvSpPr>
          <p:cNvPr id="20" name="Text 18"/>
          <p:cNvSpPr/>
          <p:nvPr/>
        </p:nvSpPr>
        <p:spPr>
          <a:xfrm>
            <a:off x="1066800" y="3388221"/>
            <a:ext cx="103601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Bilan individuel, écrit, 10 min</a:t>
            </a:r>
            <a:endParaRPr lang="en-US" sz="1600" dirty="0"/>
          </a:p>
        </p:txBody>
      </p:sp>
      <p:sp>
        <p:nvSpPr>
          <p:cNvPr id="21" name="Text 19"/>
          <p:cNvSpPr/>
          <p:nvPr/>
        </p:nvSpPr>
        <p:spPr>
          <a:xfrm>
            <a:off x="1123652" y="3708202"/>
            <a:ext cx="10295680" cy="798711"/>
          </a:xfrm>
          <a:prstGeom prst="rect">
            <a:avLst/>
          </a:prstGeom>
          <a:noFill/>
          <a:ln/>
        </p:spPr>
        <p:txBody>
          <a:bodyPr wrap="square" lIns="0" tIns="0" rIns="0" bIns="0" rtlCol="0" anchor="t">
            <a:normAutofit/>
          </a:bodyPr>
          <a:lstStyle/>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La compétence que j'ai le plus développée</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Une situation où j'ai mal collaboré, et ce que je ferais autrement</a:t>
            </a:r>
            <a:endParaRPr lang="en-US" sz="1400" dirty="0"/>
          </a:p>
          <a:p>
            <a:pPr algn="l" marL="197148" indent="-197148">
              <a:lnSpc>
                <a:spcPts val="2030"/>
              </a:lnSpc>
              <a:buSzPct val="100000"/>
              <a:buFontTx/>
              <a:buAutoNum type="arabicPeriod" startAt="1"/>
            </a:pPr>
            <a:r>
              <a:rPr lang="en-US" sz="1400" dirty="0">
                <a:solidFill>
                  <a:srgbClr val="3D4A5C"/>
                </a:solidFill>
                <a:latin typeface="IBM Plex Sans" pitchFamily="34" charset="0"/>
                <a:ea typeface="IBM Plex Sans" pitchFamily="34" charset="-122"/>
                <a:cs typeface="IBM Plex Sans" pitchFamily="34" charset="-120"/>
              </a:rPr>
              <a:t>Ce que je veux mettre en pratique en stage</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585"/>
                </a:solidFill>
                <a:latin typeface="IBM Plex Sans" pitchFamily="34" charset="0"/>
                <a:ea typeface="IBM Plex Sans" pitchFamily="34" charset="-122"/>
                <a:cs typeface="IBM Plex Sans" pitchFamily="34" charset="-120"/>
              </a:rPr>
              <a:t>Autres formats de rétrospective : retromat.org/fr</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A65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4213D"/>
                </a:solidFill>
                <a:latin typeface="IBM Plex Sans" pitchFamily="34" charset="0"/>
                <a:ea typeface="IBM Plex Sans" pitchFamily="34" charset="-122"/>
                <a:cs typeface="IBM Plex Sans" pitchFamily="34" charset="-120"/>
              </a:rPr>
              <a:t>DÉBRIEF FINAL</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Ce que l'imprévu a révélé</a:t>
            </a:r>
            <a:endParaRPr lang="en-US" sz="3600" dirty="0"/>
          </a:p>
        </p:txBody>
      </p:sp>
      <p:sp>
        <p:nvSpPr>
          <p:cNvPr id="4" name="Text 2"/>
          <p:cNvSpPr/>
          <p:nvPr/>
        </p:nvSpPr>
        <p:spPr>
          <a:xfrm>
            <a:off x="813395" y="2036961"/>
            <a:ext cx="10875177" cy="985341"/>
          </a:xfrm>
          <a:prstGeom prst="rect">
            <a:avLst/>
          </a:prstGeom>
          <a:noFill/>
          <a:ln/>
        </p:spPr>
        <p:txBody>
          <a:bodyPr wrap="square" lIns="0" tIns="0" rIns="0" bIns="0" rtlCol="0" anchor="t">
            <a:normAutofit/>
          </a:bodyPr>
          <a:lstStyle/>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Comment avez-vous réorganisé le tableau après l'imprévu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Le client a-t-il été informé, et par qui ?</a:t>
            </a:r>
            <a:endParaRPr lang="en-US" sz="1800" dirty="0"/>
          </a:p>
          <a:p>
            <a:pPr algn="l" marL="253405" indent="-253405">
              <a:lnSpc>
                <a:spcPts val="2520"/>
              </a:lnSpc>
              <a:buSzPct val="100000"/>
              <a:buFontTx/>
              <a:buAutoNum type="arabicPeriod" startAt="1"/>
            </a:pPr>
            <a:r>
              <a:rPr lang="en-US" sz="1800" dirty="0">
                <a:solidFill>
                  <a:srgbClr val="14213D"/>
                </a:solidFill>
                <a:latin typeface="IBM Plex Sans" pitchFamily="34" charset="0"/>
                <a:ea typeface="IBM Plex Sans" pitchFamily="34" charset="-122"/>
                <a:cs typeface="IBM Plex Sans" pitchFamily="34" charset="-120"/>
              </a:rPr>
              <a:t>Qu'est-ce qui a le plus changé depuis la séance 1 ?</a:t>
            </a:r>
            <a:endParaRPr lang="en-US" sz="1800" dirty="0"/>
          </a:p>
        </p:txBody>
      </p:sp>
      <p:sp>
        <p:nvSpPr>
          <p:cNvPr id="5" name="Text 3"/>
          <p:cNvSpPr/>
          <p:nvPr/>
        </p:nvSpPr>
        <p:spPr>
          <a:xfrm>
            <a:off x="812800" y="325090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Tour de table : une phrase chacun.</a:t>
            </a:r>
            <a:endParaRPr lang="en-US" sz="15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Collaborer dans un environnement IT · Séance 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F2A65A"/>
          </a:solidFill>
          <a:ln/>
        </p:spPr>
      </p:sp>
      <p:sp>
        <p:nvSpPr>
          <p:cNvPr id="3" name="Text 1"/>
          <p:cNvSpPr/>
          <p:nvPr/>
        </p:nvSpPr>
        <p:spPr>
          <a:xfrm>
            <a:off x="812800" y="20498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65A"/>
                </a:solidFill>
                <a:latin typeface="IBM Plex Sans" pitchFamily="34" charset="0"/>
                <a:ea typeface="IBM Plex Sans" pitchFamily="34" charset="-122"/>
                <a:cs typeface="IBM Plex Sans" pitchFamily="34" charset="-120"/>
              </a:rPr>
              <a:t>POUR VOTRE PREMIER STAGE</a:t>
            </a:r>
            <a:endParaRPr lang="en-US" sz="1400" dirty="0"/>
          </a:p>
        </p:txBody>
      </p:sp>
      <p:sp>
        <p:nvSpPr>
          <p:cNvPr id="4" name="Text 2"/>
          <p:cNvSpPr/>
          <p:nvPr>
            <p:ph type="title"/>
          </p:nvPr>
        </p:nvSpPr>
        <p:spPr>
          <a:xfrm>
            <a:off x="812800" y="2552700"/>
            <a:ext cx="10883392" cy="1492250"/>
          </a:xfrm>
          <a:prstGeom prst="rect">
            <a:avLst/>
          </a:prstGeom>
          <a:noFill/>
          <a:ln/>
        </p:spPr>
        <p:txBody>
          <a:bodyPr wrap="square" lIns="0" tIns="0" rIns="0" bIns="0" rtlCol="0" anchor="t">
            <a:normAutofit/>
          </a:bodyPr>
          <a:lstStyle/>
          <a:p>
            <a:pPr algn="l" indent="0" marL="0">
              <a:lnSpc>
                <a:spcPts val="5775"/>
              </a:lnSpc>
              <a:buNone/>
            </a:pPr>
            <a:r>
              <a:rPr lang="en-US" sz="5500" b="1" i="0" dirty="0">
                <a:solidFill>
                  <a:srgbClr val="F7F6F2"/>
                </a:solidFill>
                <a:latin typeface="Space Grotesk" pitchFamily="34" charset="0"/>
                <a:ea typeface="Space Grotesk" pitchFamily="34" charset="-122"/>
                <a:cs typeface="Space Grotesk" pitchFamily="34" charset="-120"/>
              </a:rPr>
              <a:t>Les outils changent, la collaboration reste</a:t>
            </a:r>
            <a:endParaRPr lang="en-US" sz="5500" dirty="0"/>
          </a:p>
        </p:txBody>
      </p:sp>
      <p:sp>
        <p:nvSpPr>
          <p:cNvPr id="5" name="Text 3"/>
          <p:cNvSpPr/>
          <p:nvPr/>
        </p:nvSpPr>
        <p:spPr>
          <a:xfrm>
            <a:off x="812800" y="4273550"/>
            <a:ext cx="11379200" cy="356791"/>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C9D3E0"/>
                </a:solidFill>
                <a:latin typeface="IBM Plex Sans" pitchFamily="34" charset="0"/>
                <a:ea typeface="IBM Plex Sans" pitchFamily="34" charset="-122"/>
                <a:cs typeface="IBM Plex Sans" pitchFamily="34" charset="-120"/>
              </a:rPr>
              <a:t>Posez vos questions tôt. Écrivez ce qui doit durer. Demandez une revue. Dites ce dont vous avez besoin.</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494AE"/>
                </a:solidFill>
                <a:latin typeface="IBM Plex Sans" pitchFamily="34" charset="0"/>
                <a:ea typeface="IBM Plex Sans" pitchFamily="34" charset="-122"/>
                <a:cs typeface="IBM Plex Sans" pitchFamily="34" charset="-120"/>
              </a:rPr>
              <a:t>Collaborer dans un environnement IT · Merci</a:t>
            </a:r>
            <a:endParaRPr lang="en-US" sz="1200" dirty="0"/>
          </a:p>
        </p:txBody>
      </p:sp>
    </p:spTree>
  </p:cSld>
  <p:clrMapOvr>
    <a:masterClrMapping/>
  </p:clrMapOvr>
</p:sld>
</file>

<file path=ppt/theme/theme1.xml><?xml version="1.0" encoding="utf-8"?>
<a:theme xmlns:a="http://schemas.openxmlformats.org/drawingml/2006/main" name="Collaborer dans un environnement IT">
  <a:themeElements>
    <a:clrScheme name="Collaborer dans un environnement IT">
      <a:dk1>
        <a:srgbClr val="14213D"/>
      </a:dk1>
      <a:lt1>
        <a:srgbClr val="F7F6F2"/>
      </a:lt1>
      <a:dk2>
        <a:srgbClr val="4D566A"/>
      </a:dk2>
      <a:lt2>
        <a:srgbClr val="E0E1E0"/>
      </a:lt2>
      <a:accent1>
        <a:srgbClr val="F2A65A"/>
      </a:accent1>
      <a:accent2>
        <a:srgbClr val="B04E15"/>
      </a:accent2>
      <a:accent3>
        <a:srgbClr val="8494AE"/>
      </a:accent3>
      <a:accent4>
        <a:srgbClr val="3D4A5C"/>
      </a:accent4>
      <a:accent5>
        <a:srgbClr val="6A7585"/>
      </a:accent5>
      <a:accent6>
        <a:srgbClr val="C9D3E0"/>
      </a:accent6>
      <a:hlink>
        <a:srgbClr val="0563C1"/>
      </a:hlink>
      <a:folHlink>
        <a:srgbClr val="954F72"/>
      </a:folHlink>
    </a:clrScheme>
    <a:fontScheme name="Collaborer dans un environnement I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Collaborer dans un environnement IT</dc:title>
  <dc:subject/>
  <dc:creator/>
  <cp:lastModifiedBy/>
  <cp:revision>1</cp:revision>
  <dcterms:created xsi:type="dcterms:W3CDTF">2026-10-06T11:00:24Z</dcterms:created>
  <dcterms:modified xsi:type="dcterms:W3CDTF">2026-10-06T11:00:24Z</dcterms:modified>
</cp:coreProperties>
</file>